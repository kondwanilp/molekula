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50"/>
  </p:notesMasterIdLst>
  <p:sldIdLst>
    <p:sldId id="518" r:id="rId6"/>
    <p:sldId id="519" r:id="rId7"/>
    <p:sldId id="524" r:id="rId8"/>
    <p:sldId id="521" r:id="rId9"/>
    <p:sldId id="373" r:id="rId10"/>
    <p:sldId id="522" r:id="rId11"/>
    <p:sldId id="377" r:id="rId12"/>
    <p:sldId id="374" r:id="rId13"/>
    <p:sldId id="378" r:id="rId14"/>
    <p:sldId id="379" r:id="rId15"/>
    <p:sldId id="388" r:id="rId16"/>
    <p:sldId id="390" r:id="rId17"/>
    <p:sldId id="391" r:id="rId18"/>
    <p:sldId id="393" r:id="rId19"/>
    <p:sldId id="394" r:id="rId20"/>
    <p:sldId id="395" r:id="rId21"/>
    <p:sldId id="396" r:id="rId22"/>
    <p:sldId id="397" r:id="rId23"/>
    <p:sldId id="398" r:id="rId24"/>
    <p:sldId id="399" r:id="rId25"/>
    <p:sldId id="381" r:id="rId26"/>
    <p:sldId id="527" r:id="rId27"/>
    <p:sldId id="526" r:id="rId28"/>
    <p:sldId id="528" r:id="rId29"/>
    <p:sldId id="529" r:id="rId30"/>
    <p:sldId id="530" r:id="rId31"/>
    <p:sldId id="383" r:id="rId32"/>
    <p:sldId id="531" r:id="rId33"/>
    <p:sldId id="532" r:id="rId34"/>
    <p:sldId id="408" r:id="rId35"/>
    <p:sldId id="425" r:id="rId36"/>
    <p:sldId id="409" r:id="rId37"/>
    <p:sldId id="410" r:id="rId38"/>
    <p:sldId id="426" r:id="rId39"/>
    <p:sldId id="412" r:id="rId40"/>
    <p:sldId id="434" r:id="rId41"/>
    <p:sldId id="413" r:id="rId42"/>
    <p:sldId id="414" r:id="rId43"/>
    <p:sldId id="415" r:id="rId44"/>
    <p:sldId id="436" r:id="rId45"/>
    <p:sldId id="416" r:id="rId46"/>
    <p:sldId id="437" r:id="rId47"/>
    <p:sldId id="417" r:id="rId48"/>
    <p:sldId id="438"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D403750A-5F0F-4676-8E81-AA1C70853B4F}">
          <p14:sldIdLst>
            <p14:sldId id="518"/>
            <p14:sldId id="519"/>
            <p14:sldId id="524"/>
            <p14:sldId id="521"/>
            <p14:sldId id="373"/>
            <p14:sldId id="522"/>
            <p14:sldId id="377"/>
            <p14:sldId id="374"/>
            <p14:sldId id="378"/>
            <p14:sldId id="379"/>
            <p14:sldId id="388"/>
            <p14:sldId id="390"/>
            <p14:sldId id="391"/>
            <p14:sldId id="393"/>
            <p14:sldId id="394"/>
            <p14:sldId id="395"/>
            <p14:sldId id="396"/>
            <p14:sldId id="397"/>
            <p14:sldId id="398"/>
            <p14:sldId id="399"/>
            <p14:sldId id="381"/>
            <p14:sldId id="527"/>
            <p14:sldId id="526"/>
            <p14:sldId id="528"/>
            <p14:sldId id="529"/>
            <p14:sldId id="530"/>
            <p14:sldId id="383"/>
            <p14:sldId id="531"/>
            <p14:sldId id="532"/>
            <p14:sldId id="408"/>
            <p14:sldId id="425"/>
            <p14:sldId id="409"/>
            <p14:sldId id="410"/>
            <p14:sldId id="426"/>
            <p14:sldId id="412"/>
            <p14:sldId id="434"/>
            <p14:sldId id="413"/>
            <p14:sldId id="414"/>
            <p14:sldId id="415"/>
            <p14:sldId id="436"/>
            <p14:sldId id="416"/>
            <p14:sldId id="437"/>
            <p14:sldId id="417"/>
            <p14:sldId id="438"/>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cmAuthor id="2" name="Ciporen, Laura" initials="CL [2]"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7AD"/>
    <a:srgbClr val="066568"/>
    <a:srgbClr val="692146"/>
    <a:srgbClr val="FFB600"/>
    <a:srgbClr val="FFE5B8"/>
    <a:srgbClr val="255881"/>
    <a:srgbClr val="601D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88" autoAdjust="0"/>
    <p:restoredTop sz="89928" autoAdjust="0"/>
  </p:normalViewPr>
  <p:slideViewPr>
    <p:cSldViewPr snapToGrid="0" showGuides="1">
      <p:cViewPr varScale="1">
        <p:scale>
          <a:sx n="86" d="100"/>
          <a:sy n="86" d="100"/>
        </p:scale>
        <p:origin x="1454" y="48"/>
      </p:cViewPr>
      <p:guideLst>
        <p:guide pos="3264"/>
        <p:guide orient="horz" pos="2256"/>
        <p:guide pos="5640"/>
      </p:guideLst>
    </p:cSldViewPr>
  </p:slideViewPr>
  <p:outlineViewPr>
    <p:cViewPr>
      <p:scale>
        <a:sx n="33" d="100"/>
        <a:sy n="33" d="100"/>
      </p:scale>
      <p:origin x="0" y="-63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viewProps" Target="viewProps.xml"/><Relationship Id="rId5" Type="http://schemas.openxmlformats.org/officeDocument/2006/relationships/slideMaster" Target="slideMasters/slideMaster5.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751B6-816D-453D-9AB0-FB5BDE553EAC}" type="datetimeFigureOut">
              <a:rPr lang="en-US" smtClean="0"/>
              <a:t>2/14/2024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DB8B88-7B19-4444-8C00-276D3F703348}" type="slidenum">
              <a:rPr lang="en-US" smtClean="0"/>
              <a:t>‹#›</a:t>
            </a:fld>
            <a:endParaRPr lang="en-US"/>
          </a:p>
        </p:txBody>
      </p:sp>
    </p:spTree>
    <p:extLst>
      <p:ext uri="{BB962C8B-B14F-4D97-AF65-F5344CB8AC3E}">
        <p14:creationId xmlns:p14="http://schemas.microsoft.com/office/powerpoint/2010/main" val="3816873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1200" dirty="0">
                <a:solidFill>
                  <a:srgbClr val="FF0000"/>
                </a:solidFill>
              </a:rPr>
              <a:t>Copyright © 2018 McGraw-Hill Education. All rights reserved. No reproduction or distribution without the prior written consent of McGraw-Hill Education</a:t>
            </a:r>
            <a:endParaRPr lang="en-US" sz="1200" dirty="0">
              <a:solidFill>
                <a:srgbClr val="FF0000"/>
              </a:solidFill>
            </a:endParaRPr>
          </a:p>
        </p:txBody>
      </p:sp>
      <p:sp>
        <p:nvSpPr>
          <p:cNvPr id="4" name="Slide Number Placeholder 3"/>
          <p:cNvSpPr>
            <a:spLocks noGrp="1"/>
          </p:cNvSpPr>
          <p:nvPr>
            <p:ph type="sldNum" sz="quarter" idx="10"/>
          </p:nvPr>
        </p:nvSpPr>
        <p:spPr/>
        <p:txBody>
          <a:bodyPr/>
          <a:lstStyle/>
          <a:p>
            <a:fld id="{29DB8B88-7B19-4444-8C00-276D3F703348}" type="slidenum">
              <a:rPr lang="en-US" smtClean="0"/>
              <a:t>27</a:t>
            </a:fld>
            <a:endParaRPr lang="en-US"/>
          </a:p>
        </p:txBody>
      </p:sp>
    </p:spTree>
    <p:extLst>
      <p:ext uri="{BB962C8B-B14F-4D97-AF65-F5344CB8AC3E}">
        <p14:creationId xmlns:p14="http://schemas.microsoft.com/office/powerpoint/2010/main" val="1541647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1200" dirty="0">
                <a:solidFill>
                  <a:srgbClr val="FF0000"/>
                </a:solidFill>
              </a:rPr>
              <a:t>Copyright © 2018 McGraw-Hill Education. All rights reserved. No reproduction or distribution without the prior written consent of McGraw-Hill Education</a:t>
            </a:r>
            <a:endParaRPr lang="en-US" sz="1200" dirty="0">
              <a:solidFill>
                <a:srgbClr val="FF0000"/>
              </a:solidFill>
            </a:endParaRPr>
          </a:p>
        </p:txBody>
      </p:sp>
      <p:sp>
        <p:nvSpPr>
          <p:cNvPr id="4" name="Slide Number Placeholder 3"/>
          <p:cNvSpPr>
            <a:spLocks noGrp="1"/>
          </p:cNvSpPr>
          <p:nvPr>
            <p:ph type="sldNum" sz="quarter" idx="10"/>
          </p:nvPr>
        </p:nvSpPr>
        <p:spPr/>
        <p:txBody>
          <a:bodyPr/>
          <a:lstStyle/>
          <a:p>
            <a:fld id="{29DB8B88-7B19-4444-8C00-276D3F703348}" type="slidenum">
              <a:rPr lang="en-US" smtClean="0"/>
              <a:t>43</a:t>
            </a:fld>
            <a:endParaRPr lang="en-US"/>
          </a:p>
        </p:txBody>
      </p:sp>
    </p:spTree>
    <p:extLst>
      <p:ext uri="{BB962C8B-B14F-4D97-AF65-F5344CB8AC3E}">
        <p14:creationId xmlns:p14="http://schemas.microsoft.com/office/powerpoint/2010/main" val="1842700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964800"/>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3750274"/>
            <a:ext cx="3035808" cy="849642"/>
          </a:xfrm>
          <a:prstGeom prst="rect">
            <a:avLst/>
          </a:prstGeom>
        </p:spPr>
        <p:txBody>
          <a:bodyPr anchor="b"/>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662297"/>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4701482"/>
            <a:ext cx="3043303" cy="964800"/>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defRPr sz="2400"/>
            </a:lvl1pPr>
            <a:lvl2pPr>
              <a:defRPr sz="2400"/>
            </a:lvl2pPr>
            <a:lvl3pPr marL="640080">
              <a:defRPr sz="2000"/>
            </a:lvl3pPr>
            <a:lvl4pPr marL="987552">
              <a:defRPr sz="2000"/>
            </a:lvl4pPr>
          </a:lstStyle>
          <a:p>
            <a:pPr lvl="0"/>
            <a:r>
              <a:rPr lang="en-US" dirty="0"/>
              <a:t>Slide Content</a:t>
            </a:r>
          </a:p>
          <a:p>
            <a:pPr lvl="1"/>
            <a:r>
              <a:rPr lang="en-US" dirty="0"/>
              <a:t>Second level</a:t>
            </a:r>
          </a:p>
          <a:p>
            <a:pPr lvl="2"/>
            <a:r>
              <a:rPr lang="en-US" dirty="0"/>
              <a:t>Third level</a:t>
            </a:r>
          </a:p>
          <a:p>
            <a:pPr lvl="3"/>
            <a:endParaRPr lang="en-US" dirty="0"/>
          </a:p>
        </p:txBody>
      </p:sp>
      <p:sp>
        <p:nvSpPr>
          <p:cNvPr id="6" name="Appendix Link">
            <a:extLst>
              <a:ext uri="{FF2B5EF4-FFF2-40B4-BE49-F238E27FC236}">
                <a16:creationId xmlns:a16="http://schemas.microsoft.com/office/drawing/2014/main" id="{3D2E3074-2DB7-4FC8-BF3F-B9711E20A3B5}"/>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8" name="Image Credit">
            <a:extLst>
              <a:ext uri="{FF2B5EF4-FFF2-40B4-BE49-F238E27FC236}">
                <a16:creationId xmlns:a16="http://schemas.microsoft.com/office/drawing/2014/main" id="{3341AD32-57DF-4473-A010-15DBF087AC92}"/>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noAutofit/>
          </a:bodyPr>
          <a:lstStyle>
            <a:lvl1pPr>
              <a:defRPr sz="2400"/>
            </a:lvl1pPr>
            <a:lvl2pPr>
              <a:defRPr sz="2400"/>
            </a:lvl2pPr>
            <a:lvl3pPr marL="640080">
              <a:defRPr sz="2000"/>
            </a:lvl3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BA2E2FDB-1128-47F8-861C-736E66873753}"/>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0" name="Image Credit">
            <a:extLst>
              <a:ext uri="{FF2B5EF4-FFF2-40B4-BE49-F238E27FC236}">
                <a16:creationId xmlns:a16="http://schemas.microsoft.com/office/drawing/2014/main" id="{96D29D1D-52C5-415C-8F04-01A8F1203347}"/>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4AE6E6E7-EF0D-4B16-A430-D3E949F0A825}"/>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0" name="Image Credit">
            <a:extLst>
              <a:ext uri="{FF2B5EF4-FFF2-40B4-BE49-F238E27FC236}">
                <a16:creationId xmlns:a16="http://schemas.microsoft.com/office/drawing/2014/main" id="{67124AF1-AD81-4125-B6A8-174BC6E5DB6C}"/>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AD32CF7C-C3BC-4FF7-8980-8FA18C499C01}"/>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0" name="Image Credit">
            <a:extLst>
              <a:ext uri="{FF2B5EF4-FFF2-40B4-BE49-F238E27FC236}">
                <a16:creationId xmlns:a16="http://schemas.microsoft.com/office/drawing/2014/main" id="{7D6F5080-9539-4A86-A29C-6C60365B64C7}"/>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94C876B4-C8F8-4EDA-9579-00F8F36CB98C}"/>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1" name="Image Credit">
            <a:extLst>
              <a:ext uri="{FF2B5EF4-FFF2-40B4-BE49-F238E27FC236}">
                <a16:creationId xmlns:a16="http://schemas.microsoft.com/office/drawing/2014/main" id="{9138FC26-0A66-41D8-932B-35FF43FDA976}"/>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97057F8C-50AA-46C4-9FEB-90CB82EBCB39}"/>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4" name="Image Credit">
            <a:extLst>
              <a:ext uri="{FF2B5EF4-FFF2-40B4-BE49-F238E27FC236}">
                <a16:creationId xmlns:a16="http://schemas.microsoft.com/office/drawing/2014/main" id="{1623EF09-AD07-4110-9BAD-C19C23C906E2}"/>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54864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1904671"/>
            <a:ext cx="8458200" cy="54864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532632"/>
            <a:ext cx="8458200" cy="54864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160593"/>
            <a:ext cx="8458200" cy="54864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3788554"/>
            <a:ext cx="8458200" cy="54864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4416515"/>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8B728CCD-2639-461B-9841-57505AC13467}"/>
              </a:ext>
            </a:extLst>
          </p:cNvPr>
          <p:cNvSpPr>
            <a:spLocks noGrp="1"/>
          </p:cNvSpPr>
          <p:nvPr>
            <p:ph sz="quarter" idx="19" hasCustomPrompt="1"/>
          </p:nvPr>
        </p:nvSpPr>
        <p:spPr>
          <a:xfrm>
            <a:off x="342900" y="5044476"/>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4" name="Content Placeholder 8">
            <a:extLst>
              <a:ext uri="{FF2B5EF4-FFF2-40B4-BE49-F238E27FC236}">
                <a16:creationId xmlns:a16="http://schemas.microsoft.com/office/drawing/2014/main" id="{8B728CCD-2639-461B-9841-57505AC13467}"/>
              </a:ext>
            </a:extLst>
          </p:cNvPr>
          <p:cNvSpPr>
            <a:spLocks noGrp="1"/>
          </p:cNvSpPr>
          <p:nvPr>
            <p:ph sz="quarter" idx="20" hasCustomPrompt="1"/>
          </p:nvPr>
        </p:nvSpPr>
        <p:spPr>
          <a:xfrm>
            <a:off x="342900" y="5672435"/>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8" name="Appendix Link">
            <a:extLst>
              <a:ext uri="{FF2B5EF4-FFF2-40B4-BE49-F238E27FC236}">
                <a16:creationId xmlns:a16="http://schemas.microsoft.com/office/drawing/2014/main" id="{F163B4E1-5D46-44BE-A972-DA38306E845F}"/>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9" name="Image Credit">
            <a:extLst>
              <a:ext uri="{FF2B5EF4-FFF2-40B4-BE49-F238E27FC236}">
                <a16:creationId xmlns:a16="http://schemas.microsoft.com/office/drawing/2014/main" id="{11CF0136-AD06-4EAE-ADD1-CB06BEFD9BF1}"/>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103399681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2073069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4" name="Content Placeholder 3">
            <a:extLst>
              <a:ext uri="{FF2B5EF4-FFF2-40B4-BE49-F238E27FC236}">
                <a16:creationId xmlns:a16="http://schemas.microsoft.com/office/drawing/2014/main" id="{0F99ECE4-CEB6-4518-B036-709D64B27AE0}"/>
              </a:ext>
            </a:extLst>
          </p:cNvPr>
          <p:cNvSpPr>
            <a:spLocks noGrp="1"/>
          </p:cNvSpPr>
          <p:nvPr>
            <p:ph sz="quarter" idx="16" hasCustomPrompt="1"/>
          </p:nvPr>
        </p:nvSpPr>
        <p:spPr>
          <a:xfrm>
            <a:off x="342900" y="1371601"/>
            <a:ext cx="8458200" cy="4873752"/>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8" name="Return to main slide Link 2">
            <a:extLst>
              <a:ext uri="{FF2B5EF4-FFF2-40B4-BE49-F238E27FC236}">
                <a16:creationId xmlns:a16="http://schemas.microsoft.com/office/drawing/2014/main" id="{9B134E77-CDFC-4241-959A-BAF4C2ADE209}"/>
              </a:ext>
            </a:extLst>
          </p:cNvPr>
          <p:cNvSpPr>
            <a:spLocks noGrp="1"/>
          </p:cNvSpPr>
          <p:nvPr>
            <p:ph type="body" sz="quarter" idx="17" hasCustomPrompt="1"/>
          </p:nvPr>
        </p:nvSpPr>
        <p:spPr>
          <a:xfrm>
            <a:off x="3070946" y="6350211"/>
            <a:ext cx="2980944" cy="228600"/>
          </a:xfrm>
        </p:spPr>
        <p:txBody>
          <a:bodyPr anchor="ctr">
            <a:noAutofit/>
          </a:bodyPr>
          <a:lstStyle>
            <a:lvl1pPr algn="ctr">
              <a:defRPr sz="1200"/>
            </a:lvl1pPr>
          </a:lstStyle>
          <a:p>
            <a:pPr lvl="0"/>
            <a:r>
              <a:rPr lang="en-IN" dirty="0"/>
              <a:t>Return to parent-slide containing images.</a:t>
            </a:r>
          </a:p>
        </p:txBody>
      </p:sp>
    </p:spTree>
    <p:extLst>
      <p:ext uri="{BB962C8B-B14F-4D97-AF65-F5344CB8AC3E}">
        <p14:creationId xmlns:p14="http://schemas.microsoft.com/office/powerpoint/2010/main" val="216777536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692571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4" name="Content Placeholder 3">
            <a:extLst>
              <a:ext uri="{FF2B5EF4-FFF2-40B4-BE49-F238E27FC236}">
                <a16:creationId xmlns:a16="http://schemas.microsoft.com/office/drawing/2014/main" id="{0F99ECE4-CEB6-4518-B036-709D64B27AE0}"/>
              </a:ext>
            </a:extLst>
          </p:cNvPr>
          <p:cNvSpPr>
            <a:spLocks noGrp="1"/>
          </p:cNvSpPr>
          <p:nvPr>
            <p:ph sz="quarter" idx="16" hasCustomPrompt="1"/>
          </p:nvPr>
        </p:nvSpPr>
        <p:spPr>
          <a:xfrm>
            <a:off x="342900" y="1371601"/>
            <a:ext cx="8458200" cy="4873752"/>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8" name="Return to main slide Link 2">
            <a:extLst>
              <a:ext uri="{FF2B5EF4-FFF2-40B4-BE49-F238E27FC236}">
                <a16:creationId xmlns:a16="http://schemas.microsoft.com/office/drawing/2014/main" id="{9B134E77-CDFC-4241-959A-BAF4C2ADE209}"/>
              </a:ext>
            </a:extLst>
          </p:cNvPr>
          <p:cNvSpPr>
            <a:spLocks noGrp="1"/>
          </p:cNvSpPr>
          <p:nvPr>
            <p:ph type="body" sz="quarter" idx="17" hasCustomPrompt="1"/>
          </p:nvPr>
        </p:nvSpPr>
        <p:spPr>
          <a:xfrm>
            <a:off x="3070946" y="6350211"/>
            <a:ext cx="2980944" cy="228600"/>
          </a:xfrm>
        </p:spPr>
        <p:txBody>
          <a:bodyPr anchor="ctr">
            <a:noAutofit/>
          </a:bodyPr>
          <a:lstStyle>
            <a:lvl1pPr algn="ctr">
              <a:defRPr sz="1200"/>
            </a:lvl1pPr>
          </a:lstStyle>
          <a:p>
            <a:pPr lvl="0"/>
            <a:r>
              <a:rPr lang="en-IN" dirty="0"/>
              <a:t>Return to parent-slide containing images.</a:t>
            </a:r>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4" name="Image Identifier 1">
            <a:extLst>
              <a:ext uri="{FF2B5EF4-FFF2-40B4-BE49-F238E27FC236}">
                <a16:creationId xmlns:a16="http://schemas.microsoft.com/office/drawing/2014/main" id="{06B6FD09-21E6-4C44-B034-2825B085D9AB}"/>
              </a:ext>
            </a:extLst>
          </p:cNvPr>
          <p:cNvSpPr>
            <a:spLocks noGrp="1"/>
          </p:cNvSpPr>
          <p:nvPr>
            <p:ph type="body" sz="quarter" idx="17" hasCustomPrompt="1"/>
          </p:nvPr>
        </p:nvSpPr>
        <p:spPr>
          <a:xfrm>
            <a:off x="365125" y="1410562"/>
            <a:ext cx="4078224" cy="393192"/>
          </a:xfrm>
        </p:spPr>
        <p:txBody>
          <a:bodyPr>
            <a:noAutofit/>
          </a:bodyPr>
          <a:lstStyle>
            <a:lvl1pPr>
              <a:defRPr/>
            </a:lvl1pPr>
          </a:lstStyle>
          <a:p>
            <a:pPr lvl="0"/>
            <a:r>
              <a:rPr lang="en-US" dirty="0"/>
              <a:t>Image Identifier 1</a:t>
            </a:r>
          </a:p>
        </p:txBody>
      </p:sp>
      <p:sp>
        <p:nvSpPr>
          <p:cNvPr id="12" name="Content Placeholder 1">
            <a:extLst>
              <a:ext uri="{FF2B5EF4-FFF2-40B4-BE49-F238E27FC236}">
                <a16:creationId xmlns:a16="http://schemas.microsoft.com/office/drawing/2014/main" id="{211AB556-A79C-4FDF-BD73-C1AB72D9590A}"/>
              </a:ext>
            </a:extLst>
          </p:cNvPr>
          <p:cNvSpPr>
            <a:spLocks noGrp="1"/>
          </p:cNvSpPr>
          <p:nvPr>
            <p:ph sz="quarter" idx="18" hasCustomPrompt="1"/>
          </p:nvPr>
        </p:nvSpPr>
        <p:spPr>
          <a:xfrm>
            <a:off x="342900" y="1933303"/>
            <a:ext cx="4078224" cy="4315968"/>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14" name="Image Identifier 2">
            <a:extLst>
              <a:ext uri="{FF2B5EF4-FFF2-40B4-BE49-F238E27FC236}">
                <a16:creationId xmlns:a16="http://schemas.microsoft.com/office/drawing/2014/main" id="{8126F7C8-57F8-404E-8B7F-DFB94AEB3363}"/>
              </a:ext>
            </a:extLst>
          </p:cNvPr>
          <p:cNvSpPr>
            <a:spLocks noGrp="1"/>
          </p:cNvSpPr>
          <p:nvPr>
            <p:ph type="body" sz="quarter" idx="19" hasCustomPrompt="1"/>
          </p:nvPr>
        </p:nvSpPr>
        <p:spPr>
          <a:xfrm>
            <a:off x="4715145" y="1410562"/>
            <a:ext cx="4078224" cy="393192"/>
          </a:xfrm>
        </p:spPr>
        <p:txBody>
          <a:bodyPr>
            <a:noAutofit/>
          </a:bodyPr>
          <a:lstStyle>
            <a:lvl1pPr>
              <a:defRPr/>
            </a:lvl1pPr>
          </a:lstStyle>
          <a:p>
            <a:pPr lvl="0"/>
            <a:r>
              <a:rPr lang="en-US" dirty="0"/>
              <a:t>Image Identifier 2</a:t>
            </a:r>
          </a:p>
        </p:txBody>
      </p:sp>
      <p:sp>
        <p:nvSpPr>
          <p:cNvPr id="16" name="Content Placeholder 2">
            <a:extLst>
              <a:ext uri="{FF2B5EF4-FFF2-40B4-BE49-F238E27FC236}">
                <a16:creationId xmlns:a16="http://schemas.microsoft.com/office/drawing/2014/main" id="{241441BC-54C7-474E-887C-32AF8F737FA5}"/>
              </a:ext>
            </a:extLst>
          </p:cNvPr>
          <p:cNvSpPr>
            <a:spLocks noGrp="1"/>
          </p:cNvSpPr>
          <p:nvPr>
            <p:ph sz="quarter" idx="20" hasCustomPrompt="1"/>
          </p:nvPr>
        </p:nvSpPr>
        <p:spPr>
          <a:xfrm>
            <a:off x="4722876" y="1932432"/>
            <a:ext cx="4078224" cy="4315968"/>
          </a:xfrm>
        </p:spPr>
        <p:txBody>
          <a:bodyPr>
            <a:noAutofit/>
          </a:bodyPr>
          <a:lstStyle>
            <a:lvl1pPr>
              <a:defRPr/>
            </a:lvl1pPr>
          </a:lstStyle>
          <a:p>
            <a:pPr lvl="0"/>
            <a:r>
              <a:rPr lang="en-US" dirty="0"/>
              <a:t>Slide Content 2</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Return to main slide Link 2">
            <a:extLst>
              <a:ext uri="{FF2B5EF4-FFF2-40B4-BE49-F238E27FC236}">
                <a16:creationId xmlns:a16="http://schemas.microsoft.com/office/drawing/2014/main" id="{B9537776-81D3-4405-934B-448730728479}"/>
              </a:ext>
            </a:extLst>
          </p:cNvPr>
          <p:cNvSpPr>
            <a:spLocks noGrp="1"/>
          </p:cNvSpPr>
          <p:nvPr>
            <p:ph type="body" sz="quarter" idx="21" hasCustomPrompt="1"/>
          </p:nvPr>
        </p:nvSpPr>
        <p:spPr>
          <a:xfrm>
            <a:off x="3081528" y="6348550"/>
            <a:ext cx="2980944" cy="228600"/>
          </a:xfrm>
        </p:spPr>
        <p:txBody>
          <a:bodyPr anchor="ctr">
            <a:noAutofit/>
          </a:bodyPr>
          <a:lstStyle>
            <a:lvl1pPr algn="ctr">
              <a:defRPr sz="1200"/>
            </a:lvl1pPr>
          </a:lstStyle>
          <a:p>
            <a:pPr lvl="0"/>
            <a:r>
              <a:rPr lang="en-IN" dirty="0"/>
              <a:t>Return to parent-slide containing images.</a:t>
            </a:r>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7" name="Slide Number"/>
          <p:cNvSpPr txBox="1"/>
          <p:nvPr userDrawn="1"/>
        </p:nvSpPr>
        <p:spPr>
          <a:xfrm>
            <a:off x="8625636" y="6670335"/>
            <a:ext cx="356616" cy="164592"/>
          </a:xfrm>
          <a:prstGeom prst="rect">
            <a:avLst/>
          </a:prstGeom>
          <a:noFill/>
        </p:spPr>
        <p:txBody>
          <a:bodyPr wrap="square" lIns="45720" rIns="45720" rtlCol="0" anchor="ctr" anchorCtr="0">
            <a:noAutofit/>
          </a:bodyPr>
          <a:lstStyle/>
          <a:p>
            <a:pPr algn="r"/>
            <a:fld id="{960EEC4C-B90A-40FB-9378-A310753B0AE3}" type="slidenum">
              <a:rPr lang="en-US" sz="800" smtClean="0">
                <a:solidFill>
                  <a:srgbClr val="595959"/>
                </a:solidFill>
              </a:rPr>
              <a:pPr algn="r"/>
              <a:t>‹#›</a:t>
            </a:fld>
            <a:endParaRPr lang="en-US" sz="800" dirty="0">
              <a:solidFill>
                <a:srgbClr val="595959"/>
              </a:solidFill>
            </a:endParaRP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 id="2147483704" r:id="rId7"/>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 id="2147483706" r:id="rId3"/>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Autofit/>
          </a:bodyPr>
          <a:lstStyle/>
          <a:p>
            <a:r>
              <a:rPr lang="en-US" dirty="0"/>
              <a:t>Title goes here</a:t>
            </a:r>
          </a:p>
        </p:txBody>
      </p:sp>
      <p:sp>
        <p:nvSpPr>
          <p:cNvPr id="14" name="Slide Number"/>
          <p:cNvSpPr txBox="1"/>
          <p:nvPr userDrawn="1"/>
        </p:nvSpPr>
        <p:spPr>
          <a:xfrm>
            <a:off x="8625636" y="6670335"/>
            <a:ext cx="356616" cy="164592"/>
          </a:xfrm>
          <a:prstGeom prst="rect">
            <a:avLst/>
          </a:prstGeom>
          <a:noFill/>
        </p:spPr>
        <p:txBody>
          <a:bodyPr wrap="square" lIns="45720" rIns="45720" rtlCol="0" anchor="ctr" anchorCtr="0">
            <a:noAutofit/>
          </a:bodyPr>
          <a:lstStyle/>
          <a:p>
            <a:pPr algn="r"/>
            <a:fld id="{960EEC4C-B90A-40FB-9378-A310753B0AE3}" type="slidenum">
              <a:rPr lang="en-US" sz="800" smtClean="0">
                <a:solidFill>
                  <a:srgbClr val="595959"/>
                </a:solidFill>
              </a:rPr>
              <a:pPr algn="r"/>
              <a:t>‹#›</a:t>
            </a:fld>
            <a:endParaRPr lang="en-US" sz="800" dirty="0">
              <a:solidFill>
                <a:srgbClr val="595959"/>
              </a:solidFill>
            </a:endParaRP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10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7" name="Slide Number"/>
          <p:cNvSpPr txBox="1"/>
          <p:nvPr userDrawn="1"/>
        </p:nvSpPr>
        <p:spPr>
          <a:xfrm>
            <a:off x="8625636" y="6670335"/>
            <a:ext cx="356616" cy="164592"/>
          </a:xfrm>
          <a:prstGeom prst="rect">
            <a:avLst/>
          </a:prstGeom>
          <a:noFill/>
        </p:spPr>
        <p:txBody>
          <a:bodyPr wrap="square" lIns="45720" rIns="45720" rtlCol="0" anchor="ctr" anchorCtr="0">
            <a:noAutofit/>
          </a:bodyPr>
          <a:lstStyle/>
          <a:p>
            <a:pPr algn="r"/>
            <a:fld id="{960EEC4C-B90A-40FB-9378-A310753B0AE3}" type="slidenum">
              <a:rPr lang="en-US" sz="800" smtClean="0">
                <a:solidFill>
                  <a:srgbClr val="595959"/>
                </a:solidFill>
              </a:rPr>
              <a:pPr algn="r"/>
              <a:t>‹#›</a:t>
            </a:fld>
            <a:endParaRPr lang="en-US" sz="800" dirty="0">
              <a:solidFill>
                <a:srgbClr val="595959"/>
              </a:solidFill>
            </a:endParaRP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4.bin"/><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6.xml"/><Relationship Id="rId5" Type="http://schemas.openxmlformats.org/officeDocument/2006/relationships/image" Target="../media/image10.jpeg"/><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6.bin"/><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7.bin"/><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8.bin"/><Relationship Id="rId1" Type="http://schemas.openxmlformats.org/officeDocument/2006/relationships/slideLayout" Target="../slideLayouts/slideLayout6.xml"/><Relationship Id="rId5" Type="http://schemas.openxmlformats.org/officeDocument/2006/relationships/image" Target="../media/image17.emf"/><Relationship Id="rId4" Type="http://schemas.openxmlformats.org/officeDocument/2006/relationships/oleObject" Target="../embeddings/oleObject9.bin"/></Relationships>
</file>

<file path=ppt/slides/_rels/slide1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0.bin"/><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1.bin"/><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12.bin"/><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emf"/><Relationship Id="rId4"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4C897A-4409-4F96-826A-7AE9F1281913}"/>
              </a:ext>
            </a:extLst>
          </p:cNvPr>
          <p:cNvSpPr txBox="1">
            <a:spLocks/>
          </p:cNvSpPr>
          <p:nvPr/>
        </p:nvSpPr>
        <p:spPr>
          <a:xfrm>
            <a:off x="3054096" y="1017666"/>
            <a:ext cx="3035808" cy="964800"/>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2"/>
                </a:solidFill>
                <a:latin typeface="+mj-lt"/>
                <a:ea typeface="+mj-ea"/>
                <a:cs typeface="+mj-cs"/>
              </a:defRPr>
            </a:lvl1pPr>
          </a:lstStyle>
          <a:p>
            <a:r>
              <a:rPr lang="en-US" sz="3200" dirty="0"/>
              <a:t>Lecture - 4</a:t>
            </a:r>
          </a:p>
        </p:txBody>
      </p:sp>
      <p:sp>
        <p:nvSpPr>
          <p:cNvPr id="9" name="Subtitle 2">
            <a:extLst>
              <a:ext uri="{FF2B5EF4-FFF2-40B4-BE49-F238E27FC236}">
                <a16:creationId xmlns:a16="http://schemas.microsoft.com/office/drawing/2014/main" id="{3FB1E11C-5C2E-408E-8472-9BDA5A6163BD}"/>
              </a:ext>
            </a:extLst>
          </p:cNvPr>
          <p:cNvSpPr txBox="1">
            <a:spLocks/>
          </p:cNvSpPr>
          <p:nvPr/>
        </p:nvSpPr>
        <p:spPr>
          <a:xfrm>
            <a:off x="570293" y="2254211"/>
            <a:ext cx="8003414" cy="849642"/>
          </a:xfrm>
          <a:prstGeom prst="rect">
            <a:avLst/>
          </a:prstGeo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t>Microbial Nutrition, Ecology and Growth</a:t>
            </a:r>
          </a:p>
        </p:txBody>
      </p:sp>
      <p:sp>
        <p:nvSpPr>
          <p:cNvPr id="10" name="Text Placeholder 3">
            <a:extLst>
              <a:ext uri="{FF2B5EF4-FFF2-40B4-BE49-F238E27FC236}">
                <a16:creationId xmlns:a16="http://schemas.microsoft.com/office/drawing/2014/main" id="{A59F268B-4D44-410E-9686-AEB4FDBAB432}"/>
              </a:ext>
            </a:extLst>
          </p:cNvPr>
          <p:cNvSpPr>
            <a:spLocks noGrp="1"/>
          </p:cNvSpPr>
          <p:nvPr>
            <p:ph type="body" sz="quarter" idx="4294967295"/>
          </p:nvPr>
        </p:nvSpPr>
        <p:spPr>
          <a:xfrm>
            <a:off x="421495" y="4178968"/>
            <a:ext cx="4478979" cy="964800"/>
          </a:xfrm>
          <a:prstGeom prst="rect">
            <a:avLst/>
          </a:prstGeom>
        </p:spPr>
        <p:txBody>
          <a:bodyPr>
            <a:noAutofit/>
          </a:bodyPr>
          <a:lstStyle/>
          <a:p>
            <a:r>
              <a:rPr lang="en-IN" sz="1600" i="1" dirty="0" err="1"/>
              <a:t>Talaro’s</a:t>
            </a:r>
            <a:r>
              <a:rPr lang="en-IN" sz="1600" i="1" dirty="0"/>
              <a:t> </a:t>
            </a:r>
            <a:r>
              <a:rPr lang="en-IN" sz="1600" dirty="0"/>
              <a:t>Foundations in Microbiology </a:t>
            </a:r>
          </a:p>
          <a:p>
            <a:pPr>
              <a:spcBef>
                <a:spcPts val="300"/>
              </a:spcBef>
            </a:pPr>
            <a:r>
              <a:rPr lang="en-IN" sz="1600" dirty="0"/>
              <a:t>12</a:t>
            </a:r>
            <a:r>
              <a:rPr lang="en-IN" sz="1600" baseline="30000" dirty="0"/>
              <a:t>th</a:t>
            </a:r>
            <a:r>
              <a:rPr lang="en-IN" sz="1600" dirty="0"/>
              <a:t> </a:t>
            </a:r>
            <a:r>
              <a:rPr lang="en-IN" sz="1600" b="0" dirty="0"/>
              <a:t> Edition</a:t>
            </a:r>
          </a:p>
          <a:p>
            <a:pPr>
              <a:spcBef>
                <a:spcPts val="600"/>
              </a:spcBef>
            </a:pPr>
            <a:r>
              <a:rPr lang="en-IN" sz="1600" dirty="0"/>
              <a:t>Barry Chess</a:t>
            </a:r>
          </a:p>
        </p:txBody>
      </p:sp>
    </p:spTree>
    <p:extLst>
      <p:ext uri="{BB962C8B-B14F-4D97-AF65-F5344CB8AC3E}">
        <p14:creationId xmlns:p14="http://schemas.microsoft.com/office/powerpoint/2010/main" val="989311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sz="quarter" idx="11"/>
          </p:nvPr>
        </p:nvSpPr>
        <p:spPr>
          <a:xfrm>
            <a:off x="482237" y="1511840"/>
            <a:ext cx="8458200" cy="2838091"/>
          </a:xfrm>
        </p:spPr>
        <p:txBody>
          <a:bodyPr/>
          <a:lstStyle/>
          <a:p>
            <a:pPr marL="457200" indent="-457200">
              <a:buFont typeface="+mj-lt"/>
              <a:buAutoNum type="arabicPeriod"/>
            </a:pPr>
            <a:r>
              <a:rPr lang="en-US" dirty="0"/>
              <a:t>Elements of Microbial Nutrition - sources of essential nutrients</a:t>
            </a:r>
          </a:p>
          <a:p>
            <a:pPr marL="457200" indent="-457200">
              <a:buFont typeface="+mj-lt"/>
              <a:buAutoNum type="arabicPeriod"/>
            </a:pPr>
            <a:endParaRPr lang="en-US" dirty="0"/>
          </a:p>
          <a:p>
            <a:pPr marL="457200" indent="-457200">
              <a:buFont typeface="+mj-lt"/>
              <a:buAutoNum type="arabicPeriod"/>
            </a:pPr>
            <a:r>
              <a:rPr lang="en-US" dirty="0"/>
              <a:t>Nutritional types</a:t>
            </a:r>
          </a:p>
          <a:p>
            <a:pPr marL="457200" indent="-457200">
              <a:buFont typeface="+mj-lt"/>
              <a:buAutoNum type="arabicPeriod"/>
            </a:pPr>
            <a:endParaRPr lang="en-US" dirty="0"/>
          </a:p>
          <a:p>
            <a:pPr marL="457200" indent="-457200">
              <a:buFont typeface="+mj-lt"/>
              <a:buAutoNum type="arabicPeriod"/>
            </a:pPr>
            <a:r>
              <a:rPr lang="en-US" dirty="0"/>
              <a:t>Ecological associations among microorganisms</a:t>
            </a:r>
          </a:p>
          <a:p>
            <a:pPr marL="457200" indent="-457200">
              <a:buFont typeface="+mj-lt"/>
              <a:buAutoNum type="arabicPeriod"/>
            </a:pPr>
            <a:endParaRPr lang="en-US" dirty="0"/>
          </a:p>
          <a:p>
            <a:pPr marL="457200" indent="-457200">
              <a:buFont typeface="+mj-lt"/>
              <a:buAutoNum type="arabicPeriod"/>
            </a:pPr>
            <a:r>
              <a:rPr lang="en-US" dirty="0"/>
              <a:t>Environmental factors influencing microbial growth</a:t>
            </a:r>
          </a:p>
        </p:txBody>
      </p:sp>
    </p:spTree>
    <p:extLst>
      <p:ext uri="{BB962C8B-B14F-4D97-AF65-F5344CB8AC3E}">
        <p14:creationId xmlns:p14="http://schemas.microsoft.com/office/powerpoint/2010/main" val="1034577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8458200" cy="678611"/>
          </a:xfrm>
        </p:spPr>
        <p:txBody>
          <a:bodyPr/>
          <a:lstStyle/>
          <a:p>
            <a:r>
              <a:rPr lang="en-US" altLang="en-US" dirty="0"/>
              <a:t>Microbial Nutrition</a:t>
            </a:r>
            <a:endParaRPr lang="en-US" dirty="0"/>
          </a:p>
        </p:txBody>
      </p:sp>
      <p:sp>
        <p:nvSpPr>
          <p:cNvPr id="3" name="Content Placeholder 2"/>
          <p:cNvSpPr>
            <a:spLocks noGrp="1"/>
          </p:cNvSpPr>
          <p:nvPr>
            <p:ph sz="quarter" idx="11"/>
          </p:nvPr>
        </p:nvSpPr>
        <p:spPr>
          <a:xfrm>
            <a:off x="342900" y="800531"/>
            <a:ext cx="8458200" cy="2838091"/>
          </a:xfrm>
        </p:spPr>
        <p:txBody>
          <a:bodyPr/>
          <a:lstStyle/>
          <a:p>
            <a:pPr marL="342900" indent="-342900">
              <a:buFont typeface="Arial" panose="020B0604020202020204" pitchFamily="34" charset="0"/>
              <a:buChar char="•"/>
            </a:pPr>
            <a:r>
              <a:rPr lang="en-US" dirty="0"/>
              <a:t>There are millions of habitats on earth - both </a:t>
            </a:r>
            <a:r>
              <a:rPr lang="en-US" dirty="0">
                <a:solidFill>
                  <a:schemeClr val="accent1"/>
                </a:solidFill>
              </a:rPr>
              <a:t>natural</a:t>
            </a:r>
            <a:r>
              <a:rPr lang="en-US" dirty="0"/>
              <a:t> and </a:t>
            </a:r>
            <a:r>
              <a:rPr lang="en-US" dirty="0">
                <a:solidFill>
                  <a:schemeClr val="accent1"/>
                </a:solidFill>
              </a:rPr>
              <a:t>human</a:t>
            </a:r>
            <a:r>
              <a:rPr lang="en-US" dirty="0"/>
              <a:t> origin.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Example: - the North and South poles, deserts, rocks, oceans, mining sites etc.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In these settings, </a:t>
            </a:r>
            <a:r>
              <a:rPr lang="en-US" dirty="0">
                <a:solidFill>
                  <a:schemeClr val="accent1"/>
                </a:solidFill>
              </a:rPr>
              <a:t>microorganisms are exposed to a variety of conditions that affect their survival</a:t>
            </a:r>
            <a:r>
              <a:rPr lang="en-US" dirty="0"/>
              <a: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Microbes survive in their habitats by gradually adjusting to these conditions - a process called </a:t>
            </a:r>
            <a:r>
              <a:rPr lang="en-US" dirty="0">
                <a:solidFill>
                  <a:schemeClr val="accent1"/>
                </a:solidFill>
              </a:rPr>
              <a:t>adaptation</a:t>
            </a:r>
            <a:r>
              <a:rPr lang="en-US" dirty="0"/>
              <a:t>.</a:t>
            </a:r>
          </a:p>
        </p:txBody>
      </p:sp>
    </p:spTree>
    <p:extLst>
      <p:ext uri="{BB962C8B-B14F-4D97-AF65-F5344CB8AC3E}">
        <p14:creationId xmlns:p14="http://schemas.microsoft.com/office/powerpoint/2010/main" val="1960412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231" y="104503"/>
            <a:ext cx="8458200" cy="678611"/>
          </a:xfrm>
        </p:spPr>
        <p:txBody>
          <a:bodyPr/>
          <a:lstStyle/>
          <a:p>
            <a:r>
              <a:rPr lang="en-US" altLang="en-US" dirty="0"/>
              <a:t>Microbial Nutrition</a:t>
            </a:r>
            <a:endParaRPr lang="en-US" dirty="0"/>
          </a:p>
        </p:txBody>
      </p:sp>
      <p:sp>
        <p:nvSpPr>
          <p:cNvPr id="3" name="Content Placeholder 2"/>
          <p:cNvSpPr>
            <a:spLocks noGrp="1"/>
          </p:cNvSpPr>
          <p:nvPr>
            <p:ph sz="quarter" idx="11"/>
          </p:nvPr>
        </p:nvSpPr>
        <p:spPr>
          <a:xfrm>
            <a:off x="273231" y="783114"/>
            <a:ext cx="8670471" cy="2838091"/>
          </a:xfrm>
        </p:spPr>
        <p:txBody>
          <a:bodyPr/>
          <a:lstStyle/>
          <a:p>
            <a:r>
              <a:rPr lang="en-US" dirty="0"/>
              <a:t>Microbes live on earth in different environmental conditions.</a:t>
            </a:r>
          </a:p>
          <a:p>
            <a:endParaRPr lang="en-US" dirty="0"/>
          </a:p>
          <a:p>
            <a:r>
              <a:rPr lang="en-US" dirty="0"/>
              <a:t>Environmental factors affecting the survival of microorganisms are: </a:t>
            </a:r>
          </a:p>
          <a:p>
            <a:pPr marL="342900" indent="-342900">
              <a:buFont typeface="Arial" panose="020B0604020202020204" pitchFamily="34" charset="0"/>
              <a:buChar char="•"/>
            </a:pPr>
            <a:r>
              <a:rPr lang="en-US" dirty="0">
                <a:solidFill>
                  <a:srgbClr val="FF0000"/>
                </a:solidFill>
              </a:rPr>
              <a:t>Nutrient and energy sources</a:t>
            </a:r>
          </a:p>
          <a:p>
            <a:pPr marL="342900" indent="-342900">
              <a:buFont typeface="Arial" panose="020B0604020202020204" pitchFamily="34" charset="0"/>
              <a:buChar char="•"/>
            </a:pPr>
            <a:r>
              <a:rPr lang="en-US" dirty="0"/>
              <a:t>Temperature</a:t>
            </a:r>
          </a:p>
          <a:p>
            <a:pPr marL="342900" indent="-342900">
              <a:buFont typeface="Arial" panose="020B0604020202020204" pitchFamily="34" charset="0"/>
              <a:buChar char="•"/>
            </a:pPr>
            <a:r>
              <a:rPr lang="en-US" dirty="0"/>
              <a:t>Gas content </a:t>
            </a:r>
          </a:p>
          <a:p>
            <a:pPr marL="342900" indent="-342900">
              <a:buFont typeface="Arial" panose="020B0604020202020204" pitchFamily="34" charset="0"/>
              <a:buChar char="•"/>
            </a:pPr>
            <a:r>
              <a:rPr lang="en-US" dirty="0"/>
              <a:t>Water</a:t>
            </a:r>
          </a:p>
          <a:p>
            <a:pPr marL="342900" indent="-342900">
              <a:buFont typeface="Arial" panose="020B0604020202020204" pitchFamily="34" charset="0"/>
              <a:buChar char="•"/>
            </a:pPr>
            <a:r>
              <a:rPr lang="en-US" dirty="0"/>
              <a:t>Salt</a:t>
            </a:r>
          </a:p>
          <a:p>
            <a:pPr marL="342900" indent="-342900">
              <a:buFont typeface="Arial" panose="020B0604020202020204" pitchFamily="34" charset="0"/>
              <a:buChar char="•"/>
            </a:pPr>
            <a:r>
              <a:rPr lang="en-US" dirty="0"/>
              <a:t>pH </a:t>
            </a:r>
          </a:p>
          <a:p>
            <a:pPr marL="342900" indent="-342900">
              <a:buFont typeface="Arial" panose="020B0604020202020204" pitchFamily="34" charset="0"/>
              <a:buChar char="•"/>
            </a:pPr>
            <a:r>
              <a:rPr lang="en-US" dirty="0"/>
              <a:t>Radiation and other organisms.</a:t>
            </a:r>
          </a:p>
        </p:txBody>
      </p:sp>
    </p:spTree>
    <p:extLst>
      <p:ext uri="{BB962C8B-B14F-4D97-AF65-F5344CB8AC3E}">
        <p14:creationId xmlns:p14="http://schemas.microsoft.com/office/powerpoint/2010/main" val="1203421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688" y="145251"/>
            <a:ext cx="8458200" cy="678611"/>
          </a:xfrm>
        </p:spPr>
        <p:txBody>
          <a:bodyPr/>
          <a:lstStyle/>
          <a:p>
            <a:r>
              <a:rPr lang="en-US" altLang="en-US" dirty="0"/>
              <a:t>Microbial Nutrition</a:t>
            </a:r>
            <a:endParaRPr lang="en-US" dirty="0"/>
          </a:p>
        </p:txBody>
      </p:sp>
      <p:sp>
        <p:nvSpPr>
          <p:cNvPr id="3" name="Content Placeholder 2"/>
          <p:cNvSpPr>
            <a:spLocks noGrp="1"/>
          </p:cNvSpPr>
          <p:nvPr>
            <p:ph sz="quarter" idx="11"/>
          </p:nvPr>
        </p:nvSpPr>
        <p:spPr>
          <a:xfrm>
            <a:off x="299356" y="1085120"/>
            <a:ext cx="8458200" cy="4971691"/>
          </a:xfrm>
        </p:spPr>
        <p:txBody>
          <a:bodyPr/>
          <a:lstStyle/>
          <a:p>
            <a:pPr indent="-457200">
              <a:spcBef>
                <a:spcPts val="600"/>
              </a:spcBef>
            </a:pPr>
            <a:r>
              <a:rPr lang="en-US" altLang="en-US" dirty="0"/>
              <a:t>Microbial nutrition is a complex activity through which </a:t>
            </a:r>
            <a:r>
              <a:rPr lang="en-US" altLang="en-US" dirty="0">
                <a:solidFill>
                  <a:srgbClr val="FF0000"/>
                </a:solidFill>
              </a:rPr>
              <a:t>microbes acquire chemical compounds from the environment in order to sustain life</a:t>
            </a:r>
            <a:r>
              <a:rPr lang="en-US" altLang="en-US" dirty="0"/>
              <a:t>.</a:t>
            </a:r>
          </a:p>
          <a:p>
            <a:pPr indent="-457200">
              <a:spcBef>
                <a:spcPts val="600"/>
              </a:spcBef>
            </a:pPr>
            <a:endParaRPr lang="en-US" altLang="en-US" dirty="0"/>
          </a:p>
          <a:p>
            <a:pPr indent="-457200">
              <a:spcBef>
                <a:spcPts val="600"/>
              </a:spcBef>
            </a:pPr>
            <a:r>
              <a:rPr lang="en-US" altLang="en-US" b="1" dirty="0">
                <a:solidFill>
                  <a:schemeClr val="accent1"/>
                </a:solidFill>
              </a:rPr>
              <a:t>Nutrition</a:t>
            </a:r>
            <a:r>
              <a:rPr lang="en-US" altLang="en-US" dirty="0"/>
              <a:t> - </a:t>
            </a:r>
            <a:r>
              <a:rPr lang="en-US" altLang="en-US" dirty="0">
                <a:solidFill>
                  <a:srgbClr val="0070C0"/>
                </a:solidFill>
              </a:rPr>
              <a:t>Process by which chemical compounds (nutrients) are acquired from the environment to sustain life</a:t>
            </a:r>
          </a:p>
          <a:p>
            <a:pPr indent="-457200">
              <a:spcBef>
                <a:spcPts val="600"/>
              </a:spcBef>
            </a:pPr>
            <a:endParaRPr lang="en-US" altLang="en-US" dirty="0"/>
          </a:p>
          <a:p>
            <a:pPr indent="-457200">
              <a:spcBef>
                <a:spcPts val="600"/>
              </a:spcBef>
            </a:pPr>
            <a:r>
              <a:rPr lang="en-US" altLang="en-US" dirty="0"/>
              <a:t>In microbial nutrition, the compounds are </a:t>
            </a:r>
            <a:r>
              <a:rPr lang="en-US" altLang="en-US" dirty="0">
                <a:solidFill>
                  <a:schemeClr val="accent1"/>
                </a:solidFill>
              </a:rPr>
              <a:t>absorbed</a:t>
            </a:r>
            <a:r>
              <a:rPr lang="en-US" altLang="en-US" dirty="0"/>
              <a:t>, </a:t>
            </a:r>
            <a:r>
              <a:rPr lang="en-US" altLang="en-US" dirty="0">
                <a:solidFill>
                  <a:schemeClr val="accent1"/>
                </a:solidFill>
              </a:rPr>
              <a:t>assimilated</a:t>
            </a:r>
            <a:r>
              <a:rPr lang="en-US" altLang="en-US" dirty="0"/>
              <a:t> and subsequently used for </a:t>
            </a:r>
            <a:r>
              <a:rPr lang="en-US" altLang="en-US" dirty="0">
                <a:solidFill>
                  <a:srgbClr val="FF0000"/>
                </a:solidFill>
              </a:rPr>
              <a:t>cellular metabolism</a:t>
            </a:r>
            <a:r>
              <a:rPr lang="en-US" altLang="en-US" dirty="0"/>
              <a:t>, </a:t>
            </a:r>
            <a:r>
              <a:rPr lang="en-US" altLang="en-US" dirty="0">
                <a:solidFill>
                  <a:srgbClr val="FF0000"/>
                </a:solidFill>
              </a:rPr>
              <a:t>growth</a:t>
            </a:r>
            <a:r>
              <a:rPr lang="en-US" altLang="en-US" dirty="0"/>
              <a:t>, </a:t>
            </a:r>
            <a:r>
              <a:rPr lang="en-US" altLang="en-US" dirty="0">
                <a:solidFill>
                  <a:srgbClr val="FF0000"/>
                </a:solidFill>
              </a:rPr>
              <a:t>energy</a:t>
            </a:r>
            <a:r>
              <a:rPr lang="en-US" altLang="en-US" dirty="0"/>
              <a:t> etc. </a:t>
            </a:r>
          </a:p>
        </p:txBody>
      </p:sp>
    </p:spTree>
    <p:extLst>
      <p:ext uri="{BB962C8B-B14F-4D97-AF65-F5344CB8AC3E}">
        <p14:creationId xmlns:p14="http://schemas.microsoft.com/office/powerpoint/2010/main" val="3038043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39337"/>
            <a:ext cx="8458200" cy="409303"/>
          </a:xfrm>
        </p:spPr>
        <p:txBody>
          <a:bodyPr/>
          <a:lstStyle/>
          <a:p>
            <a:r>
              <a:rPr lang="en-US" altLang="en-US" dirty="0"/>
              <a:t>Microbial Nutrition</a:t>
            </a:r>
            <a:endParaRPr lang="en-US" dirty="0"/>
          </a:p>
        </p:txBody>
      </p:sp>
      <p:sp>
        <p:nvSpPr>
          <p:cNvPr id="3" name="Content Placeholder 2"/>
          <p:cNvSpPr>
            <a:spLocks noGrp="1"/>
          </p:cNvSpPr>
          <p:nvPr>
            <p:ph sz="quarter" idx="11"/>
          </p:nvPr>
        </p:nvSpPr>
        <p:spPr>
          <a:xfrm>
            <a:off x="342900" y="632275"/>
            <a:ext cx="8458200" cy="2838091"/>
          </a:xfrm>
        </p:spPr>
        <p:txBody>
          <a:bodyPr/>
          <a:lstStyle/>
          <a:p>
            <a:pPr lvl="1">
              <a:spcBef>
                <a:spcPts val="600"/>
              </a:spcBef>
              <a:spcAft>
                <a:spcPts val="0"/>
              </a:spcAft>
              <a:buFont typeface="Wingdings" panose="05000000000000000000" pitchFamily="2" charset="2"/>
              <a:buChar char="Ø"/>
            </a:pPr>
            <a:r>
              <a:rPr lang="en-US" altLang="en-US" dirty="0"/>
              <a:t>All living organisms need several elements for their survival and growth.</a:t>
            </a:r>
          </a:p>
          <a:p>
            <a:pPr lvl="1">
              <a:spcBef>
                <a:spcPts val="600"/>
              </a:spcBef>
              <a:spcAft>
                <a:spcPts val="0"/>
              </a:spcAft>
            </a:pPr>
            <a:r>
              <a:rPr lang="en-US" altLang="en-US" b="1" dirty="0"/>
              <a:t>Bioelements</a:t>
            </a:r>
            <a:r>
              <a:rPr lang="en-US" altLang="en-US" dirty="0"/>
              <a:t> – basic requirements for life </a:t>
            </a:r>
          </a:p>
          <a:p>
            <a:pPr lvl="1">
              <a:spcBef>
                <a:spcPts val="600"/>
              </a:spcBef>
              <a:spcAft>
                <a:spcPts val="0"/>
              </a:spcAft>
            </a:pPr>
            <a:r>
              <a:rPr lang="en-US" sz="2000" dirty="0"/>
              <a:t>carbon</a:t>
            </a:r>
          </a:p>
          <a:p>
            <a:pPr lvl="1">
              <a:spcBef>
                <a:spcPts val="600"/>
              </a:spcBef>
              <a:spcAft>
                <a:spcPts val="0"/>
              </a:spcAft>
            </a:pPr>
            <a:r>
              <a:rPr lang="en-US" sz="2000" dirty="0"/>
              <a:t>hydrogen </a:t>
            </a:r>
          </a:p>
          <a:p>
            <a:pPr lvl="1">
              <a:spcBef>
                <a:spcPts val="600"/>
              </a:spcBef>
              <a:spcAft>
                <a:spcPts val="0"/>
              </a:spcAft>
            </a:pPr>
            <a:r>
              <a:rPr lang="en-US" sz="2000" dirty="0"/>
              <a:t>oxygen</a:t>
            </a:r>
          </a:p>
          <a:p>
            <a:pPr lvl="1">
              <a:spcBef>
                <a:spcPts val="600"/>
              </a:spcBef>
              <a:spcAft>
                <a:spcPts val="0"/>
              </a:spcAft>
            </a:pPr>
            <a:r>
              <a:rPr lang="en-US" sz="2000" dirty="0"/>
              <a:t>phosphorus </a:t>
            </a:r>
          </a:p>
          <a:p>
            <a:pPr lvl="1">
              <a:spcBef>
                <a:spcPts val="600"/>
              </a:spcBef>
              <a:spcAft>
                <a:spcPts val="0"/>
              </a:spcAft>
            </a:pPr>
            <a:r>
              <a:rPr lang="en-US" sz="2000" dirty="0"/>
              <a:t>potassium </a:t>
            </a:r>
          </a:p>
          <a:p>
            <a:pPr lvl="1">
              <a:spcBef>
                <a:spcPts val="600"/>
              </a:spcBef>
              <a:spcAft>
                <a:spcPts val="0"/>
              </a:spcAft>
            </a:pPr>
            <a:r>
              <a:rPr lang="en-US" sz="2000" dirty="0"/>
              <a:t>nitrogen </a:t>
            </a:r>
          </a:p>
          <a:p>
            <a:pPr lvl="1">
              <a:spcBef>
                <a:spcPts val="600"/>
              </a:spcBef>
              <a:spcAft>
                <a:spcPts val="0"/>
              </a:spcAft>
            </a:pPr>
            <a:r>
              <a:rPr lang="en-US" sz="2000" dirty="0"/>
              <a:t>sulfur</a:t>
            </a:r>
          </a:p>
          <a:p>
            <a:pPr lvl="1">
              <a:spcBef>
                <a:spcPts val="600"/>
              </a:spcBef>
              <a:spcAft>
                <a:spcPts val="0"/>
              </a:spcAft>
            </a:pPr>
            <a:r>
              <a:rPr lang="en-US" sz="2000" dirty="0"/>
              <a:t>calcium </a:t>
            </a:r>
          </a:p>
          <a:p>
            <a:pPr lvl="1">
              <a:spcBef>
                <a:spcPts val="600"/>
              </a:spcBef>
              <a:spcAft>
                <a:spcPts val="0"/>
              </a:spcAft>
            </a:pPr>
            <a:r>
              <a:rPr lang="en-US" sz="2000" dirty="0"/>
              <a:t>iron</a:t>
            </a:r>
          </a:p>
          <a:p>
            <a:pPr lvl="1">
              <a:spcBef>
                <a:spcPts val="600"/>
              </a:spcBef>
              <a:spcAft>
                <a:spcPts val="0"/>
              </a:spcAft>
            </a:pPr>
            <a:r>
              <a:rPr lang="en-US" sz="2000" dirty="0"/>
              <a:t>sodium </a:t>
            </a:r>
          </a:p>
          <a:p>
            <a:pPr lvl="1">
              <a:spcBef>
                <a:spcPts val="600"/>
              </a:spcBef>
              <a:spcAft>
                <a:spcPts val="0"/>
              </a:spcAft>
            </a:pPr>
            <a:r>
              <a:rPr lang="en-US" sz="2000" dirty="0"/>
              <a:t>chlorine</a:t>
            </a:r>
          </a:p>
          <a:p>
            <a:pPr lvl="1">
              <a:spcBef>
                <a:spcPts val="600"/>
              </a:spcBef>
              <a:spcAft>
                <a:spcPts val="0"/>
              </a:spcAft>
            </a:pPr>
            <a:r>
              <a:rPr lang="en-US" sz="2000" dirty="0"/>
              <a:t>magnesium</a:t>
            </a:r>
            <a:endParaRPr lang="en-US" altLang="en-US" sz="2000" dirty="0"/>
          </a:p>
        </p:txBody>
      </p:sp>
    </p:spTree>
    <p:extLst>
      <p:ext uri="{BB962C8B-B14F-4D97-AF65-F5344CB8AC3E}">
        <p14:creationId xmlns:p14="http://schemas.microsoft.com/office/powerpoint/2010/main" val="283590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Chemical Analysis of Cell Contents</a:t>
            </a:r>
            <a:endParaRPr lang="en-US" dirty="0"/>
          </a:p>
        </p:txBody>
      </p:sp>
      <p:sp>
        <p:nvSpPr>
          <p:cNvPr id="3" name="Content Placeholder 2"/>
          <p:cNvSpPr>
            <a:spLocks noGrp="1"/>
          </p:cNvSpPr>
          <p:nvPr>
            <p:ph sz="quarter" idx="11"/>
          </p:nvPr>
        </p:nvSpPr>
        <p:spPr>
          <a:xfrm>
            <a:off x="342900" y="983411"/>
            <a:ext cx="8458200" cy="5124091"/>
          </a:xfrm>
        </p:spPr>
        <p:txBody>
          <a:bodyPr/>
          <a:lstStyle/>
          <a:p>
            <a:pPr marL="349250" indent="-349250">
              <a:spcBef>
                <a:spcPts val="600"/>
              </a:spcBef>
              <a:spcAft>
                <a:spcPts val="600"/>
              </a:spcAft>
            </a:pPr>
            <a:r>
              <a:rPr lang="en-US" altLang="en-US" dirty="0"/>
              <a:t>70% </a:t>
            </a:r>
            <a:r>
              <a:rPr lang="en-US" altLang="en-US" u="sng" dirty="0"/>
              <a:t>water</a:t>
            </a:r>
          </a:p>
          <a:p>
            <a:pPr marL="349250" indent="-349250">
              <a:spcBef>
                <a:spcPts val="600"/>
              </a:spcBef>
              <a:spcAft>
                <a:spcPts val="600"/>
              </a:spcAft>
            </a:pPr>
            <a:r>
              <a:rPr lang="en-US" altLang="en-US" dirty="0"/>
              <a:t>97% of dry cell weight is </a:t>
            </a:r>
            <a:r>
              <a:rPr lang="en-US" altLang="en-US" u="sng" dirty="0"/>
              <a:t>organic compounds</a:t>
            </a:r>
            <a:r>
              <a:rPr lang="en-US" altLang="en-US" dirty="0"/>
              <a:t>:</a:t>
            </a:r>
          </a:p>
          <a:p>
            <a:pPr lvl="1">
              <a:spcBef>
                <a:spcPts val="600"/>
              </a:spcBef>
              <a:spcAft>
                <a:spcPts val="600"/>
              </a:spcAft>
            </a:pPr>
            <a:r>
              <a:rPr lang="en-US" altLang="en-US" dirty="0"/>
              <a:t>Proteins the most prevalent</a:t>
            </a:r>
          </a:p>
          <a:p>
            <a:pPr marL="349250" indent="-349250">
              <a:spcBef>
                <a:spcPts val="600"/>
              </a:spcBef>
              <a:spcAft>
                <a:spcPts val="600"/>
              </a:spcAft>
            </a:pPr>
            <a:r>
              <a:rPr lang="en-US" altLang="en-US" dirty="0"/>
              <a:t>96% of cell is composed of </a:t>
            </a:r>
            <a:r>
              <a:rPr lang="en-US" altLang="en-US" u="sng" dirty="0"/>
              <a:t>6 elements</a:t>
            </a:r>
            <a:r>
              <a:rPr lang="en-US" altLang="en-US" dirty="0"/>
              <a:t>:</a:t>
            </a:r>
          </a:p>
          <a:p>
            <a:pPr lvl="1">
              <a:spcBef>
                <a:spcPts val="600"/>
              </a:spcBef>
              <a:spcAft>
                <a:spcPts val="600"/>
              </a:spcAft>
            </a:pPr>
            <a:r>
              <a:rPr lang="en-US" altLang="en-US" b="1" dirty="0"/>
              <a:t>C</a:t>
            </a:r>
            <a:r>
              <a:rPr lang="en-US" altLang="en-US" dirty="0"/>
              <a:t>arbon</a:t>
            </a:r>
          </a:p>
          <a:p>
            <a:pPr lvl="1">
              <a:spcBef>
                <a:spcPts val="600"/>
              </a:spcBef>
              <a:spcAft>
                <a:spcPts val="600"/>
              </a:spcAft>
            </a:pPr>
            <a:r>
              <a:rPr lang="en-US" altLang="en-US" b="1" dirty="0"/>
              <a:t>H</a:t>
            </a:r>
            <a:r>
              <a:rPr lang="en-US" altLang="en-US" dirty="0"/>
              <a:t>ydrogen</a:t>
            </a:r>
          </a:p>
          <a:p>
            <a:pPr lvl="1">
              <a:spcBef>
                <a:spcPts val="600"/>
              </a:spcBef>
              <a:spcAft>
                <a:spcPts val="600"/>
              </a:spcAft>
            </a:pPr>
            <a:r>
              <a:rPr lang="en-US" altLang="en-US" b="1" dirty="0"/>
              <a:t>O</a:t>
            </a:r>
            <a:r>
              <a:rPr lang="en-US" altLang="en-US" dirty="0"/>
              <a:t>xygen</a:t>
            </a:r>
          </a:p>
          <a:p>
            <a:pPr lvl="1">
              <a:spcBef>
                <a:spcPts val="600"/>
              </a:spcBef>
              <a:spcAft>
                <a:spcPts val="600"/>
              </a:spcAft>
            </a:pPr>
            <a:r>
              <a:rPr lang="en-US" altLang="en-US" b="1" dirty="0"/>
              <a:t>P</a:t>
            </a:r>
            <a:r>
              <a:rPr lang="en-US" altLang="en-US" dirty="0"/>
              <a:t>hosphorous</a:t>
            </a:r>
          </a:p>
          <a:p>
            <a:pPr lvl="1">
              <a:spcBef>
                <a:spcPts val="600"/>
              </a:spcBef>
              <a:spcAft>
                <a:spcPts val="600"/>
              </a:spcAft>
            </a:pPr>
            <a:r>
              <a:rPr lang="en-US" altLang="en-US" b="1" dirty="0"/>
              <a:t>S</a:t>
            </a:r>
            <a:r>
              <a:rPr lang="en-US" altLang="en-US" dirty="0"/>
              <a:t>ulfur</a:t>
            </a:r>
          </a:p>
          <a:p>
            <a:pPr lvl="1">
              <a:spcBef>
                <a:spcPts val="600"/>
              </a:spcBef>
              <a:spcAft>
                <a:spcPts val="600"/>
              </a:spcAft>
            </a:pPr>
            <a:r>
              <a:rPr lang="en-US" altLang="en-US" b="1" dirty="0"/>
              <a:t>N</a:t>
            </a:r>
            <a:r>
              <a:rPr lang="en-US" altLang="en-US" dirty="0"/>
              <a:t>itrogen</a:t>
            </a:r>
            <a:endParaRPr lang="en-US" dirty="0"/>
          </a:p>
        </p:txBody>
      </p:sp>
    </p:spTree>
    <p:extLst>
      <p:ext uri="{BB962C8B-B14F-4D97-AF65-F5344CB8AC3E}">
        <p14:creationId xmlns:p14="http://schemas.microsoft.com/office/powerpoint/2010/main" val="664195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038" y="0"/>
            <a:ext cx="8458200" cy="678611"/>
          </a:xfrm>
        </p:spPr>
        <p:txBody>
          <a:bodyPr/>
          <a:lstStyle/>
          <a:p>
            <a:r>
              <a:rPr lang="en-US" dirty="0"/>
              <a:t>Energy Extraction of Microorganisms</a:t>
            </a:r>
          </a:p>
        </p:txBody>
      </p:sp>
      <p:pic>
        <p:nvPicPr>
          <p:cNvPr id="9" name="Picture 2" descr="A micrograph shows Escherichia coli. The bacteria are rod-shaped."/>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63323" y="1063312"/>
            <a:ext cx="4508980" cy="3553076"/>
          </a:xfrm>
        </p:spPr>
      </p:pic>
      <p:sp>
        <p:nvSpPr>
          <p:cNvPr id="5" name="Text Placeholder 3"/>
          <p:cNvSpPr>
            <a:spLocks noGrp="1"/>
          </p:cNvSpPr>
          <p:nvPr>
            <p:ph type="body" sz="quarter" idx="30"/>
          </p:nvPr>
        </p:nvSpPr>
        <p:spPr/>
        <p:txBody>
          <a:bodyPr/>
          <a:lstStyle/>
          <a:p>
            <a:r>
              <a:rPr lang="en-US" i="1" dirty="0"/>
              <a:t>Source:</a:t>
            </a:r>
            <a:r>
              <a:rPr lang="en-US" dirty="0"/>
              <a:t> Eric </a:t>
            </a:r>
            <a:r>
              <a:rPr lang="en-US" dirty="0" err="1"/>
              <a:t>Erbe</a:t>
            </a:r>
            <a:r>
              <a:rPr lang="en-US" dirty="0"/>
              <a:t>/Chris Pooley, USDA-ARS</a:t>
            </a:r>
          </a:p>
        </p:txBody>
      </p:sp>
      <p:sp>
        <p:nvSpPr>
          <p:cNvPr id="6" name="TextBox 5">
            <a:extLst>
              <a:ext uri="{FF2B5EF4-FFF2-40B4-BE49-F238E27FC236}">
                <a16:creationId xmlns:a16="http://schemas.microsoft.com/office/drawing/2014/main" id="{2D407DF0-F484-4291-B68C-CB5E3238F523}"/>
              </a:ext>
            </a:extLst>
          </p:cNvPr>
          <p:cNvSpPr txBox="1"/>
          <p:nvPr/>
        </p:nvSpPr>
        <p:spPr>
          <a:xfrm>
            <a:off x="5109886" y="868004"/>
            <a:ext cx="3770791" cy="5262979"/>
          </a:xfrm>
          <a:prstGeom prst="rect">
            <a:avLst/>
          </a:prstGeom>
          <a:noFill/>
        </p:spPr>
        <p:txBody>
          <a:bodyPr wrap="square">
            <a:spAutoFit/>
          </a:bodyPr>
          <a:lstStyle/>
          <a:p>
            <a:r>
              <a:rPr lang="en-US" sz="2800" dirty="0"/>
              <a:t>Chemical analysis of cell contents - </a:t>
            </a:r>
            <a:r>
              <a:rPr lang="en-US" sz="2800" i="1" dirty="0"/>
              <a:t>Escherichia coli </a:t>
            </a:r>
            <a:r>
              <a:rPr lang="en-US" sz="2800" dirty="0"/>
              <a:t>cell</a:t>
            </a:r>
          </a:p>
          <a:p>
            <a:endParaRPr lang="en-US" sz="2800" dirty="0"/>
          </a:p>
          <a:p>
            <a:r>
              <a:rPr lang="en-US" sz="2800" dirty="0"/>
              <a:t>Water - 70 %</a:t>
            </a:r>
          </a:p>
          <a:p>
            <a:r>
              <a:rPr lang="en-US" sz="2800" dirty="0"/>
              <a:t>Proteins - 15 %</a:t>
            </a:r>
          </a:p>
          <a:p>
            <a:r>
              <a:rPr lang="en-US" sz="2800" dirty="0"/>
              <a:t>Nucleic acids - 7 % (DNA 1% and RNA 6%)</a:t>
            </a:r>
          </a:p>
          <a:p>
            <a:r>
              <a:rPr lang="en-US" sz="2800" dirty="0"/>
              <a:t>Carbohydrates - 3%</a:t>
            </a:r>
          </a:p>
          <a:p>
            <a:r>
              <a:rPr lang="en-US" sz="2800" dirty="0"/>
              <a:t>Lipids - 2%</a:t>
            </a:r>
          </a:p>
          <a:p>
            <a:endParaRPr lang="en-US" sz="2800" dirty="0"/>
          </a:p>
        </p:txBody>
      </p:sp>
      <p:sp>
        <p:nvSpPr>
          <p:cNvPr id="8" name="TextBox 7">
            <a:extLst>
              <a:ext uri="{FF2B5EF4-FFF2-40B4-BE49-F238E27FC236}">
                <a16:creationId xmlns:a16="http://schemas.microsoft.com/office/drawing/2014/main" id="{06FF348D-0CC6-4908-9780-B326D123D6D7}"/>
              </a:ext>
            </a:extLst>
          </p:cNvPr>
          <p:cNvSpPr txBox="1"/>
          <p:nvPr/>
        </p:nvSpPr>
        <p:spPr>
          <a:xfrm>
            <a:off x="703555" y="4769056"/>
            <a:ext cx="3468950" cy="646331"/>
          </a:xfrm>
          <a:prstGeom prst="rect">
            <a:avLst/>
          </a:prstGeom>
          <a:noFill/>
        </p:spPr>
        <p:txBody>
          <a:bodyPr wrap="square">
            <a:spAutoFit/>
          </a:bodyPr>
          <a:lstStyle/>
          <a:p>
            <a:r>
              <a:rPr lang="en-US" i="1" dirty="0"/>
              <a:t>Escherichia coli </a:t>
            </a:r>
            <a:r>
              <a:rPr lang="en-US" dirty="0"/>
              <a:t>(SEM 7000X)</a:t>
            </a:r>
          </a:p>
          <a:p>
            <a:endParaRPr lang="en-US" dirty="0"/>
          </a:p>
        </p:txBody>
      </p:sp>
    </p:spTree>
    <p:extLst>
      <p:ext uri="{BB962C8B-B14F-4D97-AF65-F5344CB8AC3E}">
        <p14:creationId xmlns:p14="http://schemas.microsoft.com/office/powerpoint/2010/main" val="1587962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714" y="-101689"/>
            <a:ext cx="8458200" cy="678611"/>
          </a:xfrm>
        </p:spPr>
        <p:txBody>
          <a:bodyPr/>
          <a:lstStyle/>
          <a:p>
            <a:r>
              <a:rPr lang="en-US" altLang="en-US" dirty="0"/>
              <a:t>Essential Biological Nutrients</a:t>
            </a:r>
            <a:r>
              <a:rPr lang="en-US" altLang="en-US" sz="1200" dirty="0"/>
              <a:t> </a:t>
            </a:r>
            <a:endParaRPr lang="en-US" dirty="0"/>
          </a:p>
        </p:txBody>
      </p:sp>
      <p:sp>
        <p:nvSpPr>
          <p:cNvPr id="6" name="Content Placeholder 2"/>
          <p:cNvSpPr>
            <a:spLocks noGrp="1"/>
          </p:cNvSpPr>
          <p:nvPr>
            <p:ph sz="quarter" idx="11"/>
          </p:nvPr>
        </p:nvSpPr>
        <p:spPr>
          <a:xfrm>
            <a:off x="263000" y="513230"/>
            <a:ext cx="8458200" cy="1697399"/>
          </a:xfrm>
        </p:spPr>
        <p:txBody>
          <a:bodyPr/>
          <a:lstStyle/>
          <a:p>
            <a:pPr>
              <a:spcBef>
                <a:spcPts val="400"/>
              </a:spcBef>
              <a:spcAft>
                <a:spcPts val="400"/>
              </a:spcAft>
            </a:pPr>
            <a:r>
              <a:rPr lang="en-US" b="1" dirty="0"/>
              <a:t>TABLE 7.1 </a:t>
            </a:r>
            <a:r>
              <a:rPr lang="en-US" dirty="0"/>
              <a:t>Sources and Biological Functions of Essential Elements and Nutrients</a:t>
            </a:r>
            <a:endParaRPr lang="en-US" b="1" dirty="0"/>
          </a:p>
          <a:p>
            <a:pPr marL="512064" indent="-512064">
              <a:spcBef>
                <a:spcPts val="400"/>
              </a:spcBef>
              <a:spcAft>
                <a:spcPts val="400"/>
              </a:spcAft>
              <a:buFont typeface="+mj-lt"/>
              <a:buAutoNum type="arabicParenR"/>
            </a:pPr>
            <a:r>
              <a:rPr lang="en-US" b="1" dirty="0">
                <a:solidFill>
                  <a:srgbClr val="0057AD"/>
                </a:solidFill>
              </a:rPr>
              <a:t>Carbon</a:t>
            </a:r>
          </a:p>
          <a:p>
            <a:pPr marL="342900" indent="-342900">
              <a:spcBef>
                <a:spcPts val="400"/>
              </a:spcBef>
              <a:spcAft>
                <a:spcPts val="400"/>
              </a:spcAft>
              <a:buFont typeface="Arial" panose="020B0604020202020204" pitchFamily="34" charset="0"/>
              <a:buChar char="•"/>
            </a:pPr>
            <a:r>
              <a:rPr lang="en-US" sz="2000" b="1" dirty="0"/>
              <a:t>Elements/Nutrients Forms Found in Nature:</a:t>
            </a:r>
            <a:endParaRPr lang="en-US" sz="2000" dirty="0"/>
          </a:p>
        </p:txBody>
      </p:sp>
      <p:graphicFrame>
        <p:nvGraphicFramePr>
          <p:cNvPr id="11" name="Object 3"/>
          <p:cNvGraphicFramePr>
            <a:graphicFrameLocks noChangeAspect="1"/>
          </p:cNvGraphicFramePr>
          <p:nvPr>
            <p:extLst>
              <p:ext uri="{D42A27DB-BD31-4B8C-83A1-F6EECF244321}">
                <p14:modId xmlns:p14="http://schemas.microsoft.com/office/powerpoint/2010/main" val="1917006824"/>
              </p:ext>
            </p:extLst>
          </p:nvPr>
        </p:nvGraphicFramePr>
        <p:xfrm>
          <a:off x="696326" y="2293216"/>
          <a:ext cx="3053773" cy="1135784"/>
        </p:xfrm>
        <a:graphic>
          <a:graphicData uri="http://schemas.openxmlformats.org/presentationml/2006/ole">
            <mc:AlternateContent xmlns:mc="http://schemas.openxmlformats.org/markup-compatibility/2006">
              <mc:Choice xmlns:v="urn:schemas-microsoft-com:vml" Requires="v">
                <p:oleObj name="Equation" r:id="rId2" imgW="3695400" imgH="1371600" progId="Equation.DSMT4">
                  <p:embed/>
                </p:oleObj>
              </mc:Choice>
              <mc:Fallback>
                <p:oleObj name="Equation" r:id="rId2" imgW="3695400" imgH="1371600" progId="Equation.DSMT4">
                  <p:embed/>
                  <p:pic>
                    <p:nvPicPr>
                      <p:cNvPr id="11" name="Object 3"/>
                      <p:cNvPicPr/>
                      <p:nvPr/>
                    </p:nvPicPr>
                    <p:blipFill>
                      <a:blip r:embed="rId3"/>
                      <a:stretch>
                        <a:fillRect/>
                      </a:stretch>
                    </p:blipFill>
                    <p:spPr>
                      <a:xfrm>
                        <a:off x="696326" y="2293216"/>
                        <a:ext cx="3053773" cy="1135784"/>
                      </a:xfrm>
                      <a:prstGeom prst="rect">
                        <a:avLst/>
                      </a:prstGeom>
                    </p:spPr>
                  </p:pic>
                </p:oleObj>
              </mc:Fallback>
            </mc:AlternateContent>
          </a:graphicData>
        </a:graphic>
      </p:graphicFrame>
      <p:sp>
        <p:nvSpPr>
          <p:cNvPr id="7" name="Content Placeholder 4"/>
          <p:cNvSpPr>
            <a:spLocks noGrp="1"/>
          </p:cNvSpPr>
          <p:nvPr>
            <p:ph sz="quarter" idx="14"/>
          </p:nvPr>
        </p:nvSpPr>
        <p:spPr>
          <a:xfrm>
            <a:off x="342900" y="3511587"/>
            <a:ext cx="8458200" cy="1838032"/>
          </a:xfrm>
        </p:spPr>
        <p:txBody>
          <a:bodyPr/>
          <a:lstStyle/>
          <a:p>
            <a:pPr marL="342900" indent="-342900">
              <a:spcBef>
                <a:spcPts val="400"/>
              </a:spcBef>
              <a:spcAft>
                <a:spcPts val="400"/>
              </a:spcAft>
              <a:buFont typeface="Arial" panose="020B0604020202020204" pitchFamily="34" charset="0"/>
              <a:buChar char="•"/>
            </a:pPr>
            <a:r>
              <a:rPr lang="en-US" sz="2000" b="1" dirty="0"/>
              <a:t>Sources/Reservoirs of Compounds</a:t>
            </a:r>
            <a:r>
              <a:rPr lang="en-US" sz="2000" dirty="0"/>
              <a:t>:</a:t>
            </a:r>
          </a:p>
          <a:p>
            <a:pPr marL="640080" lvl="1">
              <a:spcBef>
                <a:spcPts val="400"/>
              </a:spcBef>
              <a:spcAft>
                <a:spcPts val="400"/>
              </a:spcAft>
            </a:pPr>
            <a:r>
              <a:rPr lang="en-US" sz="2000" dirty="0"/>
              <a:t>Air (0.036%*)</a:t>
            </a:r>
          </a:p>
          <a:p>
            <a:pPr marL="640080" lvl="1">
              <a:spcBef>
                <a:spcPts val="400"/>
              </a:spcBef>
              <a:spcAft>
                <a:spcPts val="400"/>
              </a:spcAft>
            </a:pPr>
            <a:r>
              <a:rPr lang="en-US" sz="2000" dirty="0"/>
              <a:t>Sediments/Soils</a:t>
            </a:r>
          </a:p>
          <a:p>
            <a:pPr marL="640080" lvl="1">
              <a:spcBef>
                <a:spcPts val="400"/>
              </a:spcBef>
              <a:spcAft>
                <a:spcPts val="400"/>
              </a:spcAft>
            </a:pPr>
            <a:r>
              <a:rPr lang="en-US" sz="2000" dirty="0"/>
              <a:t>Living Things</a:t>
            </a:r>
          </a:p>
        </p:txBody>
      </p:sp>
      <p:sp>
        <p:nvSpPr>
          <p:cNvPr id="8" name="TextBox 7">
            <a:extLst>
              <a:ext uri="{FF2B5EF4-FFF2-40B4-BE49-F238E27FC236}">
                <a16:creationId xmlns:a16="http://schemas.microsoft.com/office/drawing/2014/main" id="{05D67262-E6B1-4387-B466-95B14CA8BBB0}"/>
              </a:ext>
            </a:extLst>
          </p:cNvPr>
          <p:cNvSpPr txBox="1"/>
          <p:nvPr/>
        </p:nvSpPr>
        <p:spPr>
          <a:xfrm>
            <a:off x="180327" y="5191597"/>
            <a:ext cx="8783346" cy="1323439"/>
          </a:xfrm>
          <a:prstGeom prst="rect">
            <a:avLst/>
          </a:prstGeom>
          <a:noFill/>
        </p:spPr>
        <p:txBody>
          <a:bodyPr wrap="square">
            <a:spAutoFit/>
          </a:bodyPr>
          <a:lstStyle/>
          <a:p>
            <a:pPr marL="342900" indent="-342900">
              <a:spcBef>
                <a:spcPts val="400"/>
              </a:spcBef>
              <a:spcAft>
                <a:spcPts val="400"/>
              </a:spcAft>
              <a:buFont typeface="Arial" panose="020B0604020202020204" pitchFamily="34" charset="0"/>
              <a:buChar char="•"/>
            </a:pPr>
            <a:r>
              <a:rPr lang="en-US" sz="2000" b="1" dirty="0"/>
              <a:t>Significance to cells: </a:t>
            </a:r>
            <a:r>
              <a:rPr lang="en-US" sz="2000" dirty="0"/>
              <a:t>CO</a:t>
            </a:r>
            <a:r>
              <a:rPr lang="en-US" sz="2000" baseline="-25000" dirty="0"/>
              <a:t>2</a:t>
            </a:r>
            <a:r>
              <a:rPr lang="en-US" sz="2000" dirty="0"/>
              <a:t> is produced by respiration and used in photosynthesis; CO</a:t>
            </a:r>
            <a:r>
              <a:rPr lang="en-US" sz="2000" baseline="-25000" dirty="0"/>
              <a:t>3</a:t>
            </a:r>
            <a:r>
              <a:rPr lang="en-US" sz="2000" baseline="30000" dirty="0"/>
              <a:t>2− </a:t>
            </a:r>
            <a:r>
              <a:rPr lang="en-US" sz="2000" dirty="0"/>
              <a:t>is found in cell walls and skeletons; organic compounds are essential to the structure and function of all organisms and viruses. </a:t>
            </a:r>
          </a:p>
        </p:txBody>
      </p:sp>
    </p:spTree>
    <p:extLst>
      <p:ext uri="{BB962C8B-B14F-4D97-AF65-F5344CB8AC3E}">
        <p14:creationId xmlns:p14="http://schemas.microsoft.com/office/powerpoint/2010/main" val="2666096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491" y="39644"/>
            <a:ext cx="8458200" cy="678611"/>
          </a:xfrm>
        </p:spPr>
        <p:txBody>
          <a:bodyPr/>
          <a:lstStyle/>
          <a:p>
            <a:r>
              <a:rPr lang="en-US" altLang="en-US" dirty="0"/>
              <a:t>Essential Biological Nutrients</a:t>
            </a:r>
            <a:r>
              <a:rPr lang="en-US" altLang="en-US" sz="1200" dirty="0"/>
              <a:t> </a:t>
            </a:r>
            <a:endParaRPr lang="en-US" dirty="0"/>
          </a:p>
        </p:txBody>
      </p:sp>
      <p:sp>
        <p:nvSpPr>
          <p:cNvPr id="3" name="Content Placeholder 2"/>
          <p:cNvSpPr>
            <a:spLocks noGrp="1"/>
          </p:cNvSpPr>
          <p:nvPr>
            <p:ph sz="quarter" idx="11"/>
          </p:nvPr>
        </p:nvSpPr>
        <p:spPr>
          <a:xfrm>
            <a:off x="227491" y="651548"/>
            <a:ext cx="8458200" cy="853932"/>
          </a:xfrm>
        </p:spPr>
        <p:txBody>
          <a:bodyPr/>
          <a:lstStyle/>
          <a:p>
            <a:pPr marL="512064" indent="-512064">
              <a:spcBef>
                <a:spcPts val="400"/>
              </a:spcBef>
              <a:spcAft>
                <a:spcPts val="400"/>
              </a:spcAft>
              <a:buFont typeface="+mj-lt"/>
              <a:buAutoNum type="arabicParenR" startAt="2"/>
            </a:pPr>
            <a:r>
              <a:rPr lang="en-US" b="1" dirty="0">
                <a:solidFill>
                  <a:srgbClr val="0057AD"/>
                </a:solidFill>
              </a:rPr>
              <a:t>Nitrogen</a:t>
            </a:r>
          </a:p>
          <a:p>
            <a:pPr marL="342900" indent="-342900">
              <a:spcBef>
                <a:spcPts val="400"/>
              </a:spcBef>
              <a:spcAft>
                <a:spcPts val="400"/>
              </a:spcAft>
              <a:buFont typeface="Arial" panose="020B0604020202020204" pitchFamily="34" charset="0"/>
              <a:buChar char="•"/>
            </a:pPr>
            <a:r>
              <a:rPr lang="en-US" sz="2000" b="1" dirty="0"/>
              <a:t>Elements/Nutrients Forms Found in Nature:</a:t>
            </a:r>
            <a:endParaRPr lang="en-US" sz="2000" dirty="0"/>
          </a:p>
        </p:txBody>
      </p:sp>
      <p:graphicFrame>
        <p:nvGraphicFramePr>
          <p:cNvPr id="6" name="Object 3"/>
          <p:cNvGraphicFramePr>
            <a:graphicFrameLocks noChangeAspect="1"/>
          </p:cNvGraphicFramePr>
          <p:nvPr>
            <p:extLst>
              <p:ext uri="{D42A27DB-BD31-4B8C-83A1-F6EECF244321}">
                <p14:modId xmlns:p14="http://schemas.microsoft.com/office/powerpoint/2010/main" val="2553972405"/>
              </p:ext>
            </p:extLst>
          </p:nvPr>
        </p:nvGraphicFramePr>
        <p:xfrm>
          <a:off x="571454" y="1591720"/>
          <a:ext cx="4927600" cy="1982787"/>
        </p:xfrm>
        <a:graphic>
          <a:graphicData uri="http://schemas.openxmlformats.org/presentationml/2006/ole">
            <mc:AlternateContent xmlns:mc="http://schemas.openxmlformats.org/markup-compatibility/2006">
              <mc:Choice xmlns:v="urn:schemas-microsoft-com:vml" Requires="v">
                <p:oleObj name="Equation" r:id="rId2" imgW="5420889" imgH="2180762" progId="Equation.DSMT4">
                  <p:embed/>
                </p:oleObj>
              </mc:Choice>
              <mc:Fallback>
                <p:oleObj name="Equation" r:id="rId2" imgW="5420889" imgH="2180762" progId="Equation.DSMT4">
                  <p:embed/>
                  <p:pic>
                    <p:nvPicPr>
                      <p:cNvPr id="6" name="Object 3"/>
                      <p:cNvPicPr/>
                      <p:nvPr/>
                    </p:nvPicPr>
                    <p:blipFill>
                      <a:blip r:embed="rId3"/>
                      <a:stretch>
                        <a:fillRect/>
                      </a:stretch>
                    </p:blipFill>
                    <p:spPr>
                      <a:xfrm>
                        <a:off x="571454" y="1591720"/>
                        <a:ext cx="4927600" cy="1982787"/>
                      </a:xfrm>
                      <a:prstGeom prst="rect">
                        <a:avLst/>
                      </a:prstGeom>
                    </p:spPr>
                  </p:pic>
                </p:oleObj>
              </mc:Fallback>
            </mc:AlternateContent>
          </a:graphicData>
        </a:graphic>
      </p:graphicFrame>
      <p:sp>
        <p:nvSpPr>
          <p:cNvPr id="5" name="Content Placeholder 2">
            <a:extLst>
              <a:ext uri="{FF2B5EF4-FFF2-40B4-BE49-F238E27FC236}">
                <a16:creationId xmlns:a16="http://schemas.microsoft.com/office/drawing/2014/main" id="{1E11F3C7-7706-4107-8153-6A9D05A63366}"/>
              </a:ext>
            </a:extLst>
          </p:cNvPr>
          <p:cNvSpPr txBox="1">
            <a:spLocks/>
          </p:cNvSpPr>
          <p:nvPr/>
        </p:nvSpPr>
        <p:spPr>
          <a:xfrm>
            <a:off x="6053662" y="747890"/>
            <a:ext cx="2756317" cy="2780386"/>
          </a:xfrm>
          <a:prstGeom prst="rect">
            <a:avLst/>
          </a:prstGeom>
        </p:spPr>
        <p:txBody>
          <a:bodyPr vert="horz" lIns="91440" tIns="45720" rIns="91440" bIns="45720" rtlCol="0">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4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4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2"/>
                </a:solidFill>
                <a:latin typeface="+mn-lt"/>
                <a:ea typeface="+mn-ea"/>
                <a:cs typeface="+mn-cs"/>
              </a:defRPr>
            </a:lvl3pPr>
            <a:lvl4pPr marL="987552"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Bef>
                <a:spcPts val="600"/>
              </a:spcBef>
              <a:buFont typeface="Arial" panose="020B0604020202020204" pitchFamily="34" charset="0"/>
              <a:buChar char="•"/>
            </a:pPr>
            <a:r>
              <a:rPr lang="en-US" sz="1800" b="1" dirty="0"/>
              <a:t>Sources/Reservoirs of Compounds</a:t>
            </a:r>
            <a:r>
              <a:rPr lang="en-US" sz="1800" dirty="0"/>
              <a:t>:</a:t>
            </a:r>
          </a:p>
          <a:p>
            <a:pPr marL="640080" lvl="1">
              <a:spcBef>
                <a:spcPts val="600"/>
              </a:spcBef>
            </a:pPr>
            <a:r>
              <a:rPr lang="en-US" sz="2000" dirty="0"/>
              <a:t>Air (79%*)</a:t>
            </a:r>
          </a:p>
          <a:p>
            <a:pPr marL="640080" lvl="1">
              <a:spcBef>
                <a:spcPts val="600"/>
              </a:spcBef>
            </a:pPr>
            <a:r>
              <a:rPr lang="en-US" sz="2000" dirty="0"/>
              <a:t>Soil and water</a:t>
            </a:r>
          </a:p>
          <a:p>
            <a:pPr marL="640080" lvl="1">
              <a:spcBef>
                <a:spcPts val="600"/>
              </a:spcBef>
            </a:pPr>
            <a:r>
              <a:rPr lang="en-US" sz="2000" dirty="0"/>
              <a:t>Organisms</a:t>
            </a:r>
          </a:p>
        </p:txBody>
      </p:sp>
      <p:sp>
        <p:nvSpPr>
          <p:cNvPr id="7" name="Content Placeholder 2">
            <a:extLst>
              <a:ext uri="{FF2B5EF4-FFF2-40B4-BE49-F238E27FC236}">
                <a16:creationId xmlns:a16="http://schemas.microsoft.com/office/drawing/2014/main" id="{E2F1640E-DB43-4F62-9C6F-8ADB29FACFD2}"/>
              </a:ext>
            </a:extLst>
          </p:cNvPr>
          <p:cNvSpPr txBox="1">
            <a:spLocks/>
          </p:cNvSpPr>
          <p:nvPr/>
        </p:nvSpPr>
        <p:spPr>
          <a:xfrm>
            <a:off x="227491" y="3220920"/>
            <a:ext cx="8458200" cy="2727120"/>
          </a:xfrm>
          <a:prstGeom prst="rect">
            <a:avLst/>
          </a:prstGeom>
        </p:spPr>
        <p:txBody>
          <a:bodyPr vert="horz" lIns="91440" tIns="45720" rIns="91440" bIns="45720" rtlCol="0">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4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4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2"/>
                </a:solidFill>
                <a:latin typeface="+mn-lt"/>
                <a:ea typeface="+mn-ea"/>
                <a:cs typeface="+mn-cs"/>
              </a:defRPr>
            </a:lvl3pPr>
            <a:lvl4pPr marL="987552"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endParaRPr lang="en-US" dirty="0"/>
          </a:p>
          <a:p>
            <a:pPr marL="347472" indent="-347472">
              <a:spcBef>
                <a:spcPts val="600"/>
              </a:spcBef>
              <a:buFont typeface="Arial" panose="020B0604020202020204" pitchFamily="34" charset="0"/>
              <a:buChar char="•"/>
            </a:pPr>
            <a:r>
              <a:rPr lang="en-US" sz="2000" b="1" dirty="0"/>
              <a:t>Nitrogen - Significance to cells: </a:t>
            </a:r>
            <a:r>
              <a:rPr lang="en-US" sz="2000" dirty="0"/>
              <a:t>Nitrogen gas is available only to certain microbes that fix it into other inorganic nitrogen compounds—nitrates, nitrites, and ammonium—the primary sources of nitrogen for algae, plants, and the majority of bacteria; animals and protozoa require organic nitrogen; </a:t>
            </a:r>
          </a:p>
          <a:p>
            <a:pPr marL="347472" indent="-347472">
              <a:spcBef>
                <a:spcPts val="600"/>
              </a:spcBef>
              <a:buFont typeface="Arial" panose="020B0604020202020204" pitchFamily="34" charset="0"/>
              <a:buChar char="•"/>
            </a:pPr>
            <a:endParaRPr lang="en-US" sz="2000" dirty="0"/>
          </a:p>
          <a:p>
            <a:pPr marL="347472" indent="-347472">
              <a:spcBef>
                <a:spcPts val="600"/>
              </a:spcBef>
              <a:buFont typeface="Arial" panose="020B0604020202020204" pitchFamily="34" charset="0"/>
              <a:buChar char="•"/>
            </a:pPr>
            <a:r>
              <a:rPr lang="en-US" sz="2000" dirty="0"/>
              <a:t>all organisms use NH</a:t>
            </a:r>
            <a:r>
              <a:rPr lang="en-US" sz="2000" baseline="-25000" dirty="0"/>
              <a:t>3</a:t>
            </a:r>
            <a:r>
              <a:rPr lang="en-US" sz="2000" dirty="0"/>
              <a:t> to synthesize amino acids and nucleic acids.</a:t>
            </a:r>
          </a:p>
        </p:txBody>
      </p:sp>
      <p:sp>
        <p:nvSpPr>
          <p:cNvPr id="4" name="TextBox 3"/>
          <p:cNvSpPr txBox="1"/>
          <p:nvPr/>
        </p:nvSpPr>
        <p:spPr>
          <a:xfrm>
            <a:off x="2055223" y="2403710"/>
            <a:ext cx="879565" cy="400110"/>
          </a:xfrm>
          <a:prstGeom prst="rect">
            <a:avLst/>
          </a:prstGeom>
          <a:noFill/>
        </p:spPr>
        <p:txBody>
          <a:bodyPr wrap="square" rtlCol="0">
            <a:spAutoFit/>
          </a:bodyPr>
          <a:lstStyle/>
          <a:p>
            <a:r>
              <a:rPr lang="en-US" sz="2000" dirty="0"/>
              <a:t>nitrite</a:t>
            </a:r>
          </a:p>
        </p:txBody>
      </p:sp>
      <p:sp>
        <p:nvSpPr>
          <p:cNvPr id="8" name="Rectangle 7"/>
          <p:cNvSpPr/>
          <p:nvPr/>
        </p:nvSpPr>
        <p:spPr>
          <a:xfrm>
            <a:off x="1236617" y="2508069"/>
            <a:ext cx="818606" cy="217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3566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879" y="130007"/>
            <a:ext cx="8458200" cy="387658"/>
          </a:xfrm>
        </p:spPr>
        <p:txBody>
          <a:bodyPr/>
          <a:lstStyle/>
          <a:p>
            <a:r>
              <a:rPr lang="en-US" altLang="en-US" dirty="0"/>
              <a:t>Essential Biological Nutrients</a:t>
            </a:r>
            <a:r>
              <a:rPr lang="en-US" altLang="en-US" sz="1200" dirty="0"/>
              <a:t> </a:t>
            </a:r>
            <a:endParaRPr lang="en-US" dirty="0"/>
          </a:p>
        </p:txBody>
      </p:sp>
      <p:sp>
        <p:nvSpPr>
          <p:cNvPr id="6" name="Content Placeholder 2"/>
          <p:cNvSpPr>
            <a:spLocks noGrp="1"/>
          </p:cNvSpPr>
          <p:nvPr>
            <p:ph sz="quarter" idx="11"/>
          </p:nvPr>
        </p:nvSpPr>
        <p:spPr>
          <a:xfrm>
            <a:off x="342900" y="758379"/>
            <a:ext cx="8458200" cy="614234"/>
          </a:xfrm>
        </p:spPr>
        <p:txBody>
          <a:bodyPr/>
          <a:lstStyle/>
          <a:p>
            <a:pPr marL="512064" indent="-512064">
              <a:spcBef>
                <a:spcPts val="600"/>
              </a:spcBef>
              <a:buFont typeface="+mj-lt"/>
              <a:buAutoNum type="arabicParenR" startAt="3"/>
            </a:pPr>
            <a:r>
              <a:rPr lang="en-US" b="1" dirty="0">
                <a:solidFill>
                  <a:srgbClr val="0057AD"/>
                </a:solidFill>
              </a:rPr>
              <a:t>Oxygen</a:t>
            </a:r>
          </a:p>
          <a:p>
            <a:pPr marL="342900" indent="-342900">
              <a:spcBef>
                <a:spcPts val="600"/>
              </a:spcBef>
              <a:buFont typeface="Arial" panose="020B0604020202020204" pitchFamily="34" charset="0"/>
              <a:buChar char="•"/>
            </a:pPr>
            <a:r>
              <a:rPr lang="en-US" sz="2000" b="1" dirty="0"/>
              <a:t>Elements/Nutrients Forms Found in Nature:</a:t>
            </a:r>
            <a:endParaRPr lang="en-US" sz="2000" dirty="0"/>
          </a:p>
        </p:txBody>
      </p:sp>
      <p:graphicFrame>
        <p:nvGraphicFramePr>
          <p:cNvPr id="10" name="Object 3"/>
          <p:cNvGraphicFramePr>
            <a:graphicFrameLocks noChangeAspect="1"/>
          </p:cNvGraphicFramePr>
          <p:nvPr>
            <p:extLst>
              <p:ext uri="{D42A27DB-BD31-4B8C-83A1-F6EECF244321}">
                <p14:modId xmlns:p14="http://schemas.microsoft.com/office/powerpoint/2010/main" val="3297360634"/>
              </p:ext>
            </p:extLst>
          </p:nvPr>
        </p:nvGraphicFramePr>
        <p:xfrm>
          <a:off x="772112" y="1907742"/>
          <a:ext cx="988579" cy="1213715"/>
        </p:xfrm>
        <a:graphic>
          <a:graphicData uri="http://schemas.openxmlformats.org/presentationml/2006/ole">
            <mc:AlternateContent xmlns:mc="http://schemas.openxmlformats.org/markup-compatibility/2006">
              <mc:Choice xmlns:v="urn:schemas-microsoft-com:vml" Requires="v">
                <p:oleObj name="Equation" r:id="rId2" imgW="1088136" imgH="1334991" progId="Equation.DSMT4">
                  <p:embed/>
                </p:oleObj>
              </mc:Choice>
              <mc:Fallback>
                <p:oleObj name="Equation" r:id="rId2" imgW="1088136" imgH="1334991" progId="Equation.DSMT4">
                  <p:embed/>
                  <p:pic>
                    <p:nvPicPr>
                      <p:cNvPr id="10" name="Object 3"/>
                      <p:cNvPicPr/>
                      <p:nvPr/>
                    </p:nvPicPr>
                    <p:blipFill>
                      <a:blip r:embed="rId3"/>
                      <a:stretch>
                        <a:fillRect/>
                      </a:stretch>
                    </p:blipFill>
                    <p:spPr>
                      <a:xfrm>
                        <a:off x="772112" y="1907742"/>
                        <a:ext cx="988579" cy="1213715"/>
                      </a:xfrm>
                      <a:prstGeom prst="rect">
                        <a:avLst/>
                      </a:prstGeom>
                    </p:spPr>
                  </p:pic>
                </p:oleObj>
              </mc:Fallback>
            </mc:AlternateContent>
          </a:graphicData>
        </a:graphic>
      </p:graphicFrame>
      <p:sp>
        <p:nvSpPr>
          <p:cNvPr id="7" name="Content Placeholder 4"/>
          <p:cNvSpPr>
            <a:spLocks noGrp="1"/>
          </p:cNvSpPr>
          <p:nvPr>
            <p:ph sz="quarter" idx="14"/>
          </p:nvPr>
        </p:nvSpPr>
        <p:spPr>
          <a:xfrm>
            <a:off x="502698" y="3215936"/>
            <a:ext cx="8458200" cy="1905000"/>
          </a:xfrm>
        </p:spPr>
        <p:txBody>
          <a:bodyPr/>
          <a:lstStyle/>
          <a:p>
            <a:pPr marL="342900" indent="-342900">
              <a:spcBef>
                <a:spcPts val="600"/>
              </a:spcBef>
              <a:buFont typeface="Arial" panose="020B0604020202020204" pitchFamily="34" charset="0"/>
              <a:buChar char="•"/>
            </a:pPr>
            <a:r>
              <a:rPr lang="en-US" sz="2000" b="1" dirty="0"/>
              <a:t>Sources/Reservoirs of Compounds</a:t>
            </a:r>
            <a:r>
              <a:rPr lang="en-US" sz="2000" dirty="0"/>
              <a:t>:</a:t>
            </a:r>
          </a:p>
          <a:p>
            <a:pPr marL="640080" lvl="1" indent="-347472">
              <a:spcBef>
                <a:spcPts val="600"/>
              </a:spcBef>
            </a:pPr>
            <a:r>
              <a:rPr lang="en-US" sz="2000" dirty="0"/>
              <a:t>Air (20%*), a major product of photosynthesis</a:t>
            </a:r>
          </a:p>
          <a:p>
            <a:pPr marL="640080" lvl="1" indent="-347472">
              <a:spcBef>
                <a:spcPts val="600"/>
              </a:spcBef>
            </a:pPr>
            <a:r>
              <a:rPr lang="en-US" sz="2000" dirty="0"/>
              <a:t>Soil</a:t>
            </a:r>
          </a:p>
        </p:txBody>
      </p:sp>
      <p:sp>
        <p:nvSpPr>
          <p:cNvPr id="8" name="Content Placeholder 2">
            <a:extLst>
              <a:ext uri="{FF2B5EF4-FFF2-40B4-BE49-F238E27FC236}">
                <a16:creationId xmlns:a16="http://schemas.microsoft.com/office/drawing/2014/main" id="{4A4CFDEB-B51B-4D08-A38F-69F3CCC4F003}"/>
              </a:ext>
            </a:extLst>
          </p:cNvPr>
          <p:cNvSpPr txBox="1">
            <a:spLocks/>
          </p:cNvSpPr>
          <p:nvPr/>
        </p:nvSpPr>
        <p:spPr>
          <a:xfrm>
            <a:off x="271879" y="4801144"/>
            <a:ext cx="8458200" cy="1475369"/>
          </a:xfrm>
          <a:prstGeom prst="rect">
            <a:avLst/>
          </a:prstGeom>
        </p:spPr>
        <p:txBody>
          <a:bodyPr vert="horz" lIns="91440" tIns="45720" rIns="91440" bIns="45720" rtlCol="0">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4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4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7472" indent="-347472">
              <a:spcBef>
                <a:spcPts val="600"/>
              </a:spcBef>
              <a:buFont typeface="Arial" panose="020B0604020202020204" pitchFamily="34" charset="0"/>
              <a:buChar char="•"/>
            </a:pPr>
            <a:r>
              <a:rPr lang="en-US" sz="2000" b="1" dirty="0"/>
              <a:t>Significance to cells: </a:t>
            </a:r>
            <a:r>
              <a:rPr lang="en-US" sz="2000" dirty="0"/>
              <a:t>Oxygen gas is necessary for the metabolism of nutrients by aerobes. Oxygen is a significant element in organic compounds and inorganic compounds.</a:t>
            </a:r>
          </a:p>
        </p:txBody>
      </p:sp>
    </p:spTree>
    <p:extLst>
      <p:ext uri="{BB962C8B-B14F-4D97-AF65-F5344CB8AC3E}">
        <p14:creationId xmlns:p14="http://schemas.microsoft.com/office/powerpoint/2010/main" val="1398768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58" y="0"/>
            <a:ext cx="8458200" cy="678611"/>
          </a:xfrm>
        </p:spPr>
        <p:txBody>
          <a:bodyPr/>
          <a:lstStyle/>
          <a:p>
            <a:r>
              <a:rPr lang="en-US" altLang="en-US" dirty="0"/>
              <a:t>Essential Biological Nutrients</a:t>
            </a:r>
            <a:r>
              <a:rPr lang="en-US" altLang="en-US" sz="1200" dirty="0"/>
              <a:t> </a:t>
            </a:r>
            <a:endParaRPr lang="en-US" dirty="0"/>
          </a:p>
        </p:txBody>
      </p:sp>
      <p:sp>
        <p:nvSpPr>
          <p:cNvPr id="6" name="Content Placeholder 2"/>
          <p:cNvSpPr>
            <a:spLocks noGrp="1"/>
          </p:cNvSpPr>
          <p:nvPr>
            <p:ph sz="quarter" idx="11"/>
          </p:nvPr>
        </p:nvSpPr>
        <p:spPr>
          <a:xfrm>
            <a:off x="342900" y="678611"/>
            <a:ext cx="8458200" cy="525457"/>
          </a:xfrm>
        </p:spPr>
        <p:txBody>
          <a:bodyPr/>
          <a:lstStyle/>
          <a:p>
            <a:pPr marL="512064" indent="-512064">
              <a:spcBef>
                <a:spcPts val="300"/>
              </a:spcBef>
              <a:spcAft>
                <a:spcPts val="300"/>
              </a:spcAft>
              <a:buFont typeface="+mj-lt"/>
              <a:buAutoNum type="arabicParenR" startAt="4"/>
            </a:pPr>
            <a:r>
              <a:rPr lang="en-US" b="1" dirty="0">
                <a:solidFill>
                  <a:srgbClr val="0057AD"/>
                </a:solidFill>
              </a:rPr>
              <a:t>Hydrogen</a:t>
            </a:r>
          </a:p>
          <a:p>
            <a:pPr marL="347472" indent="-347472">
              <a:spcBef>
                <a:spcPts val="300"/>
              </a:spcBef>
              <a:spcAft>
                <a:spcPts val="300"/>
              </a:spcAft>
              <a:buFont typeface="Arial" panose="020B0604020202020204" pitchFamily="34" charset="0"/>
              <a:buChar char="•"/>
            </a:pPr>
            <a:r>
              <a:rPr lang="en-US" sz="2000" b="1" dirty="0"/>
              <a:t>Elements/Nutrients Forms Found in Nature:</a:t>
            </a:r>
            <a:endParaRPr lang="en-US" sz="2000" dirty="0"/>
          </a:p>
        </p:txBody>
      </p:sp>
      <p:graphicFrame>
        <p:nvGraphicFramePr>
          <p:cNvPr id="10" name="Object 3"/>
          <p:cNvGraphicFramePr>
            <a:graphicFrameLocks noChangeAspect="1"/>
          </p:cNvGraphicFramePr>
          <p:nvPr>
            <p:extLst>
              <p:ext uri="{D42A27DB-BD31-4B8C-83A1-F6EECF244321}">
                <p14:modId xmlns:p14="http://schemas.microsoft.com/office/powerpoint/2010/main" val="4192058920"/>
              </p:ext>
            </p:extLst>
          </p:nvPr>
        </p:nvGraphicFramePr>
        <p:xfrm>
          <a:off x="659268" y="1659244"/>
          <a:ext cx="2377440" cy="1637510"/>
        </p:xfrm>
        <a:graphic>
          <a:graphicData uri="http://schemas.openxmlformats.org/presentationml/2006/ole">
            <mc:AlternateContent xmlns:mc="http://schemas.openxmlformats.org/markup-compatibility/2006">
              <mc:Choice xmlns:v="urn:schemas-microsoft-com:vml" Requires="v">
                <p:oleObj name="Equation" r:id="rId2" imgW="2968625" imgH="2045208" progId="Equation.DSMT4">
                  <p:embed/>
                </p:oleObj>
              </mc:Choice>
              <mc:Fallback>
                <p:oleObj name="Equation" r:id="rId2" imgW="2968625" imgH="2045208" progId="Equation.DSMT4">
                  <p:embed/>
                  <p:pic>
                    <p:nvPicPr>
                      <p:cNvPr id="10" name="Object 3"/>
                      <p:cNvPicPr/>
                      <p:nvPr/>
                    </p:nvPicPr>
                    <p:blipFill>
                      <a:blip r:embed="rId3"/>
                      <a:stretch>
                        <a:fillRect/>
                      </a:stretch>
                    </p:blipFill>
                    <p:spPr>
                      <a:xfrm>
                        <a:off x="659268" y="1659244"/>
                        <a:ext cx="2377440" cy="1637510"/>
                      </a:xfrm>
                      <a:prstGeom prst="rect">
                        <a:avLst/>
                      </a:prstGeom>
                    </p:spPr>
                  </p:pic>
                </p:oleObj>
              </mc:Fallback>
            </mc:AlternateContent>
          </a:graphicData>
        </a:graphic>
      </p:graphicFrame>
      <p:sp>
        <p:nvSpPr>
          <p:cNvPr id="7" name="Content Placeholder 4"/>
          <p:cNvSpPr>
            <a:spLocks noGrp="1"/>
          </p:cNvSpPr>
          <p:nvPr>
            <p:ph sz="quarter" idx="14"/>
          </p:nvPr>
        </p:nvSpPr>
        <p:spPr>
          <a:xfrm>
            <a:off x="4057096" y="1684997"/>
            <a:ext cx="4903803" cy="2210199"/>
          </a:xfrm>
        </p:spPr>
        <p:txBody>
          <a:bodyPr/>
          <a:lstStyle/>
          <a:p>
            <a:pPr marL="347472" indent="-347472">
              <a:spcBef>
                <a:spcPts val="300"/>
              </a:spcBef>
              <a:spcAft>
                <a:spcPts val="300"/>
              </a:spcAft>
              <a:buFont typeface="Arial" panose="020B0604020202020204" pitchFamily="34" charset="0"/>
              <a:buChar char="•"/>
            </a:pPr>
            <a:r>
              <a:rPr lang="en-US" sz="2000" b="1" dirty="0"/>
              <a:t>Sources/Reservoirs of Compounds</a:t>
            </a:r>
            <a:r>
              <a:rPr lang="en-US" sz="2000" dirty="0"/>
              <a:t>:</a:t>
            </a:r>
          </a:p>
          <a:p>
            <a:pPr marL="640080" lvl="1" indent="-283464">
              <a:spcBef>
                <a:spcPts val="300"/>
              </a:spcBef>
              <a:spcAft>
                <a:spcPts val="300"/>
              </a:spcAft>
            </a:pPr>
            <a:r>
              <a:rPr lang="en-US" sz="2000" dirty="0"/>
              <a:t>Waters, swamps, mud</a:t>
            </a:r>
          </a:p>
          <a:p>
            <a:pPr marL="640080" lvl="1" indent="-283464">
              <a:spcBef>
                <a:spcPts val="300"/>
              </a:spcBef>
              <a:spcAft>
                <a:spcPts val="300"/>
              </a:spcAft>
            </a:pPr>
            <a:r>
              <a:rPr lang="en-US" sz="2000" dirty="0"/>
              <a:t>Volcanoes, vents</a:t>
            </a:r>
          </a:p>
          <a:p>
            <a:pPr marL="640080" lvl="1" indent="-283464">
              <a:spcBef>
                <a:spcPts val="300"/>
              </a:spcBef>
              <a:spcAft>
                <a:spcPts val="300"/>
              </a:spcAft>
            </a:pPr>
            <a:r>
              <a:rPr lang="en-US" sz="2000" dirty="0"/>
              <a:t>organisms</a:t>
            </a:r>
          </a:p>
        </p:txBody>
      </p:sp>
      <p:sp>
        <p:nvSpPr>
          <p:cNvPr id="8" name="TextBox 7">
            <a:extLst>
              <a:ext uri="{FF2B5EF4-FFF2-40B4-BE49-F238E27FC236}">
                <a16:creationId xmlns:a16="http://schemas.microsoft.com/office/drawing/2014/main" id="{3117F694-F328-46ED-A68F-ADDBD8097947}"/>
              </a:ext>
            </a:extLst>
          </p:cNvPr>
          <p:cNvSpPr txBox="1"/>
          <p:nvPr/>
        </p:nvSpPr>
        <p:spPr>
          <a:xfrm>
            <a:off x="200858" y="3895196"/>
            <a:ext cx="8530330" cy="1708160"/>
          </a:xfrm>
          <a:prstGeom prst="rect">
            <a:avLst/>
          </a:prstGeom>
          <a:noFill/>
        </p:spPr>
        <p:txBody>
          <a:bodyPr wrap="square">
            <a:spAutoFit/>
          </a:bodyPr>
          <a:lstStyle/>
          <a:p>
            <a:pPr marL="342900" indent="-342900">
              <a:spcBef>
                <a:spcPts val="600"/>
              </a:spcBef>
              <a:buFont typeface="Arial" panose="020B0604020202020204" pitchFamily="34" charset="0"/>
              <a:buChar char="•"/>
            </a:pPr>
            <a:r>
              <a:rPr lang="en-US" sz="2000" b="1" dirty="0"/>
              <a:t>Significance to cells: </a:t>
            </a:r>
            <a:r>
              <a:rPr lang="en-US" sz="2000" dirty="0"/>
              <a:t>Water is the most abundant compound in cells and a solvent for metabolic reactions; H</a:t>
            </a:r>
            <a:r>
              <a:rPr lang="en-US" sz="1600" dirty="0"/>
              <a:t>2</a:t>
            </a:r>
            <a:r>
              <a:rPr lang="en-US" sz="2000" dirty="0"/>
              <a:t>, H</a:t>
            </a:r>
            <a:r>
              <a:rPr lang="en-US" sz="1400" dirty="0"/>
              <a:t>2</a:t>
            </a:r>
            <a:r>
              <a:rPr lang="en-US" sz="2000" dirty="0"/>
              <a:t>S and CH</a:t>
            </a:r>
            <a:r>
              <a:rPr lang="en-US" sz="1600" dirty="0"/>
              <a:t>4</a:t>
            </a:r>
            <a:r>
              <a:rPr lang="en-US" sz="2000" dirty="0"/>
              <a:t> gases are produced and used by bacteria and archaea; H</a:t>
            </a:r>
            <a:r>
              <a:rPr lang="en-US" sz="2000" baseline="30000" dirty="0"/>
              <a:t>+</a:t>
            </a:r>
            <a:r>
              <a:rPr lang="en-US" sz="2000" dirty="0"/>
              <a:t> ions are the basis for transfers of cellular energy and help maintain the pH of cells. </a:t>
            </a:r>
          </a:p>
          <a:p>
            <a:pPr marL="342900" indent="-342900">
              <a:spcBef>
                <a:spcPts val="600"/>
              </a:spcBef>
              <a:buFont typeface="Arial" panose="020B0604020202020204" pitchFamily="34" charset="0"/>
              <a:buChar char="•"/>
            </a:pPr>
            <a:endParaRPr lang="en-US" sz="2000" b="1" dirty="0"/>
          </a:p>
        </p:txBody>
      </p:sp>
    </p:spTree>
    <p:extLst>
      <p:ext uri="{BB962C8B-B14F-4D97-AF65-F5344CB8AC3E}">
        <p14:creationId xmlns:p14="http://schemas.microsoft.com/office/powerpoint/2010/main" val="861561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Essential Biological Nutrients</a:t>
            </a:r>
            <a:r>
              <a:rPr lang="en-US" altLang="en-US" sz="1200" dirty="0"/>
              <a:t> </a:t>
            </a:r>
            <a:endParaRPr lang="en-US" dirty="0"/>
          </a:p>
        </p:txBody>
      </p:sp>
      <p:sp>
        <p:nvSpPr>
          <p:cNvPr id="7" name="Content Placeholder 4"/>
          <p:cNvSpPr>
            <a:spLocks noGrp="1"/>
          </p:cNvSpPr>
          <p:nvPr>
            <p:ph sz="quarter" idx="14"/>
          </p:nvPr>
        </p:nvSpPr>
        <p:spPr>
          <a:xfrm>
            <a:off x="105954" y="983411"/>
            <a:ext cx="7269744" cy="962145"/>
          </a:xfrm>
        </p:spPr>
        <p:txBody>
          <a:bodyPr/>
          <a:lstStyle/>
          <a:p>
            <a:pPr marL="347472" indent="-347472">
              <a:spcBef>
                <a:spcPts val="600"/>
              </a:spcBef>
            </a:pPr>
            <a:r>
              <a:rPr lang="en-US" b="1" dirty="0">
                <a:solidFill>
                  <a:srgbClr val="0057AD"/>
                </a:solidFill>
              </a:rPr>
              <a:t>	5) Phosphorus</a:t>
            </a:r>
          </a:p>
          <a:p>
            <a:pPr marL="349250" indent="-349250">
              <a:spcBef>
                <a:spcPts val="600"/>
              </a:spcBef>
              <a:buFont typeface="Arial" panose="020B0604020202020204" pitchFamily="34" charset="0"/>
              <a:buChar char="•"/>
            </a:pPr>
            <a:r>
              <a:rPr lang="en-US" sz="2000" b="1" dirty="0"/>
              <a:t>Elements/Nutrients Forms Found in Nature:</a:t>
            </a:r>
          </a:p>
        </p:txBody>
      </p:sp>
      <p:graphicFrame>
        <p:nvGraphicFramePr>
          <p:cNvPr id="11" name="Object 5"/>
          <p:cNvGraphicFramePr>
            <a:graphicFrameLocks noChangeAspect="1"/>
          </p:cNvGraphicFramePr>
          <p:nvPr>
            <p:extLst>
              <p:ext uri="{D42A27DB-BD31-4B8C-83A1-F6EECF244321}">
                <p14:modId xmlns:p14="http://schemas.microsoft.com/office/powerpoint/2010/main" val="307658433"/>
              </p:ext>
            </p:extLst>
          </p:nvPr>
        </p:nvGraphicFramePr>
        <p:xfrm>
          <a:off x="768489" y="2166967"/>
          <a:ext cx="2423160" cy="457200"/>
        </p:xfrm>
        <a:graphic>
          <a:graphicData uri="http://schemas.openxmlformats.org/presentationml/2006/ole">
            <mc:AlternateContent xmlns:mc="http://schemas.openxmlformats.org/markup-compatibility/2006">
              <mc:Choice xmlns:v="urn:schemas-microsoft-com:vml" Requires="v">
                <p:oleObj name="Equation" r:id="rId2" imgW="1346040" imgH="253800" progId="Equation.DSMT4">
                  <p:embed/>
                </p:oleObj>
              </mc:Choice>
              <mc:Fallback>
                <p:oleObj name="Equation" r:id="rId2" imgW="1346040" imgH="253800" progId="Equation.DSMT4">
                  <p:embed/>
                  <p:pic>
                    <p:nvPicPr>
                      <p:cNvPr id="11" name="Object 5"/>
                      <p:cNvPicPr/>
                      <p:nvPr/>
                    </p:nvPicPr>
                    <p:blipFill>
                      <a:blip r:embed="rId3"/>
                      <a:stretch>
                        <a:fillRect/>
                      </a:stretch>
                    </p:blipFill>
                    <p:spPr>
                      <a:xfrm>
                        <a:off x="768489" y="2166967"/>
                        <a:ext cx="2423160" cy="457200"/>
                      </a:xfrm>
                      <a:prstGeom prst="rect">
                        <a:avLst/>
                      </a:prstGeom>
                    </p:spPr>
                  </p:pic>
                </p:oleObj>
              </mc:Fallback>
            </mc:AlternateContent>
          </a:graphicData>
        </a:graphic>
      </p:graphicFrame>
      <p:sp>
        <p:nvSpPr>
          <p:cNvPr id="12" name="Content Placeholder 2">
            <a:extLst>
              <a:ext uri="{FF2B5EF4-FFF2-40B4-BE49-F238E27FC236}">
                <a16:creationId xmlns:a16="http://schemas.microsoft.com/office/drawing/2014/main" id="{9E2E2789-E4E7-4967-8867-E92F1C4BDB09}"/>
              </a:ext>
            </a:extLst>
          </p:cNvPr>
          <p:cNvSpPr>
            <a:spLocks noGrp="1"/>
          </p:cNvSpPr>
          <p:nvPr>
            <p:ph sz="quarter" idx="11"/>
          </p:nvPr>
        </p:nvSpPr>
        <p:spPr>
          <a:xfrm>
            <a:off x="271879" y="3052243"/>
            <a:ext cx="8458200" cy="2913551"/>
          </a:xfrm>
        </p:spPr>
        <p:txBody>
          <a:bodyPr/>
          <a:lstStyle/>
          <a:p>
            <a:pPr marL="349250" indent="-349250">
              <a:spcBef>
                <a:spcPts val="600"/>
              </a:spcBef>
              <a:buFont typeface="Arial" panose="020B0604020202020204" pitchFamily="34" charset="0"/>
              <a:buChar char="•"/>
            </a:pPr>
            <a:r>
              <a:rPr lang="en-US" sz="2000" b="1" dirty="0"/>
              <a:t>Sources/Reservoirs of Compounds:</a:t>
            </a:r>
          </a:p>
          <a:p>
            <a:pPr marL="640080" lvl="1" indent="-283464">
              <a:spcBef>
                <a:spcPts val="600"/>
              </a:spcBef>
            </a:pPr>
            <a:r>
              <a:rPr lang="en-US" sz="2000" dirty="0"/>
              <a:t>Rocks, mineral deposits</a:t>
            </a:r>
          </a:p>
          <a:p>
            <a:pPr marL="640080" lvl="1" indent="-283464">
              <a:spcBef>
                <a:spcPts val="600"/>
              </a:spcBef>
            </a:pPr>
            <a:r>
              <a:rPr lang="en-US" sz="2000" dirty="0"/>
              <a:t>Soil</a:t>
            </a:r>
          </a:p>
          <a:p>
            <a:pPr marL="347662" indent="-342900">
              <a:spcBef>
                <a:spcPts val="600"/>
              </a:spcBef>
              <a:buFont typeface="Arial" panose="020B0604020202020204" pitchFamily="34" charset="0"/>
              <a:buChar char="•"/>
            </a:pPr>
            <a:r>
              <a:rPr lang="en-US" sz="2000" b="1" dirty="0"/>
              <a:t>Significance to cells: </a:t>
            </a:r>
            <a:r>
              <a:rPr lang="en-US" sz="2000" dirty="0"/>
              <a:t>Phosphate, a key component of DNA and RNA, is critical to the genetic makeup of cells and viruses; also found in ATP and NAD, where it takes part in numerous metabolic reactions; its presence in phospholipids provides stability to cell membranes.</a:t>
            </a:r>
          </a:p>
        </p:txBody>
      </p:sp>
      <p:pic>
        <p:nvPicPr>
          <p:cNvPr id="5135" name="Picture 15" descr="DNA | Definition, Discovery, Function, Bases, Facts, &amp; Structure |  Britannic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7918" y="213318"/>
            <a:ext cx="3256082" cy="1953649"/>
          </a:xfrm>
          <a:prstGeom prst="rect">
            <a:avLst/>
          </a:prstGeom>
          <a:noFill/>
          <a:extLst>
            <a:ext uri="{909E8E84-426E-40DD-AFC4-6F175D3DCCD1}">
              <a14:hiddenFill xmlns:a14="http://schemas.microsoft.com/office/drawing/2010/main">
                <a:solidFill>
                  <a:srgbClr val="FFFFFF"/>
                </a:solidFill>
              </a14:hiddenFill>
            </a:ext>
          </a:extLst>
        </p:spPr>
      </p:pic>
      <p:pic>
        <p:nvPicPr>
          <p:cNvPr id="5137" name="Picture 17" descr="Adenosine Triphosphate (ATP) - Definition, Structure and Func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959" y="2830832"/>
            <a:ext cx="2746919" cy="13534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flipH="1">
            <a:off x="6611982" y="3814982"/>
            <a:ext cx="1190898" cy="369332"/>
          </a:xfrm>
          <a:prstGeom prst="rect">
            <a:avLst/>
          </a:prstGeom>
          <a:noFill/>
        </p:spPr>
        <p:txBody>
          <a:bodyPr wrap="square" rtlCol="0">
            <a:spAutoFit/>
          </a:bodyPr>
          <a:lstStyle/>
          <a:p>
            <a:r>
              <a:rPr lang="en-US" dirty="0"/>
              <a:t>ATP</a:t>
            </a:r>
          </a:p>
        </p:txBody>
      </p:sp>
      <p:sp>
        <p:nvSpPr>
          <p:cNvPr id="5" name="TextBox 4"/>
          <p:cNvSpPr txBox="1"/>
          <p:nvPr/>
        </p:nvSpPr>
        <p:spPr>
          <a:xfrm>
            <a:off x="6999195" y="2042021"/>
            <a:ext cx="1062445" cy="369332"/>
          </a:xfrm>
          <a:prstGeom prst="rect">
            <a:avLst/>
          </a:prstGeom>
          <a:noFill/>
        </p:spPr>
        <p:txBody>
          <a:bodyPr wrap="square" rtlCol="0">
            <a:spAutoFit/>
          </a:bodyPr>
          <a:lstStyle/>
          <a:p>
            <a:r>
              <a:rPr lang="en-US" dirty="0"/>
              <a:t>DNA</a:t>
            </a:r>
          </a:p>
        </p:txBody>
      </p:sp>
    </p:spTree>
    <p:extLst>
      <p:ext uri="{BB962C8B-B14F-4D97-AF65-F5344CB8AC3E}">
        <p14:creationId xmlns:p14="http://schemas.microsoft.com/office/powerpoint/2010/main" val="325365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Essential Biological Nutrients</a:t>
            </a:r>
            <a:r>
              <a:rPr lang="en-US" altLang="en-US" sz="1200" dirty="0"/>
              <a:t> </a:t>
            </a:r>
            <a:endParaRPr lang="en-US" dirty="0"/>
          </a:p>
        </p:txBody>
      </p:sp>
      <p:sp>
        <p:nvSpPr>
          <p:cNvPr id="6" name="Content Placeholder 2"/>
          <p:cNvSpPr>
            <a:spLocks noGrp="1"/>
          </p:cNvSpPr>
          <p:nvPr>
            <p:ph sz="quarter" idx="11"/>
          </p:nvPr>
        </p:nvSpPr>
        <p:spPr>
          <a:xfrm>
            <a:off x="342900" y="840815"/>
            <a:ext cx="8458200" cy="552091"/>
          </a:xfrm>
        </p:spPr>
        <p:txBody>
          <a:bodyPr/>
          <a:lstStyle/>
          <a:p>
            <a:pPr marL="512064" indent="-512064">
              <a:spcBef>
                <a:spcPts val="600"/>
              </a:spcBef>
              <a:buFont typeface="+mj-lt"/>
              <a:buAutoNum type="arabicParenR" startAt="6"/>
            </a:pPr>
            <a:r>
              <a:rPr lang="en-US" b="1" dirty="0">
                <a:solidFill>
                  <a:srgbClr val="0057AD"/>
                </a:solidFill>
              </a:rPr>
              <a:t>Sulfur</a:t>
            </a:r>
          </a:p>
          <a:p>
            <a:pPr marL="349250" indent="-349250">
              <a:spcBef>
                <a:spcPts val="600"/>
              </a:spcBef>
              <a:buFont typeface="Arial" panose="020B0604020202020204" pitchFamily="34" charset="0"/>
              <a:buChar char="•"/>
            </a:pPr>
            <a:r>
              <a:rPr lang="en-US" sz="2000" b="1" dirty="0"/>
              <a:t>Elements/Nutrients Forms Found in Nature:</a:t>
            </a:r>
            <a:endParaRPr lang="en-US" sz="2000" dirty="0"/>
          </a:p>
        </p:txBody>
      </p:sp>
      <p:graphicFrame>
        <p:nvGraphicFramePr>
          <p:cNvPr id="10" name="Object 3"/>
          <p:cNvGraphicFramePr>
            <a:graphicFrameLocks noChangeAspect="1"/>
          </p:cNvGraphicFramePr>
          <p:nvPr>
            <p:extLst>
              <p:ext uri="{D42A27DB-BD31-4B8C-83A1-F6EECF244321}">
                <p14:modId xmlns:p14="http://schemas.microsoft.com/office/powerpoint/2010/main" val="645930690"/>
              </p:ext>
            </p:extLst>
          </p:nvPr>
        </p:nvGraphicFramePr>
        <p:xfrm>
          <a:off x="868720" y="1898567"/>
          <a:ext cx="2112818" cy="1235364"/>
        </p:xfrm>
        <a:graphic>
          <a:graphicData uri="http://schemas.openxmlformats.org/presentationml/2006/ole">
            <mc:AlternateContent xmlns:mc="http://schemas.openxmlformats.org/markup-compatibility/2006">
              <mc:Choice xmlns:v="urn:schemas-microsoft-com:vml" Requires="v">
                <p:oleObj name="Equation" r:id="rId2" imgW="2324163" imgH="1359506" progId="Equation.DSMT4">
                  <p:embed/>
                </p:oleObj>
              </mc:Choice>
              <mc:Fallback>
                <p:oleObj name="Equation" r:id="rId2" imgW="2324163" imgH="1359506" progId="Equation.DSMT4">
                  <p:embed/>
                  <p:pic>
                    <p:nvPicPr>
                      <p:cNvPr id="10" name="Object 3"/>
                      <p:cNvPicPr/>
                      <p:nvPr/>
                    </p:nvPicPr>
                    <p:blipFill>
                      <a:blip r:embed="rId3"/>
                      <a:stretch>
                        <a:fillRect/>
                      </a:stretch>
                    </p:blipFill>
                    <p:spPr>
                      <a:xfrm>
                        <a:off x="868720" y="1898567"/>
                        <a:ext cx="2112818" cy="1235364"/>
                      </a:xfrm>
                      <a:prstGeom prst="rect">
                        <a:avLst/>
                      </a:prstGeom>
                    </p:spPr>
                  </p:pic>
                </p:oleObj>
              </mc:Fallback>
            </mc:AlternateContent>
          </a:graphicData>
        </a:graphic>
      </p:graphicFrame>
      <p:sp>
        <p:nvSpPr>
          <p:cNvPr id="7" name="Content Placeholder 4"/>
          <p:cNvSpPr>
            <a:spLocks noGrp="1"/>
          </p:cNvSpPr>
          <p:nvPr>
            <p:ph sz="quarter" idx="14"/>
          </p:nvPr>
        </p:nvSpPr>
        <p:spPr>
          <a:xfrm>
            <a:off x="538208" y="3289435"/>
            <a:ext cx="5036969" cy="1905000"/>
          </a:xfrm>
        </p:spPr>
        <p:txBody>
          <a:bodyPr/>
          <a:lstStyle/>
          <a:p>
            <a:pPr marL="342900" indent="-342900">
              <a:spcBef>
                <a:spcPts val="600"/>
              </a:spcBef>
              <a:buFont typeface="Arial" panose="020B0604020202020204" pitchFamily="34" charset="0"/>
              <a:buChar char="•"/>
            </a:pPr>
            <a:r>
              <a:rPr lang="en-US" sz="2000" b="1" dirty="0"/>
              <a:t>Sources/Reservoirs of Compounds:</a:t>
            </a:r>
          </a:p>
          <a:p>
            <a:pPr marL="640080" lvl="1" indent="-283464">
              <a:spcBef>
                <a:spcPts val="600"/>
              </a:spcBef>
            </a:pPr>
            <a:r>
              <a:rPr lang="en-US" sz="2000" dirty="0"/>
              <a:t>Mineral deposits volcanic sediments</a:t>
            </a:r>
          </a:p>
          <a:p>
            <a:pPr marL="640080" lvl="1" indent="-283464">
              <a:spcBef>
                <a:spcPts val="600"/>
              </a:spcBef>
            </a:pPr>
            <a:r>
              <a:rPr lang="en-US" sz="2000" dirty="0"/>
              <a:t>Soil</a:t>
            </a:r>
          </a:p>
        </p:txBody>
      </p:sp>
      <p:sp>
        <p:nvSpPr>
          <p:cNvPr id="8" name="Content Placeholder 2">
            <a:extLst>
              <a:ext uri="{FF2B5EF4-FFF2-40B4-BE49-F238E27FC236}">
                <a16:creationId xmlns:a16="http://schemas.microsoft.com/office/drawing/2014/main" id="{31916A9E-1C0D-4AD2-816D-11586343EE11}"/>
              </a:ext>
            </a:extLst>
          </p:cNvPr>
          <p:cNvSpPr txBox="1">
            <a:spLocks/>
          </p:cNvSpPr>
          <p:nvPr/>
        </p:nvSpPr>
        <p:spPr>
          <a:xfrm>
            <a:off x="233039" y="5030460"/>
            <a:ext cx="8458200" cy="1379870"/>
          </a:xfrm>
          <a:prstGeom prst="rect">
            <a:avLst/>
          </a:prstGeom>
        </p:spPr>
        <p:txBody>
          <a:bodyPr vert="horz" lIns="91440" tIns="45720" rIns="91440" bIns="45720" rtlCol="0">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4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4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7472" indent="-347472">
              <a:buFont typeface="Arial" panose="020B0604020202020204" pitchFamily="34" charset="0"/>
              <a:buChar char="•"/>
            </a:pPr>
            <a:r>
              <a:rPr lang="en-US" sz="2000" b="1" dirty="0"/>
              <a:t>Significance to cells</a:t>
            </a:r>
            <a:r>
              <a:rPr lang="en-US" sz="2000" dirty="0"/>
              <a:t>: Elemental sulfur (S) is oxidized by some bacteria as an energy source; sulfur is found in vitamin B1; sulfhydryl groups are part of certain amino acids, where they form disulfide bonds that shape and stabilize proteins.</a:t>
            </a:r>
          </a:p>
        </p:txBody>
      </p:sp>
      <p:pic>
        <p:nvPicPr>
          <p:cNvPr id="3" name="Picture 2"/>
          <p:cNvPicPr>
            <a:picLocks noChangeAspect="1"/>
          </p:cNvPicPr>
          <p:nvPr/>
        </p:nvPicPr>
        <p:blipFill>
          <a:blip r:embed="rId4"/>
          <a:stretch>
            <a:fillRect/>
          </a:stretch>
        </p:blipFill>
        <p:spPr>
          <a:xfrm>
            <a:off x="6729088" y="-22842"/>
            <a:ext cx="1628775" cy="1590675"/>
          </a:xfrm>
          <a:prstGeom prst="rect">
            <a:avLst/>
          </a:prstGeom>
        </p:spPr>
      </p:pic>
      <p:pic>
        <p:nvPicPr>
          <p:cNvPr id="4" name="Picture 3"/>
          <p:cNvPicPr>
            <a:picLocks noChangeAspect="1"/>
          </p:cNvPicPr>
          <p:nvPr/>
        </p:nvPicPr>
        <p:blipFill>
          <a:blip r:embed="rId5"/>
          <a:stretch>
            <a:fillRect/>
          </a:stretch>
        </p:blipFill>
        <p:spPr>
          <a:xfrm>
            <a:off x="6389200" y="1599523"/>
            <a:ext cx="2295525" cy="1619250"/>
          </a:xfrm>
          <a:prstGeom prst="rect">
            <a:avLst/>
          </a:prstGeom>
        </p:spPr>
      </p:pic>
      <p:pic>
        <p:nvPicPr>
          <p:cNvPr id="5" name="Picture 4"/>
          <p:cNvPicPr>
            <a:picLocks noChangeAspect="1"/>
          </p:cNvPicPr>
          <p:nvPr/>
        </p:nvPicPr>
        <p:blipFill>
          <a:blip r:embed="rId6"/>
          <a:stretch>
            <a:fillRect/>
          </a:stretch>
        </p:blipFill>
        <p:spPr>
          <a:xfrm>
            <a:off x="6389200" y="3204593"/>
            <a:ext cx="2253244" cy="1452356"/>
          </a:xfrm>
          <a:prstGeom prst="rect">
            <a:avLst/>
          </a:prstGeom>
        </p:spPr>
      </p:pic>
      <p:sp>
        <p:nvSpPr>
          <p:cNvPr id="9" name="TextBox 8"/>
          <p:cNvSpPr txBox="1"/>
          <p:nvPr/>
        </p:nvSpPr>
        <p:spPr>
          <a:xfrm>
            <a:off x="6894686" y="4590466"/>
            <a:ext cx="1297578" cy="369332"/>
          </a:xfrm>
          <a:prstGeom prst="rect">
            <a:avLst/>
          </a:prstGeom>
          <a:noFill/>
        </p:spPr>
        <p:txBody>
          <a:bodyPr wrap="square" rtlCol="0">
            <a:spAutoFit/>
          </a:bodyPr>
          <a:lstStyle/>
          <a:p>
            <a:r>
              <a:rPr lang="en-US" dirty="0"/>
              <a:t>Vitamin B1</a:t>
            </a:r>
          </a:p>
        </p:txBody>
      </p:sp>
    </p:spTree>
    <p:extLst>
      <p:ext uri="{BB962C8B-B14F-4D97-AF65-F5344CB8AC3E}">
        <p14:creationId xmlns:p14="http://schemas.microsoft.com/office/powerpoint/2010/main" val="3838429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Essential Biological Nutrients</a:t>
            </a:r>
            <a:r>
              <a:rPr lang="en-US" altLang="en-US" sz="1200" dirty="0"/>
              <a:t> </a:t>
            </a:r>
            <a:endParaRPr lang="en-US" dirty="0"/>
          </a:p>
        </p:txBody>
      </p:sp>
      <p:graphicFrame>
        <p:nvGraphicFramePr>
          <p:cNvPr id="10" name="Object 3"/>
          <p:cNvGraphicFramePr>
            <a:graphicFrameLocks noChangeAspect="1"/>
          </p:cNvGraphicFramePr>
          <p:nvPr>
            <p:extLst>
              <p:ext uri="{D42A27DB-BD31-4B8C-83A1-F6EECF244321}">
                <p14:modId xmlns:p14="http://schemas.microsoft.com/office/powerpoint/2010/main" val="1209304774"/>
              </p:ext>
            </p:extLst>
          </p:nvPr>
        </p:nvGraphicFramePr>
        <p:xfrm>
          <a:off x="5785465" y="1713279"/>
          <a:ext cx="395432" cy="369455"/>
        </p:xfrm>
        <a:graphic>
          <a:graphicData uri="http://schemas.openxmlformats.org/presentationml/2006/ole">
            <mc:AlternateContent xmlns:mc="http://schemas.openxmlformats.org/markup-compatibility/2006">
              <mc:Choice xmlns:v="urn:schemas-microsoft-com:vml" Requires="v">
                <p:oleObj name="Equation" r:id="rId2" imgW="434319" imgH="407023" progId="Equation.DSMT4">
                  <p:embed/>
                </p:oleObj>
              </mc:Choice>
              <mc:Fallback>
                <p:oleObj name="Equation" r:id="rId2" imgW="434319" imgH="407023" progId="Equation.DSMT4">
                  <p:embed/>
                  <p:pic>
                    <p:nvPicPr>
                      <p:cNvPr id="10" name="Object 3"/>
                      <p:cNvPicPr/>
                      <p:nvPr/>
                    </p:nvPicPr>
                    <p:blipFill>
                      <a:blip r:embed="rId3"/>
                      <a:stretch>
                        <a:fillRect/>
                      </a:stretch>
                    </p:blipFill>
                    <p:spPr>
                      <a:xfrm>
                        <a:off x="5785465" y="1713279"/>
                        <a:ext cx="395432" cy="369455"/>
                      </a:xfrm>
                      <a:prstGeom prst="rect">
                        <a:avLst/>
                      </a:prstGeom>
                    </p:spPr>
                  </p:pic>
                </p:oleObj>
              </mc:Fallback>
            </mc:AlternateContent>
          </a:graphicData>
        </a:graphic>
      </p:graphicFrame>
      <p:sp>
        <p:nvSpPr>
          <p:cNvPr id="7" name="Content Placeholder 4"/>
          <p:cNvSpPr>
            <a:spLocks noGrp="1"/>
          </p:cNvSpPr>
          <p:nvPr>
            <p:ph sz="quarter" idx="14"/>
          </p:nvPr>
        </p:nvSpPr>
        <p:spPr>
          <a:xfrm>
            <a:off x="209735" y="2871277"/>
            <a:ext cx="8458200" cy="1887376"/>
          </a:xfrm>
        </p:spPr>
        <p:txBody>
          <a:bodyPr/>
          <a:lstStyle/>
          <a:p>
            <a:pPr marL="342900" indent="-342900">
              <a:buFont typeface="Arial" panose="020B0604020202020204" pitchFamily="34" charset="0"/>
              <a:buChar char="•"/>
            </a:pPr>
            <a:r>
              <a:rPr lang="en-US" sz="2000" b="1" dirty="0"/>
              <a:t>Sources/Reservoirs of Compounds:</a:t>
            </a:r>
            <a:endParaRPr lang="en-US" sz="2000" dirty="0"/>
          </a:p>
          <a:p>
            <a:pPr marL="640080" lvl="1" indent="-283464">
              <a:spcBef>
                <a:spcPts val="600"/>
              </a:spcBef>
            </a:pPr>
            <a:r>
              <a:rPr lang="en-US" sz="2000" dirty="0"/>
              <a:t>Mineral deposits, ocean water, soil</a:t>
            </a:r>
          </a:p>
          <a:p>
            <a:pPr marL="640080" lvl="1" indent="-283464">
              <a:spcBef>
                <a:spcPts val="600"/>
              </a:spcBef>
            </a:pPr>
            <a:endParaRPr lang="en-US" sz="2000" dirty="0"/>
          </a:p>
          <a:p>
            <a:pPr marL="342900" indent="-342900">
              <a:buFont typeface="Arial" panose="020B0604020202020204" pitchFamily="34" charset="0"/>
              <a:buChar char="•"/>
            </a:pPr>
            <a:r>
              <a:rPr lang="en-US" sz="2000" b="1" dirty="0"/>
              <a:t>Significance to cells</a:t>
            </a:r>
            <a:r>
              <a:rPr lang="en-US" sz="2000" dirty="0"/>
              <a:t>: Plays a role in protein synthesis and membrane transport</a:t>
            </a:r>
          </a:p>
        </p:txBody>
      </p:sp>
      <p:sp>
        <p:nvSpPr>
          <p:cNvPr id="9" name="TextBox 8">
            <a:extLst>
              <a:ext uri="{FF2B5EF4-FFF2-40B4-BE49-F238E27FC236}">
                <a16:creationId xmlns:a16="http://schemas.microsoft.com/office/drawing/2014/main" id="{4480389F-FD3F-405C-97A9-2051DB37FBC8}"/>
              </a:ext>
            </a:extLst>
          </p:cNvPr>
          <p:cNvSpPr txBox="1"/>
          <p:nvPr/>
        </p:nvSpPr>
        <p:spPr>
          <a:xfrm>
            <a:off x="342900" y="1048802"/>
            <a:ext cx="5442565" cy="1092607"/>
          </a:xfrm>
          <a:prstGeom prst="rect">
            <a:avLst/>
          </a:prstGeom>
          <a:noFill/>
        </p:spPr>
        <p:txBody>
          <a:bodyPr wrap="square">
            <a:spAutoFit/>
          </a:bodyPr>
          <a:lstStyle/>
          <a:p>
            <a:pPr marL="512064" indent="-512064">
              <a:spcBef>
                <a:spcPts val="600"/>
              </a:spcBef>
              <a:buFont typeface="+mj-lt"/>
              <a:buAutoNum type="arabicParenR" startAt="7"/>
            </a:pPr>
            <a:r>
              <a:rPr lang="en-US" sz="2400" b="1" dirty="0">
                <a:solidFill>
                  <a:srgbClr val="0057AD"/>
                </a:solidFill>
              </a:rPr>
              <a:t>Potassium</a:t>
            </a:r>
          </a:p>
          <a:p>
            <a:pPr marL="512064" indent="-512064">
              <a:spcBef>
                <a:spcPts val="600"/>
              </a:spcBef>
              <a:buFont typeface="+mj-lt"/>
              <a:buAutoNum type="arabicParenR" startAt="7"/>
            </a:pPr>
            <a:endParaRPr lang="en-US" dirty="0"/>
          </a:p>
          <a:p>
            <a:pPr marL="342900" indent="-342900">
              <a:buFont typeface="Arial" panose="020B0604020202020204" pitchFamily="34" charset="0"/>
              <a:buChar char="•"/>
            </a:pPr>
            <a:r>
              <a:rPr lang="en-US" b="1" dirty="0"/>
              <a:t>Elements/Nutrients Forms Found in Nature:</a:t>
            </a:r>
            <a:endParaRPr lang="en-US" dirty="0"/>
          </a:p>
        </p:txBody>
      </p:sp>
    </p:spTree>
    <p:extLst>
      <p:ext uri="{BB962C8B-B14F-4D97-AF65-F5344CB8AC3E}">
        <p14:creationId xmlns:p14="http://schemas.microsoft.com/office/powerpoint/2010/main" val="608337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62606"/>
            <a:ext cx="8458200" cy="678611"/>
          </a:xfrm>
        </p:spPr>
        <p:txBody>
          <a:bodyPr/>
          <a:lstStyle/>
          <a:p>
            <a:r>
              <a:rPr lang="en-US" altLang="en-US" dirty="0"/>
              <a:t>Essential Biological Nutrients</a:t>
            </a:r>
            <a:r>
              <a:rPr lang="en-US" altLang="en-US" sz="1200" dirty="0"/>
              <a:t> </a:t>
            </a:r>
            <a:endParaRPr lang="en-US" dirty="0"/>
          </a:p>
        </p:txBody>
      </p:sp>
      <p:sp>
        <p:nvSpPr>
          <p:cNvPr id="6" name="Content Placeholder 2"/>
          <p:cNvSpPr>
            <a:spLocks noGrp="1"/>
          </p:cNvSpPr>
          <p:nvPr>
            <p:ph sz="quarter" idx="11"/>
          </p:nvPr>
        </p:nvSpPr>
        <p:spPr>
          <a:xfrm>
            <a:off x="342900" y="810151"/>
            <a:ext cx="8458200" cy="933830"/>
          </a:xfrm>
        </p:spPr>
        <p:txBody>
          <a:bodyPr/>
          <a:lstStyle/>
          <a:p>
            <a:pPr marL="512064" indent="-512064">
              <a:spcBef>
                <a:spcPts val="400"/>
              </a:spcBef>
              <a:spcAft>
                <a:spcPts val="400"/>
              </a:spcAft>
              <a:buFont typeface="+mj-lt"/>
              <a:buAutoNum type="arabicParenR" startAt="8"/>
            </a:pPr>
            <a:r>
              <a:rPr lang="en-US" b="1" dirty="0">
                <a:solidFill>
                  <a:srgbClr val="0057AD"/>
                </a:solidFill>
              </a:rPr>
              <a:t>Sodium </a:t>
            </a:r>
          </a:p>
          <a:p>
            <a:pPr marL="342900" indent="-342900">
              <a:spcBef>
                <a:spcPts val="400"/>
              </a:spcBef>
              <a:spcAft>
                <a:spcPts val="400"/>
              </a:spcAft>
              <a:buFont typeface="Arial" panose="020B0604020202020204" pitchFamily="34" charset="0"/>
              <a:buChar char="•"/>
            </a:pPr>
            <a:r>
              <a:rPr lang="en-US" sz="2000" b="1" dirty="0"/>
              <a:t>Elements/Nutrients Forms Found in Nature:</a:t>
            </a:r>
            <a:endParaRPr lang="en-US" sz="2000" dirty="0"/>
          </a:p>
        </p:txBody>
      </p:sp>
      <p:graphicFrame>
        <p:nvGraphicFramePr>
          <p:cNvPr id="10" name="Object 3"/>
          <p:cNvGraphicFramePr>
            <a:graphicFrameLocks noChangeAspect="1"/>
          </p:cNvGraphicFramePr>
          <p:nvPr>
            <p:extLst>
              <p:ext uri="{D42A27DB-BD31-4B8C-83A1-F6EECF244321}">
                <p14:modId xmlns:p14="http://schemas.microsoft.com/office/powerpoint/2010/main" val="2703677022"/>
              </p:ext>
            </p:extLst>
          </p:nvPr>
        </p:nvGraphicFramePr>
        <p:xfrm>
          <a:off x="6224765" y="1257648"/>
          <a:ext cx="567170" cy="395432"/>
        </p:xfrm>
        <a:graphic>
          <a:graphicData uri="http://schemas.openxmlformats.org/presentationml/2006/ole">
            <mc:AlternateContent xmlns:mc="http://schemas.openxmlformats.org/markup-compatibility/2006">
              <mc:Choice xmlns:v="urn:schemas-microsoft-com:vml" Requires="v">
                <p:oleObj name="Equation" r:id="rId2" imgW="623231" imgH="434422" progId="Equation.DSMT4">
                  <p:embed/>
                </p:oleObj>
              </mc:Choice>
              <mc:Fallback>
                <p:oleObj name="Equation" r:id="rId2" imgW="623231" imgH="434422" progId="Equation.DSMT4">
                  <p:embed/>
                  <p:pic>
                    <p:nvPicPr>
                      <p:cNvPr id="10" name="Object 3"/>
                      <p:cNvPicPr/>
                      <p:nvPr/>
                    </p:nvPicPr>
                    <p:blipFill>
                      <a:blip r:embed="rId3"/>
                      <a:stretch>
                        <a:fillRect/>
                      </a:stretch>
                    </p:blipFill>
                    <p:spPr>
                      <a:xfrm>
                        <a:off x="6224765" y="1257648"/>
                        <a:ext cx="567170" cy="395432"/>
                      </a:xfrm>
                      <a:prstGeom prst="rect">
                        <a:avLst/>
                      </a:prstGeom>
                    </p:spPr>
                  </p:pic>
                </p:oleObj>
              </mc:Fallback>
            </mc:AlternateContent>
          </a:graphicData>
        </a:graphic>
      </p:graphicFrame>
      <p:sp>
        <p:nvSpPr>
          <p:cNvPr id="7" name="Content Placeholder 4"/>
          <p:cNvSpPr>
            <a:spLocks noGrp="1"/>
          </p:cNvSpPr>
          <p:nvPr>
            <p:ph sz="quarter" idx="14"/>
          </p:nvPr>
        </p:nvSpPr>
        <p:spPr>
          <a:xfrm>
            <a:off x="342900" y="1840959"/>
            <a:ext cx="8458200" cy="2687782"/>
          </a:xfrm>
        </p:spPr>
        <p:txBody>
          <a:bodyPr/>
          <a:lstStyle/>
          <a:p>
            <a:pPr marL="342900" indent="-342900">
              <a:spcBef>
                <a:spcPts val="400"/>
              </a:spcBef>
              <a:spcAft>
                <a:spcPts val="400"/>
              </a:spcAft>
              <a:buFont typeface="Arial" panose="020B0604020202020204" pitchFamily="34" charset="0"/>
              <a:buChar char="•"/>
            </a:pPr>
            <a:r>
              <a:rPr lang="en-US" sz="2000" b="1" dirty="0"/>
              <a:t>Sources/Reservoirs of Compounds:</a:t>
            </a:r>
          </a:p>
          <a:p>
            <a:pPr lvl="2" indent="-342900">
              <a:spcBef>
                <a:spcPts val="400"/>
              </a:spcBef>
              <a:spcAft>
                <a:spcPts val="400"/>
              </a:spcAft>
            </a:pPr>
            <a:r>
              <a:rPr lang="en-US" dirty="0"/>
              <a:t>Mineral deposits, ocean water, soil</a:t>
            </a:r>
          </a:p>
          <a:p>
            <a:pPr marL="342900" indent="-342900">
              <a:spcBef>
                <a:spcPts val="400"/>
              </a:spcBef>
              <a:spcAft>
                <a:spcPts val="400"/>
              </a:spcAft>
              <a:buFont typeface="Arial" panose="020B0604020202020204" pitchFamily="34" charset="0"/>
              <a:buChar char="•"/>
            </a:pPr>
            <a:r>
              <a:rPr lang="en-US" sz="2000" b="1" dirty="0"/>
              <a:t>Significance to cells</a:t>
            </a:r>
            <a:r>
              <a:rPr lang="en-US" sz="2000" dirty="0"/>
              <a:t>: Major participant in membrane actions; maintains osmotic pressure in cells.</a:t>
            </a:r>
          </a:p>
          <a:p>
            <a:pPr marL="512064" indent="-512064">
              <a:spcBef>
                <a:spcPts val="400"/>
              </a:spcBef>
              <a:spcAft>
                <a:spcPts val="400"/>
              </a:spcAft>
              <a:buFont typeface="+mj-lt"/>
              <a:buAutoNum type="arabicParenR" startAt="9"/>
            </a:pPr>
            <a:r>
              <a:rPr lang="en-US" b="1" dirty="0">
                <a:solidFill>
                  <a:srgbClr val="0057AD"/>
                </a:solidFill>
              </a:rPr>
              <a:t>Calcium</a:t>
            </a:r>
          </a:p>
          <a:p>
            <a:pPr marL="347472" indent="-283464">
              <a:spcBef>
                <a:spcPts val="400"/>
              </a:spcBef>
              <a:spcAft>
                <a:spcPts val="400"/>
              </a:spcAft>
              <a:buFont typeface="Arial" panose="020B0604020202020204" pitchFamily="34" charset="0"/>
              <a:buChar char="•"/>
            </a:pPr>
            <a:r>
              <a:rPr lang="en-US" sz="2000" b="1" dirty="0"/>
              <a:t>Elements/Nutrients Forms Found in Nature:</a:t>
            </a:r>
            <a:endParaRPr lang="en-US" sz="2000" dirty="0"/>
          </a:p>
        </p:txBody>
      </p:sp>
      <p:graphicFrame>
        <p:nvGraphicFramePr>
          <p:cNvPr id="11" name="Object 5"/>
          <p:cNvGraphicFramePr>
            <a:graphicFrameLocks noChangeAspect="1"/>
          </p:cNvGraphicFramePr>
          <p:nvPr>
            <p:extLst>
              <p:ext uri="{D42A27DB-BD31-4B8C-83A1-F6EECF244321}">
                <p14:modId xmlns:p14="http://schemas.microsoft.com/office/powerpoint/2010/main" val="2067661914"/>
              </p:ext>
            </p:extLst>
          </p:nvPr>
        </p:nvGraphicFramePr>
        <p:xfrm>
          <a:off x="6224765" y="3849128"/>
          <a:ext cx="540703" cy="395432"/>
        </p:xfrm>
        <a:graphic>
          <a:graphicData uri="http://schemas.openxmlformats.org/presentationml/2006/ole">
            <mc:AlternateContent xmlns:mc="http://schemas.openxmlformats.org/markup-compatibility/2006">
              <mc:Choice xmlns:v="urn:schemas-microsoft-com:vml" Requires="v">
                <p:oleObj name="Equation" r:id="rId4" imgW="624671" imgH="434422" progId="Equation.DSMT4">
                  <p:embed/>
                </p:oleObj>
              </mc:Choice>
              <mc:Fallback>
                <p:oleObj name="Equation" r:id="rId4" imgW="624671" imgH="434422" progId="Equation.DSMT4">
                  <p:embed/>
                  <p:pic>
                    <p:nvPicPr>
                      <p:cNvPr id="11" name="Object 5"/>
                      <p:cNvPicPr/>
                      <p:nvPr/>
                    </p:nvPicPr>
                    <p:blipFill>
                      <a:blip r:embed="rId5"/>
                      <a:stretch>
                        <a:fillRect/>
                      </a:stretch>
                    </p:blipFill>
                    <p:spPr>
                      <a:xfrm>
                        <a:off x="6224765" y="3849128"/>
                        <a:ext cx="540703" cy="395432"/>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88D5D1FD-257F-4C25-A3E4-A5B3C0B462A7}"/>
              </a:ext>
            </a:extLst>
          </p:cNvPr>
          <p:cNvSpPr txBox="1"/>
          <p:nvPr/>
        </p:nvSpPr>
        <p:spPr>
          <a:xfrm>
            <a:off x="121514" y="4625720"/>
            <a:ext cx="8605791" cy="1528624"/>
          </a:xfrm>
          <a:prstGeom prst="rect">
            <a:avLst/>
          </a:prstGeom>
          <a:noFill/>
        </p:spPr>
        <p:txBody>
          <a:bodyPr wrap="square">
            <a:spAutoFit/>
          </a:bodyPr>
          <a:lstStyle/>
          <a:p>
            <a:pPr marL="342900" indent="-342900">
              <a:spcBef>
                <a:spcPts val="400"/>
              </a:spcBef>
              <a:spcAft>
                <a:spcPts val="400"/>
              </a:spcAft>
              <a:buFont typeface="Arial" panose="020B0604020202020204" pitchFamily="34" charset="0"/>
              <a:buChar char="•"/>
            </a:pPr>
            <a:r>
              <a:rPr lang="en-US" sz="2000" b="1" dirty="0"/>
              <a:t>Sources/Reservoirs of Compounds:</a:t>
            </a:r>
          </a:p>
          <a:p>
            <a:pPr marL="640080" lvl="1" indent="-283464">
              <a:spcBef>
                <a:spcPts val="400"/>
              </a:spcBef>
              <a:spcAft>
                <a:spcPts val="400"/>
              </a:spcAft>
            </a:pPr>
            <a:r>
              <a:rPr lang="en-US" sz="2000" dirty="0"/>
              <a:t>Oceanic sediments, rocks, and soil</a:t>
            </a:r>
          </a:p>
          <a:p>
            <a:pPr marL="342900" indent="-342900">
              <a:spcBef>
                <a:spcPts val="400"/>
              </a:spcBef>
              <a:spcAft>
                <a:spcPts val="400"/>
              </a:spcAft>
              <a:buFont typeface="Arial" panose="020B0604020202020204" pitchFamily="34" charset="0"/>
              <a:buChar char="•"/>
            </a:pPr>
            <a:r>
              <a:rPr lang="en-US" sz="2000" b="1" dirty="0"/>
              <a:t>Significance to cells</a:t>
            </a:r>
            <a:r>
              <a:rPr lang="en-US" sz="2000" dirty="0"/>
              <a:t>: A component of protozoan shells (as CaCO</a:t>
            </a:r>
            <a:r>
              <a:rPr lang="en-US" sz="2000" baseline="-25000" dirty="0"/>
              <a:t>3</a:t>
            </a:r>
            <a:r>
              <a:rPr lang="en-US" sz="2000" dirty="0"/>
              <a:t>); stabilizes cell walls; adds resistance to bacterial endospores </a:t>
            </a:r>
          </a:p>
        </p:txBody>
      </p:sp>
    </p:spTree>
    <p:extLst>
      <p:ext uri="{BB962C8B-B14F-4D97-AF65-F5344CB8AC3E}">
        <p14:creationId xmlns:p14="http://schemas.microsoft.com/office/powerpoint/2010/main" val="3732472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Essential Biological Nutrients</a:t>
            </a:r>
            <a:r>
              <a:rPr lang="en-US" altLang="en-US" sz="1200"/>
              <a:t> </a:t>
            </a:r>
            <a:r>
              <a:rPr lang="en-US" sz="1200"/>
              <a:t>13</a:t>
            </a:r>
            <a:endParaRPr lang="en-US" dirty="0"/>
          </a:p>
        </p:txBody>
      </p:sp>
      <p:sp>
        <p:nvSpPr>
          <p:cNvPr id="10" name="Content Placeholder 2"/>
          <p:cNvSpPr>
            <a:spLocks noGrp="1"/>
          </p:cNvSpPr>
          <p:nvPr>
            <p:ph sz="quarter" idx="11"/>
          </p:nvPr>
        </p:nvSpPr>
        <p:spPr>
          <a:xfrm>
            <a:off x="342900" y="946571"/>
            <a:ext cx="8458200" cy="969819"/>
          </a:xfrm>
        </p:spPr>
        <p:txBody>
          <a:bodyPr/>
          <a:lstStyle/>
          <a:p>
            <a:pPr marL="45720" indent="-685800">
              <a:spcBef>
                <a:spcPts val="400"/>
              </a:spcBef>
              <a:spcAft>
                <a:spcPts val="400"/>
              </a:spcAft>
              <a:buFont typeface="+mj-lt"/>
              <a:buAutoNum type="arabicParenR" startAt="10"/>
            </a:pPr>
            <a:r>
              <a:rPr lang="en-US" b="1" dirty="0">
                <a:solidFill>
                  <a:srgbClr val="0057AD"/>
                </a:solidFill>
              </a:rPr>
              <a:t>Magnesium</a:t>
            </a:r>
          </a:p>
          <a:p>
            <a:pPr marL="342900" indent="-342900">
              <a:spcBef>
                <a:spcPts val="400"/>
              </a:spcBef>
              <a:spcAft>
                <a:spcPts val="400"/>
              </a:spcAft>
              <a:buFont typeface="Arial" panose="020B0604020202020204" pitchFamily="34" charset="0"/>
              <a:buChar char="•"/>
            </a:pPr>
            <a:r>
              <a:rPr lang="en-US" sz="2000" b="1" dirty="0"/>
              <a:t>Elements/Nutrients Forms Found in Nature:</a:t>
            </a:r>
            <a:endParaRPr lang="en-US" sz="2000" dirty="0"/>
          </a:p>
        </p:txBody>
      </p:sp>
      <p:graphicFrame>
        <p:nvGraphicFramePr>
          <p:cNvPr id="14" name="Object 3"/>
          <p:cNvGraphicFramePr>
            <a:graphicFrameLocks noChangeAspect="1"/>
          </p:cNvGraphicFramePr>
          <p:nvPr>
            <p:extLst>
              <p:ext uri="{D42A27DB-BD31-4B8C-83A1-F6EECF244321}">
                <p14:modId xmlns:p14="http://schemas.microsoft.com/office/powerpoint/2010/main" val="161865559"/>
              </p:ext>
            </p:extLst>
          </p:nvPr>
        </p:nvGraphicFramePr>
        <p:xfrm>
          <a:off x="6224427" y="1403653"/>
          <a:ext cx="715818" cy="443057"/>
        </p:xfrm>
        <a:graphic>
          <a:graphicData uri="http://schemas.openxmlformats.org/presentationml/2006/ole">
            <mc:AlternateContent xmlns:mc="http://schemas.openxmlformats.org/markup-compatibility/2006">
              <mc:Choice xmlns:v="urn:schemas-microsoft-com:vml" Requires="v">
                <p:oleObj name="Equation" r:id="rId2" imgW="788035" imgH="487778" progId="Equation.DSMT4">
                  <p:embed/>
                </p:oleObj>
              </mc:Choice>
              <mc:Fallback>
                <p:oleObj name="Equation" r:id="rId2" imgW="788035" imgH="487778" progId="Equation.DSMT4">
                  <p:embed/>
                  <p:pic>
                    <p:nvPicPr>
                      <p:cNvPr id="14" name="Object 3"/>
                      <p:cNvPicPr/>
                      <p:nvPr/>
                    </p:nvPicPr>
                    <p:blipFill>
                      <a:blip r:embed="rId3"/>
                      <a:stretch>
                        <a:fillRect/>
                      </a:stretch>
                    </p:blipFill>
                    <p:spPr>
                      <a:xfrm>
                        <a:off x="6224427" y="1403653"/>
                        <a:ext cx="715818" cy="443057"/>
                      </a:xfrm>
                      <a:prstGeom prst="rect">
                        <a:avLst/>
                      </a:prstGeom>
                    </p:spPr>
                  </p:pic>
                </p:oleObj>
              </mc:Fallback>
            </mc:AlternateContent>
          </a:graphicData>
        </a:graphic>
      </p:graphicFrame>
      <p:sp>
        <p:nvSpPr>
          <p:cNvPr id="11" name="Content Placeholder 4"/>
          <p:cNvSpPr>
            <a:spLocks noGrp="1"/>
          </p:cNvSpPr>
          <p:nvPr>
            <p:ph sz="quarter" idx="14"/>
          </p:nvPr>
        </p:nvSpPr>
        <p:spPr>
          <a:xfrm>
            <a:off x="476065" y="2073251"/>
            <a:ext cx="8458200" cy="969819"/>
          </a:xfrm>
        </p:spPr>
        <p:txBody>
          <a:bodyPr/>
          <a:lstStyle/>
          <a:p>
            <a:pPr marL="342900" indent="-342900">
              <a:spcBef>
                <a:spcPts val="600"/>
              </a:spcBef>
              <a:buFont typeface="Arial" panose="020B0604020202020204" pitchFamily="34" charset="0"/>
              <a:buChar char="•"/>
            </a:pPr>
            <a:r>
              <a:rPr lang="en-US" sz="2000" b="1" dirty="0"/>
              <a:t>Sources/Reservoirs of Compounds:</a:t>
            </a:r>
          </a:p>
          <a:p>
            <a:pPr lvl="2" indent="-342900">
              <a:spcBef>
                <a:spcPts val="400"/>
              </a:spcBef>
              <a:spcAft>
                <a:spcPts val="400"/>
              </a:spcAft>
            </a:pPr>
            <a:r>
              <a:rPr lang="en-US" dirty="0"/>
              <a:t>Geologic sediments, rocks, and soil</a:t>
            </a:r>
          </a:p>
        </p:txBody>
      </p:sp>
      <p:sp>
        <p:nvSpPr>
          <p:cNvPr id="7" name="TextBox 6">
            <a:extLst>
              <a:ext uri="{FF2B5EF4-FFF2-40B4-BE49-F238E27FC236}">
                <a16:creationId xmlns:a16="http://schemas.microsoft.com/office/drawing/2014/main" id="{FCB68E73-9430-4BF3-ACEC-13EEEFB82006}"/>
              </a:ext>
            </a:extLst>
          </p:cNvPr>
          <p:cNvSpPr txBox="1"/>
          <p:nvPr/>
        </p:nvSpPr>
        <p:spPr>
          <a:xfrm>
            <a:off x="554854" y="3124018"/>
            <a:ext cx="5767569" cy="1569660"/>
          </a:xfrm>
          <a:prstGeom prst="rect">
            <a:avLst/>
          </a:prstGeom>
          <a:noFill/>
        </p:spPr>
        <p:txBody>
          <a:bodyPr wrap="square">
            <a:spAutoFit/>
          </a:bodyPr>
          <a:lstStyle/>
          <a:p>
            <a:pPr marL="342900" indent="-342900">
              <a:spcBef>
                <a:spcPts val="600"/>
              </a:spcBef>
              <a:buFont typeface="Arial" panose="020B0604020202020204" pitchFamily="34" charset="0"/>
              <a:buChar char="•"/>
            </a:pPr>
            <a:r>
              <a:rPr lang="en-US" sz="2400" b="1" dirty="0"/>
              <a:t>Significance to cells</a:t>
            </a:r>
            <a:r>
              <a:rPr lang="en-US" sz="2400" dirty="0"/>
              <a:t>: A central atom in the chlorophyll molecule; required for function of membranes, ribosomes, and some enzymes</a:t>
            </a:r>
          </a:p>
        </p:txBody>
      </p:sp>
      <p:pic>
        <p:nvPicPr>
          <p:cNvPr id="3" name="Picture 2"/>
          <p:cNvPicPr>
            <a:picLocks noChangeAspect="1"/>
          </p:cNvPicPr>
          <p:nvPr/>
        </p:nvPicPr>
        <p:blipFill>
          <a:blip r:embed="rId4"/>
          <a:stretch>
            <a:fillRect/>
          </a:stretch>
        </p:blipFill>
        <p:spPr>
          <a:xfrm>
            <a:off x="6450201" y="2073251"/>
            <a:ext cx="2484064" cy="3693835"/>
          </a:xfrm>
          <a:prstGeom prst="rect">
            <a:avLst/>
          </a:prstGeom>
        </p:spPr>
      </p:pic>
      <p:sp>
        <p:nvSpPr>
          <p:cNvPr id="4" name="TextBox 3"/>
          <p:cNvSpPr txBox="1"/>
          <p:nvPr/>
        </p:nvSpPr>
        <p:spPr>
          <a:xfrm>
            <a:off x="7230037" y="5767086"/>
            <a:ext cx="1571063" cy="369332"/>
          </a:xfrm>
          <a:prstGeom prst="rect">
            <a:avLst/>
          </a:prstGeom>
          <a:noFill/>
        </p:spPr>
        <p:txBody>
          <a:bodyPr wrap="square" rtlCol="0">
            <a:spAutoFit/>
          </a:bodyPr>
          <a:lstStyle/>
          <a:p>
            <a:r>
              <a:rPr lang="en-US" dirty="0"/>
              <a:t>Chlorophyll</a:t>
            </a:r>
          </a:p>
        </p:txBody>
      </p:sp>
    </p:spTree>
    <p:extLst>
      <p:ext uri="{BB962C8B-B14F-4D97-AF65-F5344CB8AC3E}">
        <p14:creationId xmlns:p14="http://schemas.microsoft.com/office/powerpoint/2010/main" val="2481454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Essential Biological Nutrients</a:t>
            </a:r>
            <a:r>
              <a:rPr lang="en-US" altLang="en-US" sz="1200" dirty="0"/>
              <a:t> </a:t>
            </a:r>
            <a:r>
              <a:rPr lang="en-US" sz="1200" dirty="0"/>
              <a:t>14</a:t>
            </a:r>
            <a:endParaRPr lang="en-US" dirty="0"/>
          </a:p>
        </p:txBody>
      </p:sp>
      <p:sp>
        <p:nvSpPr>
          <p:cNvPr id="6" name="Content Placeholder 2"/>
          <p:cNvSpPr>
            <a:spLocks noGrp="1"/>
          </p:cNvSpPr>
          <p:nvPr>
            <p:ph sz="quarter" idx="11"/>
          </p:nvPr>
        </p:nvSpPr>
        <p:spPr>
          <a:xfrm>
            <a:off x="342900" y="1276709"/>
            <a:ext cx="8458200" cy="1040363"/>
          </a:xfrm>
        </p:spPr>
        <p:txBody>
          <a:bodyPr/>
          <a:lstStyle/>
          <a:p>
            <a:pPr marL="45720" indent="-685800">
              <a:spcBef>
                <a:spcPts val="600"/>
              </a:spcBef>
              <a:buFont typeface="+mj-lt"/>
              <a:buAutoNum type="arabicParenR" startAt="11"/>
            </a:pPr>
            <a:r>
              <a:rPr lang="en-US" b="1" dirty="0">
                <a:solidFill>
                  <a:srgbClr val="0057AD"/>
                </a:solidFill>
              </a:rPr>
              <a:t>Chloride</a:t>
            </a:r>
          </a:p>
          <a:p>
            <a:pPr marL="342900" indent="-342900">
              <a:spcBef>
                <a:spcPts val="600"/>
              </a:spcBef>
              <a:buFont typeface="Arial" panose="020B0604020202020204" pitchFamily="34" charset="0"/>
              <a:buChar char="•"/>
            </a:pPr>
            <a:r>
              <a:rPr lang="en-US" sz="2000" b="1" dirty="0"/>
              <a:t>Elements/Nutrients Forms Found in Nature:</a:t>
            </a:r>
            <a:endParaRPr lang="en-US" sz="2000" dirty="0"/>
          </a:p>
        </p:txBody>
      </p:sp>
      <p:graphicFrame>
        <p:nvGraphicFramePr>
          <p:cNvPr id="10" name="Object 3"/>
          <p:cNvGraphicFramePr>
            <a:graphicFrameLocks noChangeAspect="1"/>
          </p:cNvGraphicFramePr>
          <p:nvPr>
            <p:extLst>
              <p:ext uri="{D42A27DB-BD31-4B8C-83A1-F6EECF244321}">
                <p14:modId xmlns:p14="http://schemas.microsoft.com/office/powerpoint/2010/main" val="761550146"/>
              </p:ext>
            </p:extLst>
          </p:nvPr>
        </p:nvGraphicFramePr>
        <p:xfrm>
          <a:off x="6311830" y="1796890"/>
          <a:ext cx="469034" cy="395432"/>
        </p:xfrm>
        <a:graphic>
          <a:graphicData uri="http://schemas.openxmlformats.org/presentationml/2006/ole">
            <mc:AlternateContent xmlns:mc="http://schemas.openxmlformats.org/markup-compatibility/2006">
              <mc:Choice xmlns:v="urn:schemas-microsoft-com:vml" Requires="v">
                <p:oleObj name="Equation" r:id="rId2" imgW="515281" imgH="434422" progId="Equation.DSMT4">
                  <p:embed/>
                </p:oleObj>
              </mc:Choice>
              <mc:Fallback>
                <p:oleObj name="Equation" r:id="rId2" imgW="515281" imgH="434422" progId="Equation.DSMT4">
                  <p:embed/>
                  <p:pic>
                    <p:nvPicPr>
                      <p:cNvPr id="10" name="Object 3"/>
                      <p:cNvPicPr/>
                      <p:nvPr/>
                    </p:nvPicPr>
                    <p:blipFill>
                      <a:blip r:embed="rId3"/>
                      <a:stretch>
                        <a:fillRect/>
                      </a:stretch>
                    </p:blipFill>
                    <p:spPr>
                      <a:xfrm>
                        <a:off x="6311830" y="1796890"/>
                        <a:ext cx="469034" cy="395432"/>
                      </a:xfrm>
                      <a:prstGeom prst="rect">
                        <a:avLst/>
                      </a:prstGeom>
                    </p:spPr>
                  </p:pic>
                </p:oleObj>
              </mc:Fallback>
            </mc:AlternateContent>
          </a:graphicData>
        </a:graphic>
      </p:graphicFrame>
      <p:sp>
        <p:nvSpPr>
          <p:cNvPr id="7" name="Content Placeholder 4"/>
          <p:cNvSpPr>
            <a:spLocks noGrp="1"/>
          </p:cNvSpPr>
          <p:nvPr>
            <p:ph sz="quarter" idx="14"/>
          </p:nvPr>
        </p:nvSpPr>
        <p:spPr>
          <a:xfrm>
            <a:off x="413921" y="2513666"/>
            <a:ext cx="8458200" cy="1830667"/>
          </a:xfrm>
        </p:spPr>
        <p:txBody>
          <a:bodyPr/>
          <a:lstStyle/>
          <a:p>
            <a:pPr marL="342900" indent="-342900">
              <a:spcBef>
                <a:spcPts val="600"/>
              </a:spcBef>
              <a:buFont typeface="Arial" panose="020B0604020202020204" pitchFamily="34" charset="0"/>
              <a:buChar char="•"/>
            </a:pPr>
            <a:r>
              <a:rPr lang="en-US" sz="2000" b="1" dirty="0"/>
              <a:t>Sources/Reservoirs of Compounds:</a:t>
            </a:r>
          </a:p>
          <a:p>
            <a:pPr lvl="2" indent="-342900">
              <a:spcBef>
                <a:spcPts val="400"/>
              </a:spcBef>
              <a:spcAft>
                <a:spcPts val="400"/>
              </a:spcAft>
            </a:pPr>
            <a:r>
              <a:rPr lang="en-US" dirty="0"/>
              <a:t>Ocean water, salt lakes</a:t>
            </a:r>
          </a:p>
          <a:p>
            <a:pPr marL="342900" indent="-342900">
              <a:spcBef>
                <a:spcPts val="600"/>
              </a:spcBef>
              <a:buFont typeface="Arial" panose="020B0604020202020204" pitchFamily="34" charset="0"/>
              <a:buChar char="•"/>
            </a:pPr>
            <a:r>
              <a:rPr lang="en-US" sz="2000" b="1" dirty="0"/>
              <a:t>Significance to cells: </a:t>
            </a:r>
            <a:r>
              <a:rPr lang="en-US" sz="2000" dirty="0"/>
              <a:t>May function in membrane transport; required by obligate halophiles to regulate osmotic pressure</a:t>
            </a:r>
          </a:p>
        </p:txBody>
      </p:sp>
    </p:spTree>
    <p:extLst>
      <p:ext uri="{BB962C8B-B14F-4D97-AF65-F5344CB8AC3E}">
        <p14:creationId xmlns:p14="http://schemas.microsoft.com/office/powerpoint/2010/main" val="2186197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Essential Biological Nutrients</a:t>
            </a:r>
            <a:r>
              <a:rPr lang="en-US" altLang="en-US" sz="1200" dirty="0"/>
              <a:t> </a:t>
            </a:r>
            <a:r>
              <a:rPr lang="en-US" sz="1200" dirty="0"/>
              <a:t>15</a:t>
            </a:r>
            <a:endParaRPr lang="en-US" dirty="0"/>
          </a:p>
        </p:txBody>
      </p:sp>
      <p:sp>
        <p:nvSpPr>
          <p:cNvPr id="6" name="Content Placeholder 2"/>
          <p:cNvSpPr>
            <a:spLocks noGrp="1"/>
          </p:cNvSpPr>
          <p:nvPr>
            <p:ph sz="quarter" idx="11"/>
          </p:nvPr>
        </p:nvSpPr>
        <p:spPr>
          <a:xfrm>
            <a:off x="342900" y="1276709"/>
            <a:ext cx="8458200" cy="924953"/>
          </a:xfrm>
        </p:spPr>
        <p:txBody>
          <a:bodyPr/>
          <a:lstStyle/>
          <a:p>
            <a:pPr marL="45720" indent="-685800">
              <a:spcBef>
                <a:spcPts val="300"/>
              </a:spcBef>
              <a:spcAft>
                <a:spcPts val="300"/>
              </a:spcAft>
              <a:buFont typeface="+mj-lt"/>
              <a:buAutoNum type="arabicParenR" startAt="12"/>
            </a:pPr>
            <a:r>
              <a:rPr lang="en-US" b="1" dirty="0">
                <a:solidFill>
                  <a:srgbClr val="0057AD"/>
                </a:solidFill>
              </a:rPr>
              <a:t>Zinc</a:t>
            </a:r>
          </a:p>
          <a:p>
            <a:pPr marL="342900" indent="-342900">
              <a:spcBef>
                <a:spcPts val="300"/>
              </a:spcBef>
              <a:spcAft>
                <a:spcPts val="300"/>
              </a:spcAft>
              <a:buFont typeface="Arial" panose="020B0604020202020204" pitchFamily="34" charset="0"/>
              <a:buChar char="•"/>
            </a:pPr>
            <a:r>
              <a:rPr lang="en-US" sz="2000" b="1" dirty="0"/>
              <a:t>Elements/Nutrients Forms Found in Nature:</a:t>
            </a:r>
            <a:endParaRPr lang="en-US" sz="2000" dirty="0"/>
          </a:p>
        </p:txBody>
      </p:sp>
      <p:graphicFrame>
        <p:nvGraphicFramePr>
          <p:cNvPr id="10" name="Object 3"/>
          <p:cNvGraphicFramePr>
            <a:graphicFrameLocks noChangeAspect="1"/>
          </p:cNvGraphicFramePr>
          <p:nvPr>
            <p:extLst>
              <p:ext uri="{D42A27DB-BD31-4B8C-83A1-F6EECF244321}">
                <p14:modId xmlns:p14="http://schemas.microsoft.com/office/powerpoint/2010/main" val="2451138014"/>
              </p:ext>
            </p:extLst>
          </p:nvPr>
        </p:nvGraphicFramePr>
        <p:xfrm>
          <a:off x="6121212" y="1739185"/>
          <a:ext cx="691285" cy="369455"/>
        </p:xfrm>
        <a:graphic>
          <a:graphicData uri="http://schemas.openxmlformats.org/presentationml/2006/ole">
            <mc:AlternateContent xmlns:mc="http://schemas.openxmlformats.org/markup-compatibility/2006">
              <mc:Choice xmlns:v="urn:schemas-microsoft-com:vml" Requires="v">
                <p:oleObj name="Equation" r:id="rId2" imgW="760328" imgH="407023" progId="Equation.DSMT4">
                  <p:embed/>
                </p:oleObj>
              </mc:Choice>
              <mc:Fallback>
                <p:oleObj name="Equation" r:id="rId2" imgW="760328" imgH="407023" progId="Equation.DSMT4">
                  <p:embed/>
                  <p:pic>
                    <p:nvPicPr>
                      <p:cNvPr id="10" name="Object 3"/>
                      <p:cNvPicPr/>
                      <p:nvPr/>
                    </p:nvPicPr>
                    <p:blipFill>
                      <a:blip r:embed="rId3"/>
                      <a:stretch>
                        <a:fillRect/>
                      </a:stretch>
                    </p:blipFill>
                    <p:spPr>
                      <a:xfrm>
                        <a:off x="6121212" y="1739185"/>
                        <a:ext cx="691285" cy="369455"/>
                      </a:xfrm>
                      <a:prstGeom prst="rect">
                        <a:avLst/>
                      </a:prstGeom>
                    </p:spPr>
                  </p:pic>
                </p:oleObj>
              </mc:Fallback>
            </mc:AlternateContent>
          </a:graphicData>
        </a:graphic>
      </p:graphicFrame>
      <p:sp>
        <p:nvSpPr>
          <p:cNvPr id="7" name="Content Placeholder 4"/>
          <p:cNvSpPr>
            <a:spLocks noGrp="1"/>
          </p:cNvSpPr>
          <p:nvPr>
            <p:ph sz="quarter" idx="14"/>
          </p:nvPr>
        </p:nvSpPr>
        <p:spPr>
          <a:xfrm>
            <a:off x="458309" y="2323993"/>
            <a:ext cx="8458200" cy="2586182"/>
          </a:xfrm>
        </p:spPr>
        <p:txBody>
          <a:bodyPr/>
          <a:lstStyle/>
          <a:p>
            <a:pPr marL="342900" indent="-342900">
              <a:spcBef>
                <a:spcPts val="300"/>
              </a:spcBef>
              <a:spcAft>
                <a:spcPts val="300"/>
              </a:spcAft>
              <a:buFont typeface="Arial" panose="020B0604020202020204" pitchFamily="34" charset="0"/>
              <a:buChar char="•"/>
            </a:pPr>
            <a:r>
              <a:rPr lang="en-US" sz="2000" b="1" dirty="0"/>
              <a:t>Sources/Reservoirs of Compounds:</a:t>
            </a:r>
          </a:p>
          <a:p>
            <a:pPr lvl="2" indent="-342900">
              <a:spcBef>
                <a:spcPts val="300"/>
              </a:spcBef>
              <a:spcAft>
                <a:spcPts val="300"/>
              </a:spcAft>
            </a:pPr>
            <a:r>
              <a:rPr lang="en-US" dirty="0"/>
              <a:t>Rocks, Soil</a:t>
            </a:r>
          </a:p>
          <a:p>
            <a:pPr marL="342900" indent="-342900">
              <a:spcBef>
                <a:spcPts val="300"/>
              </a:spcBef>
              <a:spcAft>
                <a:spcPts val="300"/>
              </a:spcAft>
              <a:buFont typeface="Arial" panose="020B0604020202020204" pitchFamily="34" charset="0"/>
              <a:buChar char="•"/>
            </a:pPr>
            <a:r>
              <a:rPr lang="en-US" sz="2000" b="1" dirty="0"/>
              <a:t>Significance to cells: </a:t>
            </a:r>
            <a:r>
              <a:rPr lang="en-US" sz="2000" dirty="0"/>
              <a:t>An enzyme cofactor, regulates eukaryotic genetics </a:t>
            </a:r>
          </a:p>
          <a:p>
            <a:pPr marL="45720" indent="-685800">
              <a:spcBef>
                <a:spcPts val="300"/>
              </a:spcBef>
              <a:spcAft>
                <a:spcPts val="300"/>
              </a:spcAft>
              <a:buFont typeface="+mj-lt"/>
              <a:buAutoNum type="arabicParenR" startAt="13"/>
            </a:pPr>
            <a:r>
              <a:rPr lang="en-US" b="1" dirty="0">
                <a:solidFill>
                  <a:srgbClr val="0057AD"/>
                </a:solidFill>
              </a:rPr>
              <a:t>Iron</a:t>
            </a:r>
          </a:p>
          <a:p>
            <a:pPr marL="342900" indent="-342900">
              <a:spcBef>
                <a:spcPts val="300"/>
              </a:spcBef>
              <a:spcAft>
                <a:spcPts val="300"/>
              </a:spcAft>
              <a:buFont typeface="Arial" panose="020B0604020202020204" pitchFamily="34" charset="0"/>
              <a:buChar char="•"/>
            </a:pPr>
            <a:r>
              <a:rPr lang="en-US" sz="2000" b="1" dirty="0"/>
              <a:t>Elements/Nutrients Forms Found in Nature:</a:t>
            </a:r>
            <a:endParaRPr lang="en-US" sz="2000" dirty="0"/>
          </a:p>
        </p:txBody>
      </p:sp>
      <p:graphicFrame>
        <p:nvGraphicFramePr>
          <p:cNvPr id="11" name="Object 5"/>
          <p:cNvGraphicFramePr>
            <a:graphicFrameLocks noChangeAspect="1"/>
          </p:cNvGraphicFramePr>
          <p:nvPr>
            <p:extLst>
              <p:ext uri="{D42A27DB-BD31-4B8C-83A1-F6EECF244321}">
                <p14:modId xmlns:p14="http://schemas.microsoft.com/office/powerpoint/2010/main" val="1250791903"/>
              </p:ext>
            </p:extLst>
          </p:nvPr>
        </p:nvGraphicFramePr>
        <p:xfrm>
          <a:off x="6293214" y="4161036"/>
          <a:ext cx="705715" cy="432955"/>
        </p:xfrm>
        <a:graphic>
          <a:graphicData uri="http://schemas.openxmlformats.org/presentationml/2006/ole">
            <mc:AlternateContent xmlns:mc="http://schemas.openxmlformats.org/markup-compatibility/2006">
              <mc:Choice xmlns:v="urn:schemas-microsoft-com:vml" Requires="v">
                <p:oleObj name="Equation" r:id="rId4" imgW="775801" imgH="476963" progId="Equation.DSMT4">
                  <p:embed/>
                </p:oleObj>
              </mc:Choice>
              <mc:Fallback>
                <p:oleObj name="Equation" r:id="rId4" imgW="775801" imgH="476963" progId="Equation.DSMT4">
                  <p:embed/>
                  <p:pic>
                    <p:nvPicPr>
                      <p:cNvPr id="11" name="Object 5"/>
                      <p:cNvPicPr/>
                      <p:nvPr/>
                    </p:nvPicPr>
                    <p:blipFill>
                      <a:blip r:embed="rId5"/>
                      <a:stretch>
                        <a:fillRect/>
                      </a:stretch>
                    </p:blipFill>
                    <p:spPr>
                      <a:xfrm>
                        <a:off x="6293214" y="4161036"/>
                        <a:ext cx="705715" cy="432955"/>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941BB1BA-746F-4033-A319-4C99939D24D4}"/>
              </a:ext>
            </a:extLst>
          </p:cNvPr>
          <p:cNvSpPr txBox="1"/>
          <p:nvPr/>
        </p:nvSpPr>
        <p:spPr>
          <a:xfrm>
            <a:off x="345179" y="4850374"/>
            <a:ext cx="5393770" cy="1708160"/>
          </a:xfrm>
          <a:prstGeom prst="rect">
            <a:avLst/>
          </a:prstGeom>
          <a:noFill/>
        </p:spPr>
        <p:txBody>
          <a:bodyPr wrap="square">
            <a:spAutoFit/>
          </a:bodyPr>
          <a:lstStyle/>
          <a:p>
            <a:pPr marL="342900" indent="-342900">
              <a:spcBef>
                <a:spcPts val="600"/>
              </a:spcBef>
              <a:buFont typeface="Arial" panose="020B0604020202020204" pitchFamily="34" charset="0"/>
              <a:buChar char="•"/>
            </a:pPr>
            <a:r>
              <a:rPr lang="en-US" sz="2000" b="1" dirty="0"/>
              <a:t>Sources/Reservoirs of Compounds:</a:t>
            </a:r>
          </a:p>
          <a:p>
            <a:pPr marL="640080" lvl="1"/>
            <a:r>
              <a:rPr lang="en-US" sz="2000" dirty="0"/>
              <a:t>Rocks, Soil</a:t>
            </a:r>
          </a:p>
          <a:p>
            <a:pPr marL="342900" indent="-342900">
              <a:spcBef>
                <a:spcPts val="600"/>
              </a:spcBef>
              <a:buFont typeface="Arial" panose="020B0604020202020204" pitchFamily="34" charset="0"/>
              <a:buChar char="•"/>
            </a:pPr>
            <a:r>
              <a:rPr lang="en-US" sz="2000" b="1" dirty="0"/>
              <a:t>Significance to cells: </a:t>
            </a:r>
            <a:r>
              <a:rPr lang="en-US" sz="2000" dirty="0"/>
              <a:t>Essential element for the structure of respiratory proteins (cytochromes)</a:t>
            </a:r>
          </a:p>
        </p:txBody>
      </p:sp>
      <p:pic>
        <p:nvPicPr>
          <p:cNvPr id="3" name="Picture 2"/>
          <p:cNvPicPr>
            <a:picLocks noChangeAspect="1"/>
          </p:cNvPicPr>
          <p:nvPr/>
        </p:nvPicPr>
        <p:blipFill>
          <a:blip r:embed="rId6"/>
          <a:stretch>
            <a:fillRect/>
          </a:stretch>
        </p:blipFill>
        <p:spPr>
          <a:xfrm>
            <a:off x="6093279" y="4636145"/>
            <a:ext cx="2707821" cy="1632657"/>
          </a:xfrm>
          <a:prstGeom prst="rect">
            <a:avLst/>
          </a:prstGeom>
        </p:spPr>
      </p:pic>
      <p:sp>
        <p:nvSpPr>
          <p:cNvPr id="4" name="TextBox 3"/>
          <p:cNvSpPr txBox="1"/>
          <p:nvPr/>
        </p:nvSpPr>
        <p:spPr>
          <a:xfrm flipH="1">
            <a:off x="6751537" y="6250757"/>
            <a:ext cx="1887366" cy="369332"/>
          </a:xfrm>
          <a:prstGeom prst="rect">
            <a:avLst/>
          </a:prstGeom>
          <a:noFill/>
        </p:spPr>
        <p:txBody>
          <a:bodyPr wrap="square" rtlCol="0">
            <a:spAutoFit/>
          </a:bodyPr>
          <a:lstStyle/>
          <a:p>
            <a:r>
              <a:rPr lang="en-US" dirty="0"/>
              <a:t>cytochromes</a:t>
            </a:r>
          </a:p>
        </p:txBody>
      </p:sp>
    </p:spTree>
    <p:extLst>
      <p:ext uri="{BB962C8B-B14F-4D97-AF65-F5344CB8AC3E}">
        <p14:creationId xmlns:p14="http://schemas.microsoft.com/office/powerpoint/2010/main" val="1901137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Essential Biological Nutrients</a:t>
            </a:r>
            <a:r>
              <a:rPr lang="en-US" altLang="en-US" sz="1200" dirty="0"/>
              <a:t> </a:t>
            </a:r>
            <a:r>
              <a:rPr lang="en-US" sz="1200" dirty="0"/>
              <a:t>16</a:t>
            </a:r>
            <a:endParaRPr lang="en-US" dirty="0"/>
          </a:p>
        </p:txBody>
      </p:sp>
      <p:sp>
        <p:nvSpPr>
          <p:cNvPr id="3" name="Content Placeholder 2"/>
          <p:cNvSpPr>
            <a:spLocks noGrp="1"/>
          </p:cNvSpPr>
          <p:nvPr>
            <p:ph sz="quarter" idx="11"/>
          </p:nvPr>
        </p:nvSpPr>
        <p:spPr>
          <a:xfrm>
            <a:off x="342900" y="1276709"/>
            <a:ext cx="8578362" cy="5031727"/>
          </a:xfrm>
        </p:spPr>
        <p:txBody>
          <a:bodyPr/>
          <a:lstStyle/>
          <a:p>
            <a:pPr marL="685800" indent="-685800">
              <a:spcBef>
                <a:spcPts val="600"/>
              </a:spcBef>
              <a:buFont typeface="+mj-lt"/>
              <a:buAutoNum type="arabicParenR" startAt="14"/>
            </a:pPr>
            <a:r>
              <a:rPr lang="en-US" b="1" dirty="0">
                <a:solidFill>
                  <a:srgbClr val="0057AD"/>
                </a:solidFill>
              </a:rPr>
              <a:t>Micronutrients</a:t>
            </a:r>
          </a:p>
          <a:p>
            <a:pPr marL="342900" indent="-342900">
              <a:spcBef>
                <a:spcPts val="600"/>
              </a:spcBef>
              <a:buFont typeface="Arial" panose="020B0604020202020204" pitchFamily="34" charset="0"/>
              <a:buChar char="•"/>
            </a:pPr>
            <a:r>
              <a:rPr lang="en-US" sz="2000" b="1" dirty="0"/>
              <a:t>Elements/Nutrients Forms Found in Nature: </a:t>
            </a:r>
            <a:r>
              <a:rPr lang="en-US" sz="2000" dirty="0"/>
              <a:t>copper, cobalt, nickel, molybdenum, manganese, iodine</a:t>
            </a:r>
          </a:p>
          <a:p>
            <a:pPr marL="342900" indent="-342900">
              <a:spcBef>
                <a:spcPts val="600"/>
              </a:spcBef>
              <a:buFont typeface="Arial" panose="020B0604020202020204" pitchFamily="34" charset="0"/>
              <a:buChar char="•"/>
            </a:pPr>
            <a:r>
              <a:rPr lang="en-US" sz="2000" b="1" dirty="0"/>
              <a:t>Sources/Reservoirs of Compounds:</a:t>
            </a:r>
          </a:p>
          <a:p>
            <a:pPr marL="640080" lvl="1"/>
            <a:r>
              <a:rPr lang="en-US" sz="2000" dirty="0"/>
              <a:t>Geologic sediments, soil</a:t>
            </a:r>
          </a:p>
        </p:txBody>
      </p:sp>
      <p:sp>
        <p:nvSpPr>
          <p:cNvPr id="4" name="Content Placeholder 2">
            <a:extLst>
              <a:ext uri="{FF2B5EF4-FFF2-40B4-BE49-F238E27FC236}">
                <a16:creationId xmlns:a16="http://schemas.microsoft.com/office/drawing/2014/main" id="{E84A45DE-E567-4697-B44F-01FE76CD6D85}"/>
              </a:ext>
            </a:extLst>
          </p:cNvPr>
          <p:cNvSpPr txBox="1">
            <a:spLocks/>
          </p:cNvSpPr>
          <p:nvPr/>
        </p:nvSpPr>
        <p:spPr>
          <a:xfrm>
            <a:off x="402981" y="3948889"/>
            <a:ext cx="8458200" cy="1342204"/>
          </a:xfrm>
          <a:prstGeom prst="rect">
            <a:avLst/>
          </a:prstGeom>
        </p:spPr>
        <p:txBody>
          <a:bodyPr vert="horz" lIns="91440" tIns="45720" rIns="91440" bIns="45720" rtlCol="0">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4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4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2"/>
                </a:solidFill>
                <a:latin typeface="+mn-lt"/>
                <a:ea typeface="+mn-ea"/>
                <a:cs typeface="+mn-cs"/>
              </a:defRPr>
            </a:lvl3pPr>
            <a:lvl4pPr marL="987552"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Bef>
                <a:spcPts val="600"/>
              </a:spcBef>
              <a:buFont typeface="Arial" panose="020B0604020202020204" pitchFamily="34" charset="0"/>
              <a:buChar char="•"/>
            </a:pPr>
            <a:r>
              <a:rPr lang="en-US" sz="2000" b="1" dirty="0"/>
              <a:t>Significance to cells: </a:t>
            </a:r>
            <a:r>
              <a:rPr lang="en-US" sz="2000" dirty="0"/>
              <a:t>Required in tiny amounts to serve as cofactors in specialized enzyme systems of some microbes but not all</a:t>
            </a:r>
          </a:p>
          <a:p>
            <a:pPr>
              <a:spcBef>
                <a:spcPts val="600"/>
              </a:spcBef>
            </a:pPr>
            <a:endParaRPr lang="en-US" dirty="0"/>
          </a:p>
        </p:txBody>
      </p:sp>
    </p:spTree>
    <p:extLst>
      <p:ext uri="{BB962C8B-B14F-4D97-AF65-F5344CB8AC3E}">
        <p14:creationId xmlns:p14="http://schemas.microsoft.com/office/powerpoint/2010/main" val="180270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Growth Factors: Essential Organic Nutrients</a:t>
            </a:r>
            <a:endParaRPr lang="en-US" dirty="0"/>
          </a:p>
        </p:txBody>
      </p:sp>
      <p:sp>
        <p:nvSpPr>
          <p:cNvPr id="3" name="Content Placeholder 2"/>
          <p:cNvSpPr>
            <a:spLocks noGrp="1"/>
          </p:cNvSpPr>
          <p:nvPr>
            <p:ph sz="quarter" idx="11"/>
          </p:nvPr>
        </p:nvSpPr>
        <p:spPr/>
        <p:txBody>
          <a:bodyPr/>
          <a:lstStyle/>
          <a:p>
            <a:pPr>
              <a:spcBef>
                <a:spcPts val="600"/>
              </a:spcBef>
            </a:pPr>
            <a:r>
              <a:rPr lang="en-US" altLang="en-US" dirty="0"/>
              <a:t>Organic compounds that cannot be synthesized by an organism because they lack the genetic and metabolic mechanisms to synthesize them</a:t>
            </a:r>
          </a:p>
          <a:p>
            <a:pPr>
              <a:spcBef>
                <a:spcPts val="600"/>
              </a:spcBef>
            </a:pPr>
            <a:r>
              <a:rPr lang="en-US" altLang="en-US" b="1" dirty="0"/>
              <a:t>Growth factors</a:t>
            </a:r>
            <a:r>
              <a:rPr lang="en-US" altLang="en-US" dirty="0"/>
              <a:t> must be provided as a nutrient for survival</a:t>
            </a:r>
          </a:p>
          <a:p>
            <a:pPr marL="347472" lvl="1">
              <a:spcBef>
                <a:spcPts val="600"/>
              </a:spcBef>
            </a:pPr>
            <a:r>
              <a:rPr lang="en-US" altLang="en-US" dirty="0"/>
              <a:t>Essential amino acids, vitamins</a:t>
            </a:r>
            <a:endParaRPr lang="en-US" dirty="0"/>
          </a:p>
        </p:txBody>
      </p:sp>
    </p:spTree>
    <p:extLst>
      <p:ext uri="{BB962C8B-B14F-4D97-AF65-F5344CB8AC3E}">
        <p14:creationId xmlns:p14="http://schemas.microsoft.com/office/powerpoint/2010/main" val="5296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Classification of Nutritional Types</a:t>
            </a:r>
            <a:endParaRPr lang="en-US" dirty="0"/>
          </a:p>
        </p:txBody>
      </p:sp>
      <p:sp>
        <p:nvSpPr>
          <p:cNvPr id="3" name="Content Placeholder 2"/>
          <p:cNvSpPr>
            <a:spLocks noGrp="1"/>
          </p:cNvSpPr>
          <p:nvPr>
            <p:ph sz="quarter" idx="11"/>
          </p:nvPr>
        </p:nvSpPr>
        <p:spPr/>
        <p:txBody>
          <a:bodyPr/>
          <a:lstStyle/>
          <a:p>
            <a:pPr>
              <a:spcBef>
                <a:spcPts val="600"/>
              </a:spcBef>
            </a:pPr>
            <a:r>
              <a:rPr lang="en-US" altLang="en-US" dirty="0"/>
              <a:t>Main determinants of nutritional type are:</a:t>
            </a:r>
          </a:p>
          <a:p>
            <a:pPr lvl="1"/>
            <a:r>
              <a:rPr lang="en-US" altLang="en-US" u="sng" dirty="0"/>
              <a:t>Carbon source</a:t>
            </a:r>
            <a:endParaRPr lang="en-US" dirty="0"/>
          </a:p>
          <a:p>
            <a:pPr lvl="2"/>
            <a:r>
              <a:rPr lang="en-US" altLang="en-US" dirty="0"/>
              <a:t>Heterotroph – from other organisms</a:t>
            </a:r>
            <a:endParaRPr lang="en-US" dirty="0"/>
          </a:p>
          <a:p>
            <a:pPr lvl="2"/>
            <a:r>
              <a:rPr lang="en-US" altLang="en-US" dirty="0"/>
              <a:t>Autotroph – uses CO</a:t>
            </a:r>
            <a:r>
              <a:rPr lang="en-US" altLang="en-US" baseline="-25000" dirty="0"/>
              <a:t>2</a:t>
            </a:r>
            <a:r>
              <a:rPr lang="en-US" altLang="en-US" dirty="0"/>
              <a:t> as source</a:t>
            </a:r>
            <a:endParaRPr lang="en-US" dirty="0"/>
          </a:p>
          <a:p>
            <a:pPr lvl="1"/>
            <a:r>
              <a:rPr lang="en-US" altLang="en-US" u="sng" dirty="0"/>
              <a:t>Energy source</a:t>
            </a:r>
            <a:endParaRPr lang="en-US" dirty="0"/>
          </a:p>
          <a:p>
            <a:pPr lvl="2"/>
            <a:r>
              <a:rPr lang="en-US" altLang="en-US" dirty="0" err="1"/>
              <a:t>Chemotroph</a:t>
            </a:r>
            <a:r>
              <a:rPr lang="en-US" altLang="en-US" dirty="0"/>
              <a:t> – gain energy from chemical compounds</a:t>
            </a:r>
            <a:endParaRPr lang="en-US" dirty="0"/>
          </a:p>
          <a:p>
            <a:pPr lvl="2"/>
            <a:r>
              <a:rPr lang="en-US" altLang="en-US" dirty="0"/>
              <a:t>Phototrophs – gain energy through photosynthesis</a:t>
            </a:r>
            <a:endParaRPr lang="en-US" dirty="0"/>
          </a:p>
        </p:txBody>
      </p:sp>
    </p:spTree>
    <p:extLst>
      <p:ext uri="{BB962C8B-B14F-4D97-AF65-F5344CB8AC3E}">
        <p14:creationId xmlns:p14="http://schemas.microsoft.com/office/powerpoint/2010/main" val="3514166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Sources of Essential Nutrients: </a:t>
            </a:r>
            <a:r>
              <a:rPr lang="en-US" altLang="en-US" i="1" dirty="0"/>
              <a:t>Carbon-Based</a:t>
            </a:r>
            <a:endParaRPr lang="en-US" dirty="0"/>
          </a:p>
        </p:txBody>
      </p:sp>
      <p:sp>
        <p:nvSpPr>
          <p:cNvPr id="3" name="Content Placeholder 2"/>
          <p:cNvSpPr>
            <a:spLocks noGrp="1"/>
          </p:cNvSpPr>
          <p:nvPr>
            <p:ph sz="quarter" idx="11"/>
          </p:nvPr>
        </p:nvSpPr>
        <p:spPr/>
        <p:txBody>
          <a:bodyPr/>
          <a:lstStyle/>
          <a:p>
            <a:pPr>
              <a:spcBef>
                <a:spcPts val="600"/>
              </a:spcBef>
            </a:pPr>
            <a:r>
              <a:rPr lang="en-US" altLang="en-US" dirty="0"/>
              <a:t>Sources of the element carbon defines two basic nutritional types:</a:t>
            </a:r>
          </a:p>
          <a:p>
            <a:pPr lvl="1">
              <a:spcBef>
                <a:spcPts val="600"/>
              </a:spcBef>
            </a:pPr>
            <a:r>
              <a:rPr lang="en-US" altLang="en-US" b="1" dirty="0"/>
              <a:t>Heterotroph</a:t>
            </a:r>
            <a:r>
              <a:rPr lang="en-US" altLang="en-US" dirty="0"/>
              <a:t> – must obtain carbon in an organic form such as proteins, carbohydrates, lipids, and nucleic acids made by other living organisms </a:t>
            </a:r>
          </a:p>
          <a:p>
            <a:pPr lvl="1">
              <a:spcBef>
                <a:spcPts val="600"/>
              </a:spcBef>
            </a:pPr>
            <a:r>
              <a:rPr lang="en-US" altLang="en-US" b="1" dirty="0"/>
              <a:t>Autotroph</a:t>
            </a:r>
            <a:r>
              <a:rPr lang="en-US" altLang="en-US" dirty="0"/>
              <a:t> – an organism that uses CO</a:t>
            </a:r>
            <a:r>
              <a:rPr lang="en-US" altLang="en-US" baseline="-25000" dirty="0"/>
              <a:t>2</a:t>
            </a:r>
            <a:r>
              <a:rPr lang="en-US" altLang="en-US" dirty="0"/>
              <a:t>, an inorganic gas, as its carbon source</a:t>
            </a:r>
          </a:p>
          <a:p>
            <a:pPr lvl="2">
              <a:spcBef>
                <a:spcPts val="600"/>
              </a:spcBef>
            </a:pPr>
            <a:r>
              <a:rPr lang="en-US" altLang="en-US" dirty="0"/>
              <a:t>Not nutritionally dependent on other living things</a:t>
            </a:r>
          </a:p>
        </p:txBody>
      </p:sp>
    </p:spTree>
    <p:extLst>
      <p:ext uri="{BB962C8B-B14F-4D97-AF65-F5344CB8AC3E}">
        <p14:creationId xmlns:p14="http://schemas.microsoft.com/office/powerpoint/2010/main" val="2088969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Autotrophs and Their Energy Sources</a:t>
            </a:r>
            <a:r>
              <a:rPr lang="en-US" altLang="en-US" sz="1200" dirty="0"/>
              <a:t> 1</a:t>
            </a:r>
            <a:endParaRPr lang="en-US" dirty="0"/>
          </a:p>
        </p:txBody>
      </p:sp>
      <p:sp>
        <p:nvSpPr>
          <p:cNvPr id="3" name="Content Placeholder 2"/>
          <p:cNvSpPr>
            <a:spLocks noGrp="1"/>
          </p:cNvSpPr>
          <p:nvPr>
            <p:ph sz="quarter" idx="11"/>
          </p:nvPr>
        </p:nvSpPr>
        <p:spPr/>
        <p:txBody>
          <a:bodyPr/>
          <a:lstStyle/>
          <a:p>
            <a:pPr>
              <a:spcBef>
                <a:spcPts val="600"/>
              </a:spcBef>
            </a:pPr>
            <a:r>
              <a:rPr lang="en-US" altLang="en-US" b="1" dirty="0"/>
              <a:t>Photoautotrophs</a:t>
            </a:r>
          </a:p>
          <a:p>
            <a:pPr lvl="1"/>
            <a:r>
              <a:rPr lang="en-US" altLang="en-US" b="1" dirty="0"/>
              <a:t>Oxygenic</a:t>
            </a:r>
            <a:r>
              <a:rPr lang="en-US" altLang="en-US" dirty="0"/>
              <a:t> photosynthesis (</a:t>
            </a:r>
            <a:r>
              <a:rPr lang="en-US" dirty="0"/>
              <a:t>plants, algae, and cyanobacteria)</a:t>
            </a:r>
          </a:p>
          <a:p>
            <a:pPr lvl="2"/>
            <a:r>
              <a:rPr lang="en-US" dirty="0"/>
              <a:t>Produce oxygen and use </a:t>
            </a:r>
            <a:r>
              <a:rPr lang="en-US" dirty="0">
                <a:solidFill>
                  <a:srgbClr val="FF0000"/>
                </a:solidFill>
              </a:rPr>
              <a:t>chlorophyll</a:t>
            </a:r>
            <a:r>
              <a:rPr lang="en-US" dirty="0"/>
              <a:t> as the primary pigment</a:t>
            </a:r>
          </a:p>
          <a:p>
            <a:pPr lvl="1"/>
            <a:r>
              <a:rPr lang="en-US" altLang="en-US" b="1" dirty="0" err="1"/>
              <a:t>Anoxygenic</a:t>
            </a:r>
            <a:r>
              <a:rPr lang="en-US" altLang="en-US" dirty="0"/>
              <a:t> photosynthesis (purple and green sulfur bacteria)</a:t>
            </a:r>
            <a:endParaRPr lang="en-US" dirty="0"/>
          </a:p>
          <a:p>
            <a:pPr lvl="2"/>
            <a:r>
              <a:rPr lang="en-US" altLang="en-US" dirty="0"/>
              <a:t>no oxygen but sulfur production, use </a:t>
            </a:r>
            <a:r>
              <a:rPr lang="en-US" altLang="en-US" dirty="0" err="1">
                <a:solidFill>
                  <a:srgbClr val="FF0000"/>
                </a:solidFill>
              </a:rPr>
              <a:t>b</a:t>
            </a:r>
            <a:r>
              <a:rPr lang="en-US" dirty="0" err="1">
                <a:solidFill>
                  <a:srgbClr val="FF0000"/>
                </a:solidFill>
              </a:rPr>
              <a:t>acteriochlorophyl</a:t>
            </a:r>
            <a:r>
              <a:rPr lang="en-US" dirty="0"/>
              <a:t> as pigment</a:t>
            </a:r>
          </a:p>
        </p:txBody>
      </p:sp>
    </p:spTree>
    <p:extLst>
      <p:ext uri="{BB962C8B-B14F-4D97-AF65-F5344CB8AC3E}">
        <p14:creationId xmlns:p14="http://schemas.microsoft.com/office/powerpoint/2010/main" val="524262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Autotrophs and Their Energy Sources</a:t>
            </a:r>
            <a:r>
              <a:rPr lang="en-US" altLang="en-US" sz="1200" dirty="0"/>
              <a:t> </a:t>
            </a:r>
            <a:endParaRPr lang="en-US" dirty="0"/>
          </a:p>
        </p:txBody>
      </p:sp>
      <p:sp>
        <p:nvSpPr>
          <p:cNvPr id="3" name="Content Placeholder 2"/>
          <p:cNvSpPr>
            <a:spLocks noGrp="1"/>
          </p:cNvSpPr>
          <p:nvPr>
            <p:ph sz="quarter" idx="11"/>
          </p:nvPr>
        </p:nvSpPr>
        <p:spPr>
          <a:xfrm>
            <a:off x="342900" y="1276709"/>
            <a:ext cx="8672146" cy="1752241"/>
          </a:xfrm>
        </p:spPr>
        <p:txBody>
          <a:bodyPr/>
          <a:lstStyle/>
          <a:p>
            <a:pPr>
              <a:spcBef>
                <a:spcPts val="600"/>
              </a:spcBef>
            </a:pPr>
            <a:r>
              <a:rPr lang="en-US" altLang="en-US" b="1" dirty="0"/>
              <a:t>Chemoautotrophs</a:t>
            </a:r>
            <a:r>
              <a:rPr lang="en-US" altLang="en-US" dirty="0"/>
              <a:t> (</a:t>
            </a:r>
            <a:r>
              <a:rPr lang="en-US" altLang="en-US" dirty="0" err="1"/>
              <a:t>lithoautotrophs</a:t>
            </a:r>
            <a:r>
              <a:rPr lang="en-US" altLang="en-US" dirty="0"/>
              <a:t>*) survive totally on inorganic substances</a:t>
            </a:r>
          </a:p>
          <a:p>
            <a:pPr lvl="1"/>
            <a:r>
              <a:rPr lang="en-US" altLang="en-US" b="1" dirty="0"/>
              <a:t>Methanogens</a:t>
            </a:r>
            <a:r>
              <a:rPr lang="en-US" altLang="en-US" dirty="0"/>
              <a:t>, a kind of chemoautotroph, produce methane gas under anaerobic conditions</a:t>
            </a:r>
            <a:endParaRPr lang="en-US" dirty="0"/>
          </a:p>
        </p:txBody>
      </p:sp>
      <p:pic>
        <p:nvPicPr>
          <p:cNvPr id="14" name="Picture 3" descr="Shown is Venenivibirio, an extremophilic bacterium that lives in acidic hot springs. "/>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28707" y="3368060"/>
            <a:ext cx="3732299" cy="2977792"/>
          </a:xfrm>
        </p:spPr>
      </p:pic>
      <p:sp>
        <p:nvSpPr>
          <p:cNvPr id="8" name="Text Placeholder 4"/>
          <p:cNvSpPr>
            <a:spLocks noGrp="1"/>
          </p:cNvSpPr>
          <p:nvPr>
            <p:ph type="body" sz="quarter" idx="30"/>
          </p:nvPr>
        </p:nvSpPr>
        <p:spPr/>
        <p:txBody>
          <a:bodyPr/>
          <a:lstStyle/>
          <a:p>
            <a:r>
              <a:rPr lang="en-US" dirty="0"/>
              <a:t>(a): Dr. Adrian </a:t>
            </a:r>
            <a:r>
              <a:rPr lang="en-US" dirty="0" err="1"/>
              <a:t>Hetzer</a:t>
            </a:r>
            <a:endParaRPr lang="en-US" dirty="0"/>
          </a:p>
        </p:txBody>
      </p:sp>
      <p:sp>
        <p:nvSpPr>
          <p:cNvPr id="4" name="Rectangle 3"/>
          <p:cNvSpPr/>
          <p:nvPr/>
        </p:nvSpPr>
        <p:spPr>
          <a:xfrm>
            <a:off x="4572000" y="5130413"/>
            <a:ext cx="4572000" cy="923330"/>
          </a:xfrm>
          <a:prstGeom prst="rect">
            <a:avLst/>
          </a:prstGeom>
        </p:spPr>
        <p:txBody>
          <a:bodyPr>
            <a:spAutoFit/>
          </a:bodyPr>
          <a:lstStyle/>
          <a:p>
            <a:r>
              <a:rPr lang="en-US" dirty="0"/>
              <a:t>*</a:t>
            </a:r>
            <a:r>
              <a:rPr lang="en-US" dirty="0" err="1"/>
              <a:t>Lithoautotrophs</a:t>
            </a:r>
            <a:r>
              <a:rPr lang="en-US" dirty="0"/>
              <a:t> - Organisms that use inorganic substrates like CO</a:t>
            </a:r>
            <a:r>
              <a:rPr lang="en-US" sz="1400" dirty="0"/>
              <a:t>2</a:t>
            </a:r>
            <a:r>
              <a:rPr lang="en-US" dirty="0"/>
              <a:t> and mineral to obtain energy.</a:t>
            </a:r>
          </a:p>
        </p:txBody>
      </p:sp>
    </p:spTree>
    <p:extLst>
      <p:ext uri="{BB962C8B-B14F-4D97-AF65-F5344CB8AC3E}">
        <p14:creationId xmlns:p14="http://schemas.microsoft.com/office/powerpoint/2010/main" val="12410482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Heterotrophs and Their Energy Sources</a:t>
            </a:r>
            <a:r>
              <a:rPr lang="en-US" altLang="en-US" sz="1200" dirty="0"/>
              <a:t> </a:t>
            </a:r>
            <a:endParaRPr lang="en-US" dirty="0"/>
          </a:p>
        </p:txBody>
      </p:sp>
      <p:sp>
        <p:nvSpPr>
          <p:cNvPr id="3" name="Content Placeholder 2"/>
          <p:cNvSpPr>
            <a:spLocks noGrp="1"/>
          </p:cNvSpPr>
          <p:nvPr>
            <p:ph sz="quarter" idx="11"/>
          </p:nvPr>
        </p:nvSpPr>
        <p:spPr/>
        <p:txBody>
          <a:bodyPr/>
          <a:lstStyle/>
          <a:p>
            <a:pPr marL="457200" indent="-457200">
              <a:spcBef>
                <a:spcPts val="400"/>
              </a:spcBef>
              <a:spcAft>
                <a:spcPts val="400"/>
              </a:spcAft>
            </a:pPr>
            <a:r>
              <a:rPr lang="en-US" altLang="en-US" dirty="0"/>
              <a:t>Majority are </a:t>
            </a:r>
            <a:r>
              <a:rPr lang="en-US" altLang="en-US" b="1" dirty="0" err="1"/>
              <a:t>chemoorganotrophs</a:t>
            </a:r>
            <a:r>
              <a:rPr lang="en-US" altLang="en-US" b="1" dirty="0"/>
              <a:t>: </a:t>
            </a:r>
          </a:p>
          <a:p>
            <a:pPr lvl="1">
              <a:spcBef>
                <a:spcPts val="400"/>
              </a:spcBef>
              <a:spcAft>
                <a:spcPts val="400"/>
              </a:spcAft>
            </a:pPr>
            <a:r>
              <a:rPr lang="en-US" dirty="0"/>
              <a:t>Derive carbon and energy from organic compounds, that is, a</a:t>
            </a:r>
            <a:r>
              <a:rPr lang="en-US" altLang="en-US" dirty="0"/>
              <a:t>erobic respiration</a:t>
            </a:r>
            <a:endParaRPr lang="en-US" dirty="0"/>
          </a:p>
          <a:p>
            <a:pPr marL="457200" indent="-457200">
              <a:spcBef>
                <a:spcPts val="400"/>
              </a:spcBef>
              <a:spcAft>
                <a:spcPts val="400"/>
              </a:spcAft>
            </a:pPr>
            <a:r>
              <a:rPr lang="en-US" altLang="en-US" dirty="0"/>
              <a:t>Two categories:</a:t>
            </a:r>
          </a:p>
          <a:p>
            <a:pPr lvl="1">
              <a:spcBef>
                <a:spcPts val="400"/>
              </a:spcBef>
              <a:spcAft>
                <a:spcPts val="400"/>
              </a:spcAft>
            </a:pPr>
            <a:r>
              <a:rPr lang="en-US" altLang="en-US" b="1" dirty="0"/>
              <a:t>Saprobes</a:t>
            </a:r>
            <a:r>
              <a:rPr lang="en-US" altLang="en-US" dirty="0"/>
              <a:t>: free-living microorganisms that feed on organic detritus from dead organisms</a:t>
            </a:r>
            <a:endParaRPr lang="en-US" dirty="0"/>
          </a:p>
          <a:p>
            <a:pPr lvl="2">
              <a:spcBef>
                <a:spcPts val="400"/>
              </a:spcBef>
              <a:spcAft>
                <a:spcPts val="400"/>
              </a:spcAft>
            </a:pPr>
            <a:r>
              <a:rPr lang="en-US" altLang="en-US" dirty="0"/>
              <a:t>Opportunistic pathogen</a:t>
            </a:r>
            <a:endParaRPr lang="en-US" dirty="0"/>
          </a:p>
          <a:p>
            <a:pPr lvl="2">
              <a:spcBef>
                <a:spcPts val="400"/>
              </a:spcBef>
              <a:spcAft>
                <a:spcPts val="400"/>
              </a:spcAft>
            </a:pPr>
            <a:r>
              <a:rPr lang="en-US" altLang="en-US" dirty="0"/>
              <a:t>Facultative parasite</a:t>
            </a:r>
            <a:endParaRPr lang="en-US" dirty="0"/>
          </a:p>
          <a:p>
            <a:pPr lvl="1">
              <a:spcBef>
                <a:spcPts val="400"/>
              </a:spcBef>
              <a:spcAft>
                <a:spcPts val="400"/>
              </a:spcAft>
            </a:pPr>
            <a:r>
              <a:rPr lang="en-US" altLang="en-US" b="1" dirty="0"/>
              <a:t>Parasites</a:t>
            </a:r>
            <a:r>
              <a:rPr lang="en-US" altLang="en-US" dirty="0"/>
              <a:t>: derive nutrients from host</a:t>
            </a:r>
            <a:endParaRPr lang="en-US" dirty="0"/>
          </a:p>
          <a:p>
            <a:pPr lvl="2">
              <a:spcBef>
                <a:spcPts val="400"/>
              </a:spcBef>
              <a:spcAft>
                <a:spcPts val="400"/>
              </a:spcAft>
            </a:pPr>
            <a:r>
              <a:rPr lang="en-US" altLang="en-US" sz="2400" dirty="0"/>
              <a:t>Pathogens</a:t>
            </a:r>
            <a:endParaRPr lang="en-US" sz="2400" dirty="0"/>
          </a:p>
          <a:p>
            <a:pPr lvl="2">
              <a:spcBef>
                <a:spcPts val="400"/>
              </a:spcBef>
              <a:spcAft>
                <a:spcPts val="400"/>
              </a:spcAft>
            </a:pPr>
            <a:r>
              <a:rPr lang="en-US" altLang="en-US" sz="2400" dirty="0"/>
              <a:t>Some are obligate parasites</a:t>
            </a:r>
            <a:endParaRPr lang="en-US" sz="2400" dirty="0"/>
          </a:p>
        </p:txBody>
      </p:sp>
    </p:spTree>
    <p:extLst>
      <p:ext uri="{BB962C8B-B14F-4D97-AF65-F5344CB8AC3E}">
        <p14:creationId xmlns:p14="http://schemas.microsoft.com/office/powerpoint/2010/main" val="6182556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Nutritional Categories</a:t>
            </a:r>
            <a:endParaRPr lang="en-US" dirty="0"/>
          </a:p>
        </p:txBody>
      </p:sp>
      <p:sp>
        <p:nvSpPr>
          <p:cNvPr id="3" name="Content Placeholder 2"/>
          <p:cNvSpPr>
            <a:spLocks noGrp="1"/>
          </p:cNvSpPr>
          <p:nvPr>
            <p:ph sz="quarter" idx="11"/>
          </p:nvPr>
        </p:nvSpPr>
        <p:spPr>
          <a:xfrm>
            <a:off x="271879" y="1063646"/>
            <a:ext cx="8458200" cy="792236"/>
          </a:xfrm>
        </p:spPr>
        <p:txBody>
          <a:bodyPr/>
          <a:lstStyle/>
          <a:p>
            <a:r>
              <a:rPr lang="en-US" b="1" dirty="0"/>
              <a:t>TABLE 7.2 </a:t>
            </a:r>
            <a:r>
              <a:rPr lang="en-US" altLang="en-US" dirty="0"/>
              <a:t>Nutritional Categories of Microbes by Energy and Carbon Source</a:t>
            </a:r>
            <a:endParaRPr lang="en-US" dirty="0"/>
          </a:p>
        </p:txBody>
      </p:sp>
      <p:graphicFrame>
        <p:nvGraphicFramePr>
          <p:cNvPr id="9" name="Table 3"/>
          <p:cNvGraphicFramePr>
            <a:graphicFrameLocks noGrp="1"/>
          </p:cNvGraphicFramePr>
          <p:nvPr>
            <p:ph sz="quarter" idx="14"/>
          </p:nvPr>
        </p:nvGraphicFramePr>
        <p:xfrm>
          <a:off x="470809" y="2174666"/>
          <a:ext cx="8528824" cy="4155440"/>
        </p:xfrm>
        <a:graphic>
          <a:graphicData uri="http://schemas.openxmlformats.org/drawingml/2006/table">
            <a:tbl>
              <a:tblPr firstRow="1" bandRow="1">
                <a:tableStyleId>{5C22544A-7EE6-4342-B048-85BDC9FD1C3A}</a:tableStyleId>
              </a:tblPr>
              <a:tblGrid>
                <a:gridCol w="2105891">
                  <a:extLst>
                    <a:ext uri="{9D8B030D-6E8A-4147-A177-3AD203B41FA5}">
                      <a16:colId xmlns:a16="http://schemas.microsoft.com/office/drawing/2014/main" val="20000"/>
                    </a:ext>
                  </a:extLst>
                </a:gridCol>
                <a:gridCol w="2921743">
                  <a:extLst>
                    <a:ext uri="{9D8B030D-6E8A-4147-A177-3AD203B41FA5}">
                      <a16:colId xmlns:a16="http://schemas.microsoft.com/office/drawing/2014/main" val="20001"/>
                    </a:ext>
                  </a:extLst>
                </a:gridCol>
                <a:gridCol w="3501190">
                  <a:extLst>
                    <a:ext uri="{9D8B030D-6E8A-4147-A177-3AD203B41FA5}">
                      <a16:colId xmlns:a16="http://schemas.microsoft.com/office/drawing/2014/main" val="20002"/>
                    </a:ext>
                  </a:extLst>
                </a:gridCol>
              </a:tblGrid>
              <a:tr h="370840">
                <a:tc>
                  <a:txBody>
                    <a:bodyPr/>
                    <a:lstStyle/>
                    <a:p>
                      <a:pPr algn="ctr"/>
                      <a:r>
                        <a:rPr lang="en-US" sz="1300" dirty="0">
                          <a:solidFill>
                            <a:schemeClr val="tx1"/>
                          </a:solidFill>
                        </a:rPr>
                        <a:t>Category / Carbon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300" dirty="0">
                          <a:solidFill>
                            <a:schemeClr val="tx1"/>
                          </a:solidFill>
                        </a:rPr>
                        <a:t>Energy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300" dirty="0">
                          <a:solidFill>
                            <a:schemeClr val="tx1"/>
                          </a:solidFill>
                        </a:rPr>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lgn="ctr"/>
                      <a:r>
                        <a:rPr lang="en-US" sz="1300" b="1" dirty="0">
                          <a:latin typeface="+mn-lt"/>
                          <a:ea typeface="Verdana" pitchFamily="34" charset="0"/>
                          <a:cs typeface="Verdana" pitchFamily="34" charset="0"/>
                        </a:rPr>
                        <a:t>Autotroph/CO</a:t>
                      </a:r>
                      <a:r>
                        <a:rPr lang="en-US" sz="1300" b="1" baseline="-25000" dirty="0">
                          <a:latin typeface="+mn-lt"/>
                          <a:ea typeface="Verdana" pitchFamily="34" charset="0"/>
                          <a:cs typeface="Verdana"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300" b="1" dirty="0">
                          <a:latin typeface="+mn-lt"/>
                          <a:ea typeface="Verdana" pitchFamily="34" charset="0"/>
                          <a:cs typeface="Verdana" pitchFamily="34" charset="0"/>
                        </a:rPr>
                        <a:t>Nonliving Environment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300" dirty="0">
                        <a:latin typeface="+mn-lt"/>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marL="228600" indent="-228600" algn="l" defTabSz="914400" rtl="0" eaLnBrk="1" latinLnBrk="0" hangingPunct="1"/>
                      <a:r>
                        <a:rPr lang="en-US" sz="1300" kern="1200" dirty="0">
                          <a:solidFill>
                            <a:schemeClr val="tx1"/>
                          </a:solidFill>
                          <a:latin typeface="+mn-lt"/>
                          <a:ea typeface="Verdana" pitchFamily="34" charset="0"/>
                          <a:cs typeface="Verdana" pitchFamily="34" charset="0"/>
                        </a:rPr>
                        <a:t>Photoautotroph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indent="-228600" algn="l" defTabSz="914400" rtl="0" eaLnBrk="1" latinLnBrk="0" hangingPunct="1"/>
                      <a:r>
                        <a:rPr lang="en-US" sz="1300" kern="1200" dirty="0">
                          <a:solidFill>
                            <a:schemeClr val="tx1"/>
                          </a:solidFill>
                          <a:latin typeface="+mn-lt"/>
                          <a:ea typeface="Verdana" pitchFamily="34" charset="0"/>
                          <a:cs typeface="Verdana" pitchFamily="34" charset="0"/>
                        </a:rPr>
                        <a:t>Sunlight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r>
                        <a:rPr lang="en-US" sz="1300" kern="1200" dirty="0">
                          <a:solidFill>
                            <a:schemeClr val="tx1"/>
                          </a:solidFill>
                          <a:latin typeface="+mn-lt"/>
                          <a:ea typeface="Verdana" pitchFamily="34" charset="0"/>
                          <a:cs typeface="Verdana" pitchFamily="34" charset="0"/>
                        </a:rPr>
                        <a:t>Photosynthetic organisms, such as algae, plants, cyanobacteria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marL="228600" indent="-228600" algn="l" defTabSz="914400" rtl="0" eaLnBrk="1" latinLnBrk="0" hangingPunct="1"/>
                      <a:r>
                        <a:rPr lang="en-US" sz="1300" kern="1200" dirty="0">
                          <a:solidFill>
                            <a:schemeClr val="tx1"/>
                          </a:solidFill>
                          <a:latin typeface="+mn-lt"/>
                          <a:ea typeface="Verdana" pitchFamily="34" charset="0"/>
                          <a:cs typeface="Verdana" pitchFamily="34" charset="0"/>
                        </a:rPr>
                        <a:t>Chemoautotroph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indent="-228600" algn="l" defTabSz="914400" rtl="0" eaLnBrk="1" latinLnBrk="0" hangingPunct="1"/>
                      <a:r>
                        <a:rPr lang="en-US" sz="1300" kern="1200" dirty="0">
                          <a:solidFill>
                            <a:schemeClr val="tx1"/>
                          </a:solidFill>
                          <a:latin typeface="+mn-lt"/>
                          <a:ea typeface="Verdana" pitchFamily="34" charset="0"/>
                          <a:cs typeface="Verdana" pitchFamily="34" charset="0"/>
                        </a:rPr>
                        <a:t>Simple inorganic chemicals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r>
                        <a:rPr lang="en-US" sz="1300" kern="1200" dirty="0">
                          <a:solidFill>
                            <a:schemeClr val="tx1"/>
                          </a:solidFill>
                          <a:latin typeface="+mn-lt"/>
                          <a:ea typeface="Verdana" pitchFamily="34" charset="0"/>
                          <a:cs typeface="Verdana" pitchFamily="34" charset="0"/>
                        </a:rPr>
                        <a:t>Only certain bacteria and </a:t>
                      </a:r>
                      <a:r>
                        <a:rPr lang="en-US" sz="1300" kern="1200" dirty="0" err="1">
                          <a:solidFill>
                            <a:schemeClr val="tx1"/>
                          </a:solidFill>
                          <a:latin typeface="+mn-lt"/>
                          <a:ea typeface="Verdana" pitchFamily="34" charset="0"/>
                          <a:cs typeface="Verdana" pitchFamily="34" charset="0"/>
                        </a:rPr>
                        <a:t>archaea</a:t>
                      </a:r>
                      <a:r>
                        <a:rPr lang="en-US" sz="1300" kern="1200" dirty="0">
                          <a:solidFill>
                            <a:schemeClr val="tx1"/>
                          </a:solidFill>
                          <a:latin typeface="+mn-lt"/>
                          <a:ea typeface="Verdana" pitchFamily="34" charset="0"/>
                          <a:cs typeface="Verdana" pitchFamily="34" charset="0"/>
                        </a:rPr>
                        <a:t>, such as methanogens and deep-sea vent bacteria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1300" b="1" dirty="0">
                          <a:latin typeface="+mn-lt"/>
                          <a:ea typeface="Verdana" pitchFamily="34" charset="0"/>
                          <a:cs typeface="Verdana" pitchFamily="34" charset="0"/>
                        </a:rPr>
                        <a:t>Heterotroph/ Organic Carbon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300" b="1" dirty="0">
                          <a:latin typeface="+mn-lt"/>
                          <a:ea typeface="Verdana" pitchFamily="34" charset="0"/>
                          <a:cs typeface="Verdana" pitchFamily="34" charset="0"/>
                        </a:rPr>
                        <a:t>Other Organisms</a:t>
                      </a:r>
                    </a:p>
                    <a:p>
                      <a:pPr algn="ctr"/>
                      <a:r>
                        <a:rPr lang="en-US" sz="1300" b="1" dirty="0">
                          <a:latin typeface="+mn-lt"/>
                          <a:ea typeface="Verdana" pitchFamily="34" charset="0"/>
                          <a:cs typeface="Verdana" pitchFamily="34" charset="0"/>
                        </a:rPr>
                        <a:t>or Sunlight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300" dirty="0">
                        <a:latin typeface="+mn-lt"/>
                        <a:ea typeface="Verdana" pitchFamily="34" charset="0"/>
                        <a:cs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marL="228600" indent="-228600" algn="l" defTabSz="914400" rtl="0" eaLnBrk="1" latinLnBrk="0" hangingPunct="1"/>
                      <a:r>
                        <a:rPr lang="en-US" sz="1300" kern="1200" dirty="0" err="1">
                          <a:solidFill>
                            <a:schemeClr val="tx1"/>
                          </a:solidFill>
                          <a:latin typeface="+mn-lt"/>
                          <a:ea typeface="Verdana" pitchFamily="34" charset="0"/>
                          <a:cs typeface="Verdana" pitchFamily="34" charset="0"/>
                        </a:rPr>
                        <a:t>Chemoheterotroph</a:t>
                      </a:r>
                      <a:endParaRPr lang="en-US" sz="1300" kern="1200" dirty="0">
                        <a:solidFill>
                          <a:schemeClr val="tx1"/>
                        </a:solidFill>
                        <a:latin typeface="+mn-lt"/>
                        <a:ea typeface="Verdana" pitchFamily="34" charset="0"/>
                        <a:cs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r>
                        <a:rPr lang="en-US" sz="1300" kern="1200" dirty="0">
                          <a:solidFill>
                            <a:schemeClr val="tx1"/>
                          </a:solidFill>
                          <a:latin typeface="+mn-lt"/>
                          <a:ea typeface="Verdana" pitchFamily="34" charset="0"/>
                          <a:cs typeface="Verdana" pitchFamily="34" charset="0"/>
                        </a:rPr>
                        <a:t>Metabolic conversion of the nutrients from other organisms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Protozoa, fungi, many bacteria, animals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pPr marL="228600" indent="-228600" algn="l" defTabSz="914400" rtl="0" eaLnBrk="1" latinLnBrk="0" hangingPunct="1">
                        <a:buFont typeface="+mj-lt"/>
                        <a:buAutoNum type="arabicPeriod"/>
                      </a:pPr>
                      <a:r>
                        <a:rPr lang="en-US" sz="1300" kern="1200" dirty="0">
                          <a:solidFill>
                            <a:schemeClr val="tx1"/>
                          </a:solidFill>
                          <a:latin typeface="+mn-lt"/>
                          <a:ea typeface="Verdana" pitchFamily="34" charset="0"/>
                          <a:cs typeface="Verdana" pitchFamily="34" charset="0"/>
                        </a:rPr>
                        <a:t>Saprobe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indent="-228600" algn="l" defTabSz="914400" rtl="0" eaLnBrk="1" latinLnBrk="0" hangingPunct="1"/>
                      <a:r>
                        <a:rPr lang="en-US" sz="1300" kern="1200" dirty="0">
                          <a:solidFill>
                            <a:schemeClr val="tx1"/>
                          </a:solidFill>
                          <a:latin typeface="+mn-lt"/>
                          <a:ea typeface="Verdana" pitchFamily="34" charset="0"/>
                          <a:cs typeface="Verdana" pitchFamily="34" charset="0"/>
                        </a:rPr>
                        <a:t>Metabolize the organic matter</a:t>
                      </a:r>
                    </a:p>
                    <a:p>
                      <a:pPr marL="228600" indent="-228600" algn="l" defTabSz="914400" rtl="0" eaLnBrk="1" latinLnBrk="0" hangingPunct="1"/>
                      <a:r>
                        <a:rPr lang="en-US" sz="1300" kern="1200" dirty="0">
                          <a:solidFill>
                            <a:schemeClr val="tx1"/>
                          </a:solidFill>
                          <a:latin typeface="+mn-lt"/>
                          <a:ea typeface="Verdana" pitchFamily="34" charset="0"/>
                          <a:cs typeface="Verdana" pitchFamily="34" charset="0"/>
                        </a:rPr>
                        <a:t>from dead organisms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228600" algn="l" defTabSz="914400" rtl="0" eaLnBrk="1" latinLnBrk="0" hangingPunct="1"/>
                      <a:r>
                        <a:rPr lang="pt-BR" sz="1300" kern="1200" dirty="0">
                          <a:solidFill>
                            <a:schemeClr val="tx1"/>
                          </a:solidFill>
                          <a:latin typeface="+mn-lt"/>
                          <a:ea typeface="Verdana" pitchFamily="34" charset="0"/>
                          <a:cs typeface="Verdana" pitchFamily="34" charset="0"/>
                        </a:rPr>
                        <a:t>Fungi, bacteria, some protozoa (decomposers)</a:t>
                      </a:r>
                      <a:endParaRPr lang="en-US" sz="1300" kern="1200" dirty="0">
                        <a:solidFill>
                          <a:schemeClr val="tx1"/>
                        </a:solidFill>
                        <a:latin typeface="+mn-lt"/>
                        <a:ea typeface="Verdana" pitchFamily="34" charset="0"/>
                        <a:cs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p>
                      <a:pPr marL="228600" indent="-228600" algn="l" defTabSz="914400" rtl="0" eaLnBrk="1" latinLnBrk="0" hangingPunct="1">
                        <a:buFont typeface="+mj-lt"/>
                        <a:buAutoNum type="arabicPeriod" startAt="2"/>
                      </a:pPr>
                      <a:r>
                        <a:rPr lang="en-US" sz="1300" kern="1200" dirty="0">
                          <a:solidFill>
                            <a:schemeClr val="tx1"/>
                          </a:solidFill>
                          <a:latin typeface="+mn-lt"/>
                          <a:ea typeface="Verdana" pitchFamily="34" charset="0"/>
                          <a:cs typeface="Verdana" pitchFamily="34" charset="0"/>
                        </a:rPr>
                        <a:t>Symbiotic microbes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r>
                        <a:rPr lang="en-US" sz="1300" kern="1200" dirty="0">
                          <a:solidFill>
                            <a:schemeClr val="tx1"/>
                          </a:solidFill>
                          <a:latin typeface="+mn-lt"/>
                          <a:ea typeface="Verdana" pitchFamily="34" charset="0"/>
                          <a:cs typeface="Verdana" pitchFamily="34" charset="0"/>
                        </a:rPr>
                        <a:t>Obtain organic matter from living organisms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indent="-228600" algn="l" defTabSz="914400" rtl="0" eaLnBrk="1" latinLnBrk="0" hangingPunct="1"/>
                      <a:r>
                        <a:rPr lang="en-US" sz="1300" kern="1200" dirty="0">
                          <a:solidFill>
                            <a:schemeClr val="tx1"/>
                          </a:solidFill>
                          <a:latin typeface="+mn-lt"/>
                          <a:ea typeface="Verdana" pitchFamily="34" charset="0"/>
                          <a:cs typeface="Verdana" pitchFamily="34" charset="0"/>
                        </a:rPr>
                        <a:t>Parasites, commensals, mutualistic</a:t>
                      </a:r>
                    </a:p>
                    <a:p>
                      <a:pPr marL="228600" indent="-228600" algn="l" defTabSz="914400" rtl="0" eaLnBrk="1" latinLnBrk="0" hangingPunct="1"/>
                      <a:r>
                        <a:rPr lang="en-US" sz="1300" kern="1200" dirty="0">
                          <a:solidFill>
                            <a:schemeClr val="tx1"/>
                          </a:solidFill>
                          <a:latin typeface="+mn-lt"/>
                          <a:ea typeface="Verdana" pitchFamily="34" charset="0"/>
                          <a:cs typeface="Verdana" pitchFamily="34" charset="0"/>
                        </a:rPr>
                        <a:t>microbes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0840">
                <a:tc>
                  <a:txBody>
                    <a:bodyPr/>
                    <a:lstStyle/>
                    <a:p>
                      <a:pPr marL="228600" indent="-228600" algn="l" defTabSz="914400" rtl="0" eaLnBrk="1" latinLnBrk="0" hangingPunct="1"/>
                      <a:r>
                        <a:rPr lang="en-US" sz="1300" kern="1200" dirty="0" err="1">
                          <a:solidFill>
                            <a:schemeClr val="tx1"/>
                          </a:solidFill>
                          <a:latin typeface="+mn-lt"/>
                          <a:ea typeface="Verdana" pitchFamily="34" charset="0"/>
                          <a:cs typeface="Verdana" pitchFamily="34" charset="0"/>
                        </a:rPr>
                        <a:t>Photoheterotroph</a:t>
                      </a:r>
                      <a:endParaRPr lang="en-US" sz="1300" kern="1200" dirty="0">
                        <a:solidFill>
                          <a:schemeClr val="tx1"/>
                        </a:solidFill>
                        <a:latin typeface="+mn-lt"/>
                        <a:ea typeface="Verdana" pitchFamily="34" charset="0"/>
                        <a:cs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indent="-228600" algn="l" defTabSz="914400" rtl="0" eaLnBrk="1" latinLnBrk="0" hangingPunct="1"/>
                      <a:r>
                        <a:rPr lang="en-US" sz="1300" kern="1200" dirty="0">
                          <a:solidFill>
                            <a:schemeClr val="tx1"/>
                          </a:solidFill>
                          <a:latin typeface="+mn-lt"/>
                          <a:ea typeface="Verdana" pitchFamily="34" charset="0"/>
                          <a:cs typeface="Verdana" pitchFamily="34" charset="0"/>
                        </a:rPr>
                        <a:t>Sunlight or organic matter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indent="-228600" algn="l" defTabSz="914400" rtl="0" eaLnBrk="1" latinLnBrk="0" hangingPunct="1"/>
                      <a:r>
                        <a:rPr lang="en-US" sz="1300" kern="1200" dirty="0">
                          <a:solidFill>
                            <a:schemeClr val="tx1"/>
                          </a:solidFill>
                          <a:latin typeface="+mn-lt"/>
                          <a:ea typeface="Verdana" pitchFamily="34" charset="0"/>
                          <a:cs typeface="Verdana" pitchFamily="34" charset="0"/>
                        </a:rPr>
                        <a:t>Purple and green photosynthetic bacteria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96606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Heterotrophs and Their Energy Sources</a:t>
            </a:r>
            <a:r>
              <a:rPr lang="en-US" altLang="en-US" sz="1200" dirty="0"/>
              <a:t> </a:t>
            </a:r>
            <a:endParaRPr lang="en-US" dirty="0"/>
          </a:p>
        </p:txBody>
      </p:sp>
      <p:sp>
        <p:nvSpPr>
          <p:cNvPr id="8" name="Content Placeholder 2"/>
          <p:cNvSpPr>
            <a:spLocks noGrp="1"/>
          </p:cNvSpPr>
          <p:nvPr>
            <p:ph sz="quarter" idx="11"/>
          </p:nvPr>
        </p:nvSpPr>
        <p:spPr>
          <a:xfrm>
            <a:off x="342900" y="1276709"/>
            <a:ext cx="8458200" cy="904515"/>
          </a:xfrm>
        </p:spPr>
        <p:txBody>
          <a:bodyPr/>
          <a:lstStyle/>
          <a:p>
            <a:r>
              <a:rPr lang="en-US" dirty="0"/>
              <a:t>The figure of “</a:t>
            </a:r>
            <a:r>
              <a:rPr lang="en-US" altLang="en-US" dirty="0"/>
              <a:t>Heterotrophs and Their Energy Sources</a:t>
            </a:r>
            <a:r>
              <a:rPr lang="en-US" dirty="0"/>
              <a:t>.”</a:t>
            </a:r>
          </a:p>
          <a:p>
            <a:pPr marL="514350" indent="-514350">
              <a:buFont typeface="+mj-lt"/>
              <a:buAutoNum type="alphaLcParenR"/>
            </a:pPr>
            <a:r>
              <a:rPr lang="en-US" dirty="0"/>
              <a:t>Cell wall acts as a barrier.</a:t>
            </a:r>
          </a:p>
        </p:txBody>
      </p:sp>
      <p:pic>
        <p:nvPicPr>
          <p:cNvPr id="17" name="Picture 3" descr="This is drawing of a walled cell, which is inflexible and cannot engulf large pieces of organic debris."/>
          <p:cNvPicPr>
            <a:picLocks noGrp="1" noChangeAspect="1"/>
          </p:cNvPicPr>
          <p:nvPr>
            <p:ph sz="quarter" idx="14"/>
          </p:nvPr>
        </p:nvPicPr>
        <p:blipFill rotWithShape="1">
          <a:blip r:embed="rId2">
            <a:extLst>
              <a:ext uri="{28A0092B-C50C-407E-A947-70E740481C1C}">
                <a14:useLocalDpi xmlns:a14="http://schemas.microsoft.com/office/drawing/2010/main" val="0"/>
              </a:ext>
            </a:extLst>
          </a:blip>
          <a:srcRect t="2498" b="75305"/>
          <a:stretch/>
        </p:blipFill>
        <p:spPr>
          <a:xfrm>
            <a:off x="2996430" y="2429301"/>
            <a:ext cx="3151140" cy="1613104"/>
          </a:xfrm>
        </p:spPr>
      </p:pic>
      <p:sp>
        <p:nvSpPr>
          <p:cNvPr id="10" name="Content Placeholder 4"/>
          <p:cNvSpPr>
            <a:spLocks noGrp="1"/>
          </p:cNvSpPr>
          <p:nvPr>
            <p:ph sz="quarter" idx="15"/>
          </p:nvPr>
        </p:nvSpPr>
        <p:spPr>
          <a:xfrm>
            <a:off x="342900" y="4120144"/>
            <a:ext cx="8458200" cy="456607"/>
          </a:xfrm>
        </p:spPr>
        <p:txBody>
          <a:bodyPr/>
          <a:lstStyle/>
          <a:p>
            <a:pPr marL="514350" indent="-514350">
              <a:buFont typeface="+mj-lt"/>
              <a:buAutoNum type="alphaLcParenR" startAt="2"/>
            </a:pPr>
            <a:r>
              <a:rPr lang="en-US" dirty="0"/>
              <a:t>Enzymes are transported outside the wall.</a:t>
            </a:r>
          </a:p>
        </p:txBody>
      </p:sp>
      <p:pic>
        <p:nvPicPr>
          <p:cNvPr id="21" name="Picture 5" descr="This is drawing of a walled cell, which is inflexible and cannot engulf large pieces of organic debris."/>
          <p:cNvPicPr>
            <a:picLocks noGrp="1" noChangeAspect="1"/>
          </p:cNvPicPr>
          <p:nvPr>
            <p:ph sz="quarter" idx="16"/>
          </p:nvPr>
        </p:nvPicPr>
        <p:blipFill rotWithShape="1">
          <a:blip r:embed="rId2">
            <a:extLst>
              <a:ext uri="{28A0092B-C50C-407E-A947-70E740481C1C}">
                <a14:useLocalDpi xmlns:a14="http://schemas.microsoft.com/office/drawing/2010/main" val="0"/>
              </a:ext>
            </a:extLst>
          </a:blip>
          <a:srcRect t="27675" b="51014"/>
          <a:stretch/>
        </p:blipFill>
        <p:spPr>
          <a:xfrm>
            <a:off x="2994158" y="4631044"/>
            <a:ext cx="3155685" cy="1551001"/>
          </a:xfrm>
          <a:prstGeom prst="rect">
            <a:avLst/>
          </a:prstGeom>
        </p:spPr>
      </p:pic>
    </p:spTree>
    <p:extLst>
      <p:ext uri="{BB962C8B-B14F-4D97-AF65-F5344CB8AC3E}">
        <p14:creationId xmlns:p14="http://schemas.microsoft.com/office/powerpoint/2010/main" val="413719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Heterotrophs and Their Energy Sources</a:t>
            </a:r>
            <a:r>
              <a:rPr lang="en-US" altLang="en-US" sz="1200" dirty="0"/>
              <a:t> </a:t>
            </a:r>
            <a:endParaRPr lang="en-US" dirty="0"/>
          </a:p>
        </p:txBody>
      </p:sp>
      <p:sp>
        <p:nvSpPr>
          <p:cNvPr id="8" name="Content Placeholder 2"/>
          <p:cNvSpPr>
            <a:spLocks noGrp="1"/>
          </p:cNvSpPr>
          <p:nvPr>
            <p:ph sz="quarter" idx="11"/>
          </p:nvPr>
        </p:nvSpPr>
        <p:spPr>
          <a:xfrm>
            <a:off x="342900" y="1276709"/>
            <a:ext cx="8458200" cy="1295041"/>
          </a:xfrm>
        </p:spPr>
        <p:txBody>
          <a:bodyPr/>
          <a:lstStyle/>
          <a:p>
            <a:r>
              <a:rPr lang="en-US" dirty="0">
                <a:solidFill>
                  <a:prstClr val="black"/>
                </a:solidFill>
              </a:rPr>
              <a:t>The figure of “</a:t>
            </a:r>
            <a:r>
              <a:rPr lang="en-US" altLang="en-US" dirty="0">
                <a:solidFill>
                  <a:prstClr val="black"/>
                </a:solidFill>
              </a:rPr>
              <a:t>Heterotrophs and Their Energy Sources</a:t>
            </a:r>
            <a:r>
              <a:rPr lang="en-US" dirty="0">
                <a:solidFill>
                  <a:prstClr val="black"/>
                </a:solidFill>
              </a:rPr>
              <a:t>” continues on this slide.</a:t>
            </a:r>
            <a:endParaRPr lang="en-US" dirty="0"/>
          </a:p>
          <a:p>
            <a:pPr marL="514350" indent="-514350">
              <a:buFont typeface="+mj-lt"/>
              <a:buAutoNum type="alphaLcParenR" startAt="3"/>
            </a:pPr>
            <a:r>
              <a:rPr lang="en-US" dirty="0"/>
              <a:t>Enzymes hydrolyze the bonds on nutrients.</a:t>
            </a:r>
          </a:p>
        </p:txBody>
      </p:sp>
      <p:pic>
        <p:nvPicPr>
          <p:cNvPr id="22" name="Picture 3" descr="This is drawing of a walled cell, which is inflexible and cannot engulf large pieces of organic debris."/>
          <p:cNvPicPr>
            <a:picLocks noGrp="1" noChangeAspect="1"/>
          </p:cNvPicPr>
          <p:nvPr>
            <p:ph sz="quarter" idx="14"/>
          </p:nvPr>
        </p:nvPicPr>
        <p:blipFill rotWithShape="1">
          <a:blip r:embed="rId2">
            <a:extLst>
              <a:ext uri="{28A0092B-C50C-407E-A947-70E740481C1C}">
                <a14:useLocalDpi xmlns:a14="http://schemas.microsoft.com/office/drawing/2010/main" val="0"/>
              </a:ext>
            </a:extLst>
          </a:blip>
          <a:srcRect t="53298" b="25493"/>
          <a:stretch/>
        </p:blipFill>
        <p:spPr>
          <a:xfrm>
            <a:off x="3274281" y="2784143"/>
            <a:ext cx="2595439" cy="1269447"/>
          </a:xfrm>
        </p:spPr>
      </p:pic>
      <p:sp>
        <p:nvSpPr>
          <p:cNvPr id="10" name="Content Placeholder 4"/>
          <p:cNvSpPr>
            <a:spLocks noGrp="1"/>
          </p:cNvSpPr>
          <p:nvPr>
            <p:ph sz="quarter" idx="15"/>
          </p:nvPr>
        </p:nvSpPr>
        <p:spPr>
          <a:xfrm>
            <a:off x="342900" y="4037141"/>
            <a:ext cx="8458200" cy="808362"/>
          </a:xfrm>
        </p:spPr>
        <p:txBody>
          <a:bodyPr/>
          <a:lstStyle/>
          <a:p>
            <a:pPr marL="514350" indent="-514350">
              <a:buFont typeface="+mj-lt"/>
              <a:buAutoNum type="alphaLcParenR" startAt="4"/>
            </a:pPr>
            <a:r>
              <a:rPr lang="en-US" dirty="0"/>
              <a:t>Smaller molecules are transported across the wall and cell membrane into the cytoplasm.</a:t>
            </a:r>
          </a:p>
        </p:txBody>
      </p:sp>
      <p:pic>
        <p:nvPicPr>
          <p:cNvPr id="19" name="Picture 5" descr="This is drawing of a walled cell, which is inflexible and cannot engulf large pieces of organic debris."/>
          <p:cNvPicPr>
            <a:picLocks noGrp="1" noChangeAspect="1"/>
          </p:cNvPicPr>
          <p:nvPr>
            <p:ph sz="quarter" idx="16"/>
          </p:nvPr>
        </p:nvPicPr>
        <p:blipFill rotWithShape="1">
          <a:blip r:embed="rId2">
            <a:extLst>
              <a:ext uri="{28A0092B-C50C-407E-A947-70E740481C1C}">
                <a14:useLocalDpi xmlns:a14="http://schemas.microsoft.com/office/drawing/2010/main" val="0"/>
              </a:ext>
            </a:extLst>
          </a:blip>
          <a:srcRect t="79090" b="-1"/>
          <a:stretch/>
        </p:blipFill>
        <p:spPr>
          <a:xfrm>
            <a:off x="3236337" y="5182300"/>
            <a:ext cx="2671327" cy="1288175"/>
          </a:xfrm>
        </p:spPr>
      </p:pic>
    </p:spTree>
    <p:extLst>
      <p:ext uri="{BB962C8B-B14F-4D97-AF65-F5344CB8AC3E}">
        <p14:creationId xmlns:p14="http://schemas.microsoft.com/office/powerpoint/2010/main" val="2058694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Transport: Movement of Substances Across the Cell Membrane</a:t>
            </a:r>
            <a:r>
              <a:rPr lang="en-US" altLang="en-US" sz="1200" dirty="0"/>
              <a:t> </a:t>
            </a:r>
            <a:endParaRPr lang="en-US" dirty="0"/>
          </a:p>
        </p:txBody>
      </p:sp>
      <p:sp>
        <p:nvSpPr>
          <p:cNvPr id="3" name="Content Placeholder 2"/>
          <p:cNvSpPr>
            <a:spLocks noGrp="1"/>
          </p:cNvSpPr>
          <p:nvPr>
            <p:ph sz="quarter" idx="11"/>
          </p:nvPr>
        </p:nvSpPr>
        <p:spPr/>
        <p:txBody>
          <a:bodyPr/>
          <a:lstStyle/>
          <a:p>
            <a:pPr>
              <a:spcBef>
                <a:spcPts val="600"/>
              </a:spcBef>
            </a:pPr>
            <a:r>
              <a:rPr lang="en-US" altLang="en-US" b="1" dirty="0"/>
              <a:t>Passive transport </a:t>
            </a:r>
            <a:r>
              <a:rPr lang="en-US" altLang="en-US" dirty="0"/>
              <a:t>– does not require energy; substances exist in a gradient and move from areas of higher concentration toward areas of lower concentration</a:t>
            </a:r>
          </a:p>
          <a:p>
            <a:pPr lvl="1"/>
            <a:r>
              <a:rPr lang="en-US" altLang="en-US" dirty="0"/>
              <a:t>Diffusion</a:t>
            </a:r>
            <a:endParaRPr lang="en-US" dirty="0"/>
          </a:p>
          <a:p>
            <a:pPr lvl="1"/>
            <a:r>
              <a:rPr lang="en-US" altLang="en-US" dirty="0"/>
              <a:t>Osmosis – diffusion of water</a:t>
            </a:r>
            <a:endParaRPr lang="en-US" dirty="0"/>
          </a:p>
          <a:p>
            <a:pPr lvl="1"/>
            <a:r>
              <a:rPr lang="en-US" altLang="en-US" dirty="0"/>
              <a:t>Facilitated diffusion – solutes that require a carrier</a:t>
            </a:r>
            <a:endParaRPr lang="en-US" dirty="0"/>
          </a:p>
        </p:txBody>
      </p:sp>
    </p:spTree>
    <p:extLst>
      <p:ext uri="{BB962C8B-B14F-4D97-AF65-F5344CB8AC3E}">
        <p14:creationId xmlns:p14="http://schemas.microsoft.com/office/powerpoint/2010/main" val="3370853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Transport: Movement of Substances Across the Cell Membrane</a:t>
            </a:r>
            <a:r>
              <a:rPr lang="en-US" altLang="en-US" sz="1200" dirty="0"/>
              <a:t> </a:t>
            </a:r>
            <a:endParaRPr lang="en-US" dirty="0"/>
          </a:p>
        </p:txBody>
      </p:sp>
      <p:sp>
        <p:nvSpPr>
          <p:cNvPr id="3" name="Content Placeholder 2"/>
          <p:cNvSpPr>
            <a:spLocks noGrp="1"/>
          </p:cNvSpPr>
          <p:nvPr>
            <p:ph sz="quarter" idx="11"/>
          </p:nvPr>
        </p:nvSpPr>
        <p:spPr/>
        <p:txBody>
          <a:bodyPr/>
          <a:lstStyle/>
          <a:p>
            <a:pPr>
              <a:spcBef>
                <a:spcPts val="600"/>
              </a:spcBef>
            </a:pPr>
            <a:r>
              <a:rPr lang="en-US" altLang="en-US" b="1" dirty="0"/>
              <a:t>Active transport </a:t>
            </a:r>
            <a:r>
              <a:rPr lang="en-US" altLang="en-US" dirty="0"/>
              <a:t>– requires energy and carrier proteins; gradient independent</a:t>
            </a:r>
          </a:p>
          <a:p>
            <a:pPr lvl="1"/>
            <a:r>
              <a:rPr lang="en-US" altLang="en-US" dirty="0"/>
              <a:t>Carrier-mediated active transport</a:t>
            </a:r>
            <a:endParaRPr lang="en-US" dirty="0"/>
          </a:p>
          <a:p>
            <a:pPr lvl="1"/>
            <a:r>
              <a:rPr lang="en-US" altLang="en-US" dirty="0"/>
              <a:t>Group translocation – transported molecule chemically altered</a:t>
            </a:r>
            <a:endParaRPr lang="en-US" dirty="0"/>
          </a:p>
          <a:p>
            <a:pPr lvl="1"/>
            <a:r>
              <a:rPr lang="en-US" altLang="en-US" dirty="0"/>
              <a:t>Bulk transport – endocytosis, exocytosis, pinocytosis</a:t>
            </a:r>
            <a:endParaRPr lang="en-US" dirty="0"/>
          </a:p>
        </p:txBody>
      </p:sp>
    </p:spTree>
    <p:extLst>
      <p:ext uri="{BB962C8B-B14F-4D97-AF65-F5344CB8AC3E}">
        <p14:creationId xmlns:p14="http://schemas.microsoft.com/office/powerpoint/2010/main" val="3914085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Diffusion and Molecular Motion</a:t>
            </a:r>
            <a:endParaRPr lang="en-US" dirty="0"/>
          </a:p>
        </p:txBody>
      </p:sp>
      <p:sp>
        <p:nvSpPr>
          <p:cNvPr id="6" name="Content Placeholder 2"/>
          <p:cNvSpPr>
            <a:spLocks noGrp="1"/>
          </p:cNvSpPr>
          <p:nvPr>
            <p:ph sz="quarter" idx="11"/>
          </p:nvPr>
        </p:nvSpPr>
        <p:spPr>
          <a:xfrm>
            <a:off x="342900" y="880764"/>
            <a:ext cx="8458200" cy="904516"/>
          </a:xfrm>
        </p:spPr>
        <p:txBody>
          <a:bodyPr/>
          <a:lstStyle/>
          <a:p>
            <a:r>
              <a:rPr lang="en-US" altLang="en-US" dirty="0"/>
              <a:t>Net Movement of molecules down their concentration gradient by random thermal movement (passive transport)</a:t>
            </a:r>
            <a:endParaRPr lang="en-US" dirty="0"/>
          </a:p>
        </p:txBody>
      </p:sp>
      <p:pic>
        <p:nvPicPr>
          <p:cNvPr id="11" name="Picture 3" descr="Illustrated is the process of diffusion of molecules in an aqueous solution. "/>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256266" y="2171898"/>
            <a:ext cx="8631468" cy="3458172"/>
          </a:xfrm>
        </p:spPr>
      </p:pic>
    </p:spTree>
    <p:extLst>
      <p:ext uri="{BB962C8B-B14F-4D97-AF65-F5344CB8AC3E}">
        <p14:creationId xmlns:p14="http://schemas.microsoft.com/office/powerpoint/2010/main" val="2535112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Diffusion of Water: Osmosis</a:t>
            </a:r>
            <a:r>
              <a:rPr lang="en-US" altLang="en-US" sz="1200" dirty="0"/>
              <a:t> </a:t>
            </a:r>
            <a:endParaRPr lang="en-US" dirty="0"/>
          </a:p>
        </p:txBody>
      </p:sp>
      <p:sp>
        <p:nvSpPr>
          <p:cNvPr id="3" name="Content Placeholder 2"/>
          <p:cNvSpPr>
            <a:spLocks noGrp="1"/>
          </p:cNvSpPr>
          <p:nvPr>
            <p:ph sz="quarter" idx="11"/>
          </p:nvPr>
        </p:nvSpPr>
        <p:spPr/>
        <p:txBody>
          <a:bodyPr/>
          <a:lstStyle/>
          <a:p>
            <a:pPr>
              <a:spcBef>
                <a:spcPts val="600"/>
              </a:spcBef>
            </a:pPr>
            <a:r>
              <a:rPr lang="en-US" dirty="0"/>
              <a:t>Living membranes generally block the entrance and exit of larger molecules and permit free diffusion of water (passive transport)</a:t>
            </a:r>
          </a:p>
          <a:p>
            <a:pPr>
              <a:spcBef>
                <a:spcPts val="600"/>
              </a:spcBef>
            </a:pPr>
            <a:endParaRPr lang="en-US" dirty="0"/>
          </a:p>
          <a:p>
            <a:pPr>
              <a:spcBef>
                <a:spcPts val="600"/>
              </a:spcBef>
            </a:pPr>
            <a:r>
              <a:rPr lang="en-US" dirty="0"/>
              <a:t>When concentrations of the solutions differ, one side will experience a net loss of water and the other a net gain of water until equilibrium is reached</a:t>
            </a:r>
          </a:p>
        </p:txBody>
      </p:sp>
    </p:spTree>
    <p:extLst>
      <p:ext uri="{BB962C8B-B14F-4D97-AF65-F5344CB8AC3E}">
        <p14:creationId xmlns:p14="http://schemas.microsoft.com/office/powerpoint/2010/main" val="988257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Diffusion of Water: </a:t>
            </a:r>
            <a:r>
              <a:rPr lang="en-US" altLang="en-US"/>
              <a:t>Osmosis</a:t>
            </a:r>
            <a:r>
              <a:rPr lang="en-US" altLang="en-US" sz="1200"/>
              <a:t> 2</a:t>
            </a:r>
            <a:endParaRPr lang="en-US" dirty="0"/>
          </a:p>
        </p:txBody>
      </p:sp>
      <p:sp>
        <p:nvSpPr>
          <p:cNvPr id="6" name="Content Placeholder 2"/>
          <p:cNvSpPr>
            <a:spLocks noGrp="1"/>
          </p:cNvSpPr>
          <p:nvPr>
            <p:ph sz="quarter" idx="11"/>
          </p:nvPr>
        </p:nvSpPr>
        <p:spPr>
          <a:xfrm>
            <a:off x="342900" y="1276710"/>
            <a:ext cx="3678115" cy="437790"/>
          </a:xfrm>
        </p:spPr>
        <p:txBody>
          <a:bodyPr/>
          <a:lstStyle/>
          <a:p>
            <a:r>
              <a:rPr lang="en-US" dirty="0"/>
              <a:t>The figure of “Osmosis.”</a:t>
            </a:r>
          </a:p>
        </p:txBody>
      </p:sp>
      <p:sp>
        <p:nvSpPr>
          <p:cNvPr id="11" name="Content Placeholder 4"/>
          <p:cNvSpPr>
            <a:spLocks noGrp="1"/>
          </p:cNvSpPr>
          <p:nvPr>
            <p:ph sz="quarter" idx="18"/>
          </p:nvPr>
        </p:nvSpPr>
        <p:spPr>
          <a:xfrm>
            <a:off x="342900" y="4587841"/>
            <a:ext cx="8458200" cy="1863792"/>
          </a:xfrm>
        </p:spPr>
        <p:txBody>
          <a:bodyPr/>
          <a:lstStyle/>
          <a:p>
            <a:pPr marL="457200" indent="-457200">
              <a:spcBef>
                <a:spcPts val="600"/>
              </a:spcBef>
              <a:buFont typeface="+mj-lt"/>
              <a:buAutoNum type="alphaLcParenR"/>
            </a:pPr>
            <a:r>
              <a:rPr lang="en-US" dirty="0"/>
              <a:t>Inset shows a close-up of the osmotic process. The gradient goes from the outer container (higher concentration of H</a:t>
            </a:r>
            <a:r>
              <a:rPr lang="en-US" baseline="-25000" dirty="0"/>
              <a:t>2</a:t>
            </a:r>
            <a:r>
              <a:rPr lang="en-US" dirty="0"/>
              <a:t>O) to the sac (lower concentration of H</a:t>
            </a:r>
            <a:r>
              <a:rPr lang="en-US" baseline="-25000" dirty="0"/>
              <a:t>2</a:t>
            </a:r>
            <a:r>
              <a:rPr lang="en-US" dirty="0"/>
              <a:t>O). </a:t>
            </a:r>
          </a:p>
        </p:txBody>
      </p:sp>
      <p:pic>
        <p:nvPicPr>
          <p:cNvPr id="5" name="Content Placeholder 4" descr="A container with water has a glass tube inserted with a membrane sack that has a solution. Water molecules moves to and from the pores of the sac. ">
            <a:extLst>
              <a:ext uri="{FF2B5EF4-FFF2-40B4-BE49-F238E27FC236}">
                <a16:creationId xmlns:a16="http://schemas.microsoft.com/office/drawing/2014/main" id="{F51FDE57-DAC5-4B3C-8082-89EF1ECFD156}"/>
              </a:ext>
            </a:extLst>
          </p:cNvPr>
          <p:cNvPicPr>
            <a:picLocks noGrp="1" noChangeAspect="1"/>
          </p:cNvPicPr>
          <p:nvPr>
            <p:ph sz="quarter" idx="15"/>
          </p:nvPr>
        </p:nvPicPr>
        <p:blipFill rotWithShape="1">
          <a:blip r:embed="rId2"/>
          <a:srcRect b="17418"/>
          <a:stretch/>
        </p:blipFill>
        <p:spPr>
          <a:xfrm>
            <a:off x="4269093" y="967570"/>
            <a:ext cx="3294731" cy="3604430"/>
          </a:xfrm>
        </p:spPr>
      </p:pic>
    </p:spTree>
    <p:extLst>
      <p:ext uri="{BB962C8B-B14F-4D97-AF65-F5344CB8AC3E}">
        <p14:creationId xmlns:p14="http://schemas.microsoft.com/office/powerpoint/2010/main" val="4720140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Movement of Solutes: Facilitated Diffusion</a:t>
            </a:r>
            <a:r>
              <a:rPr lang="en-US" altLang="en-US" sz="1200" dirty="0"/>
              <a:t> </a:t>
            </a:r>
            <a:endParaRPr lang="en-US" sz="1200" dirty="0"/>
          </a:p>
        </p:txBody>
      </p:sp>
      <p:sp>
        <p:nvSpPr>
          <p:cNvPr id="3" name="Content Placeholder 2"/>
          <p:cNvSpPr>
            <a:spLocks noGrp="1"/>
          </p:cNvSpPr>
          <p:nvPr>
            <p:ph sz="quarter" idx="11"/>
          </p:nvPr>
        </p:nvSpPr>
        <p:spPr/>
        <p:txBody>
          <a:bodyPr/>
          <a:lstStyle/>
          <a:p>
            <a:pPr>
              <a:spcBef>
                <a:spcPts val="600"/>
              </a:spcBef>
            </a:pPr>
            <a:r>
              <a:rPr lang="en-US" dirty="0"/>
              <a:t>Passive transport mechanism that utilizes a carrier protein in the membrane that will bind a specific substance</a:t>
            </a:r>
          </a:p>
          <a:p>
            <a:pPr>
              <a:spcBef>
                <a:spcPts val="600"/>
              </a:spcBef>
            </a:pPr>
            <a:r>
              <a:rPr lang="en-US" dirty="0"/>
              <a:t>Carrier proteins exhibit </a:t>
            </a:r>
            <a:r>
              <a:rPr lang="en-US" b="1" dirty="0"/>
              <a:t>specificity</a:t>
            </a:r>
            <a:r>
              <a:rPr lang="en-US" dirty="0"/>
              <a:t> (they bind and transport only a single type of molecule)</a:t>
            </a:r>
          </a:p>
          <a:p>
            <a:pPr>
              <a:spcBef>
                <a:spcPts val="600"/>
              </a:spcBef>
            </a:pPr>
            <a:r>
              <a:rPr lang="en-US" dirty="0"/>
              <a:t>Facilitated diffusion exhibits </a:t>
            </a:r>
            <a:r>
              <a:rPr lang="en-US" b="1" dirty="0"/>
              <a:t>saturation</a:t>
            </a:r>
            <a:r>
              <a:rPr lang="en-US" dirty="0"/>
              <a:t> (rate of transport limited by the number of binding sites on the transport proteins)</a:t>
            </a:r>
          </a:p>
        </p:txBody>
      </p:sp>
    </p:spTree>
    <p:extLst>
      <p:ext uri="{BB962C8B-B14F-4D97-AF65-F5344CB8AC3E}">
        <p14:creationId xmlns:p14="http://schemas.microsoft.com/office/powerpoint/2010/main" val="518423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Movement of Solutes: Facilitated Diffusion</a:t>
            </a:r>
            <a:r>
              <a:rPr lang="en-US" altLang="en-US" sz="1200" dirty="0"/>
              <a:t> </a:t>
            </a:r>
            <a:endParaRPr lang="en-US" sz="1200" dirty="0"/>
          </a:p>
        </p:txBody>
      </p:sp>
      <p:pic>
        <p:nvPicPr>
          <p:cNvPr id="7" name="Picture 2" descr="Illustrated is the process of facilitated diffusion. &#10;"/>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1872141" y="1318068"/>
            <a:ext cx="5399719" cy="4869565"/>
          </a:xfrm>
        </p:spPr>
      </p:pic>
    </p:spTree>
    <p:extLst>
      <p:ext uri="{BB962C8B-B14F-4D97-AF65-F5344CB8AC3E}">
        <p14:creationId xmlns:p14="http://schemas.microsoft.com/office/powerpoint/2010/main" val="38273344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Carrier Mediated Active Transport</a:t>
            </a:r>
            <a:r>
              <a:rPr lang="en-US" altLang="en-US" sz="1200" dirty="0"/>
              <a:t> </a:t>
            </a:r>
            <a:endParaRPr lang="en-US" sz="1200" dirty="0"/>
          </a:p>
        </p:txBody>
      </p:sp>
      <p:sp>
        <p:nvSpPr>
          <p:cNvPr id="3" name="Content Placeholder 2"/>
          <p:cNvSpPr>
            <a:spLocks noGrp="1"/>
          </p:cNvSpPr>
          <p:nvPr>
            <p:ph sz="quarter" idx="11"/>
          </p:nvPr>
        </p:nvSpPr>
        <p:spPr/>
        <p:txBody>
          <a:bodyPr/>
          <a:lstStyle/>
          <a:p>
            <a:pPr>
              <a:spcBef>
                <a:spcPts val="600"/>
              </a:spcBef>
            </a:pPr>
            <a:r>
              <a:rPr lang="en-US" b="1" dirty="0"/>
              <a:t>Permeases and pumps</a:t>
            </a:r>
            <a:r>
              <a:rPr lang="en-US" dirty="0"/>
              <a:t>: Specific membrane</a:t>
            </a:r>
            <a:r>
              <a:rPr lang="mr-IN" dirty="0"/>
              <a:t>–</a:t>
            </a:r>
            <a:r>
              <a:rPr lang="en-US" dirty="0"/>
              <a:t>bound </a:t>
            </a:r>
            <a:r>
              <a:rPr lang="en-US" i="1" dirty="0"/>
              <a:t>transporter</a:t>
            </a:r>
            <a:r>
              <a:rPr lang="en-US" dirty="0"/>
              <a:t> proteins that interact with nearby </a:t>
            </a:r>
            <a:r>
              <a:rPr lang="en-US" i="1" dirty="0"/>
              <a:t>solute-binding</a:t>
            </a:r>
            <a:r>
              <a:rPr lang="en-US" dirty="0"/>
              <a:t> proteins that carry essential solutes (sodium, iron, sugars)</a:t>
            </a:r>
          </a:p>
          <a:p>
            <a:pPr>
              <a:spcBef>
                <a:spcPts val="600"/>
              </a:spcBef>
            </a:pPr>
            <a:r>
              <a:rPr lang="en-US" dirty="0"/>
              <a:t>Once a solute-binding protein attaches to a specific site in the transporter protein, an ATP is activated and generates energy to pump the solute into the cell’s interior through a special channel.</a:t>
            </a:r>
          </a:p>
        </p:txBody>
      </p:sp>
    </p:spTree>
    <p:extLst>
      <p:ext uri="{BB962C8B-B14F-4D97-AF65-F5344CB8AC3E}">
        <p14:creationId xmlns:p14="http://schemas.microsoft.com/office/powerpoint/2010/main" val="11402721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234546"/>
            <a:ext cx="8458200" cy="678611"/>
          </a:xfrm>
        </p:spPr>
        <p:txBody>
          <a:bodyPr/>
          <a:lstStyle/>
          <a:p>
            <a:r>
              <a:rPr lang="en-US" altLang="en-US" dirty="0"/>
              <a:t>Carrier Mediated Active Transport</a:t>
            </a:r>
            <a:r>
              <a:rPr lang="en-US" altLang="en-US" sz="1200" dirty="0"/>
              <a:t> </a:t>
            </a:r>
            <a:endParaRPr lang="en-US" dirty="0"/>
          </a:p>
        </p:txBody>
      </p:sp>
      <p:sp>
        <p:nvSpPr>
          <p:cNvPr id="6" name="Content Placeholder 2"/>
          <p:cNvSpPr>
            <a:spLocks noGrp="1"/>
          </p:cNvSpPr>
          <p:nvPr>
            <p:ph sz="quarter" idx="11"/>
          </p:nvPr>
        </p:nvSpPr>
        <p:spPr>
          <a:xfrm>
            <a:off x="342900" y="913157"/>
            <a:ext cx="8458200" cy="504466"/>
          </a:xfrm>
        </p:spPr>
        <p:txBody>
          <a:bodyPr/>
          <a:lstStyle/>
          <a:p>
            <a:r>
              <a:rPr lang="en-US" dirty="0"/>
              <a:t>The figure of “</a:t>
            </a:r>
            <a:r>
              <a:rPr lang="en-US" altLang="en-US" dirty="0">
                <a:cs typeface="Times New Roman" panose="02020603050405020304" pitchFamily="18" charset="0"/>
              </a:rPr>
              <a:t>Carrier Mediated Active Transport.</a:t>
            </a:r>
            <a:r>
              <a:rPr lang="en-US" dirty="0"/>
              <a:t>”</a:t>
            </a:r>
          </a:p>
        </p:txBody>
      </p:sp>
      <p:pic>
        <p:nvPicPr>
          <p:cNvPr id="11" name="Picture 3" descr="Shown is the process of carrier-mediated active transport.&#10;"/>
          <p:cNvPicPr>
            <a:picLocks noGrp="1" noChangeAspect="1"/>
          </p:cNvPicPr>
          <p:nvPr>
            <p:ph sz="quarter" idx="14"/>
          </p:nvPr>
        </p:nvPicPr>
        <p:blipFill rotWithShape="1">
          <a:blip r:embed="rId2">
            <a:extLst>
              <a:ext uri="{28A0092B-C50C-407E-A947-70E740481C1C}">
                <a14:useLocalDpi xmlns:a14="http://schemas.microsoft.com/office/drawing/2010/main" val="0"/>
              </a:ext>
            </a:extLst>
          </a:blip>
          <a:srcRect r="52040" b="56977"/>
          <a:stretch/>
        </p:blipFill>
        <p:spPr>
          <a:xfrm>
            <a:off x="250406" y="1417623"/>
            <a:ext cx="4879055" cy="4415900"/>
          </a:xfrm>
        </p:spPr>
      </p:pic>
      <p:sp>
        <p:nvSpPr>
          <p:cNvPr id="7" name="TextBox 6">
            <a:extLst>
              <a:ext uri="{FF2B5EF4-FFF2-40B4-BE49-F238E27FC236}">
                <a16:creationId xmlns:a16="http://schemas.microsoft.com/office/drawing/2014/main" id="{A17818C0-7E66-4CC0-9893-D83F2F90E32E}"/>
              </a:ext>
            </a:extLst>
          </p:cNvPr>
          <p:cNvSpPr txBox="1"/>
          <p:nvPr/>
        </p:nvSpPr>
        <p:spPr>
          <a:xfrm>
            <a:off x="4679281" y="1719517"/>
            <a:ext cx="4572000" cy="3139321"/>
          </a:xfrm>
          <a:prstGeom prst="rect">
            <a:avLst/>
          </a:prstGeom>
          <a:noFill/>
        </p:spPr>
        <p:txBody>
          <a:bodyPr wrap="square">
            <a:spAutoFit/>
          </a:bodyPr>
          <a:lstStyle/>
          <a:p>
            <a:pPr marL="457200" lvl="0" indent="-457200">
              <a:spcBef>
                <a:spcPts val="600"/>
              </a:spcBef>
              <a:buFont typeface="+mj-lt"/>
              <a:buAutoNum type="alphaLcParenR"/>
            </a:pPr>
            <a:r>
              <a:rPr lang="en-US" b="1" dirty="0"/>
              <a:t>Carrier-mediated active transport.</a:t>
            </a:r>
            <a:r>
              <a:rPr lang="en-US" dirty="0"/>
              <a:t> (1) Membrane-bound transporter proteins (permeases) interact with nearby solute binding proteins that carry essential solutes (sodium, iron, sugars). (2) Once a binding protein attaches to a specific site, an ATP is activated and generates energy to pump the solute into the cell's interior through a special channel in the permease. </a:t>
            </a:r>
          </a:p>
        </p:txBody>
      </p:sp>
    </p:spTree>
    <p:extLst>
      <p:ext uri="{BB962C8B-B14F-4D97-AF65-F5344CB8AC3E}">
        <p14:creationId xmlns:p14="http://schemas.microsoft.com/office/powerpoint/2010/main" val="10054959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 Group Translocation</a:t>
            </a:r>
            <a:r>
              <a:rPr lang="en-US" altLang="en-US" sz="1200" dirty="0"/>
              <a:t> </a:t>
            </a:r>
            <a:endParaRPr lang="en-US" dirty="0"/>
          </a:p>
        </p:txBody>
      </p:sp>
      <p:sp>
        <p:nvSpPr>
          <p:cNvPr id="3" name="Content Placeholder 2"/>
          <p:cNvSpPr>
            <a:spLocks noGrp="1"/>
          </p:cNvSpPr>
          <p:nvPr>
            <p:ph sz="quarter" idx="11"/>
          </p:nvPr>
        </p:nvSpPr>
        <p:spPr/>
        <p:txBody>
          <a:bodyPr/>
          <a:lstStyle/>
          <a:p>
            <a:pPr>
              <a:spcBef>
                <a:spcPts val="600"/>
              </a:spcBef>
            </a:pPr>
            <a:r>
              <a:rPr lang="en-US" dirty="0"/>
              <a:t>Another type of active transport in which energy is conserved by coupling transport with synthesis</a:t>
            </a:r>
          </a:p>
          <a:p>
            <a:pPr>
              <a:spcBef>
                <a:spcPts val="600"/>
              </a:spcBef>
            </a:pPr>
            <a:r>
              <a:rPr lang="en-US" dirty="0"/>
              <a:t>A specific molecule is actively captured, but it is chemically altered or activated for use in the cell on its passage through the membrane protein carrier</a:t>
            </a:r>
          </a:p>
        </p:txBody>
      </p:sp>
    </p:spTree>
    <p:extLst>
      <p:ext uri="{BB962C8B-B14F-4D97-AF65-F5344CB8AC3E}">
        <p14:creationId xmlns:p14="http://schemas.microsoft.com/office/powerpoint/2010/main" val="1017554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 Group Translocation</a:t>
            </a:r>
            <a:r>
              <a:rPr lang="en-US" altLang="en-US" sz="1200" dirty="0"/>
              <a:t> </a:t>
            </a:r>
            <a:endParaRPr lang="en-US" dirty="0"/>
          </a:p>
        </p:txBody>
      </p:sp>
      <p:pic>
        <p:nvPicPr>
          <p:cNvPr id="9" name="Picture 2" descr="Shown is group translocation, which is a process that couples the transport of a nutrient with its conversion to a substance useful to the cell. &#10;"/>
          <p:cNvPicPr>
            <a:picLocks noGrp="1" noChangeAspect="1"/>
          </p:cNvPicPr>
          <p:nvPr>
            <p:ph sz="quarter" idx="11"/>
          </p:nvPr>
        </p:nvPicPr>
        <p:blipFill rotWithShape="1">
          <a:blip r:embed="rId2">
            <a:extLst>
              <a:ext uri="{28A0092B-C50C-407E-A947-70E740481C1C}">
                <a14:useLocalDpi xmlns:a14="http://schemas.microsoft.com/office/drawing/2010/main" val="0"/>
              </a:ext>
            </a:extLst>
          </a:blip>
          <a:srcRect l="51016" b="56705"/>
          <a:stretch/>
        </p:blipFill>
        <p:spPr>
          <a:xfrm>
            <a:off x="2589549" y="973732"/>
            <a:ext cx="3964903" cy="3535762"/>
          </a:xfrm>
        </p:spPr>
      </p:pic>
      <p:sp>
        <p:nvSpPr>
          <p:cNvPr id="5" name="Content Placeholder 3"/>
          <p:cNvSpPr>
            <a:spLocks noGrp="1"/>
          </p:cNvSpPr>
          <p:nvPr>
            <p:ph sz="quarter" idx="14"/>
          </p:nvPr>
        </p:nvSpPr>
        <p:spPr>
          <a:xfrm>
            <a:off x="342900" y="4543425"/>
            <a:ext cx="8458200" cy="1905000"/>
          </a:xfrm>
        </p:spPr>
        <p:txBody>
          <a:bodyPr/>
          <a:lstStyle/>
          <a:p>
            <a:pPr marL="457200" indent="-457200">
              <a:buFont typeface="+mj-lt"/>
              <a:buAutoNum type="alphaLcParenR" startAt="2"/>
            </a:pPr>
            <a:r>
              <a:rPr lang="en-US" b="1" dirty="0"/>
              <a:t>In group translocation</a:t>
            </a:r>
            <a:r>
              <a:rPr lang="en-US" dirty="0"/>
              <a:t>, (1) a specific molecule is actively captured, but on its passage through the membrane protein carrier (2) it is chemically altered or activated for use in the cell. By coupling transport with synthesis, the cell conserves energy.</a:t>
            </a:r>
          </a:p>
        </p:txBody>
      </p:sp>
    </p:spTree>
    <p:extLst>
      <p:ext uri="{BB962C8B-B14F-4D97-AF65-F5344CB8AC3E}">
        <p14:creationId xmlns:p14="http://schemas.microsoft.com/office/powerpoint/2010/main" val="14641851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Endocytosis: Eating and Drinking by Cells</a:t>
            </a:r>
            <a:r>
              <a:rPr lang="en-US" altLang="en-US" sz="1200" dirty="0"/>
              <a:t> 1</a:t>
            </a:r>
            <a:endParaRPr lang="en-US" dirty="0"/>
          </a:p>
        </p:txBody>
      </p:sp>
      <p:sp>
        <p:nvSpPr>
          <p:cNvPr id="3" name="Content Placeholder 2"/>
          <p:cNvSpPr>
            <a:spLocks noGrp="1"/>
          </p:cNvSpPr>
          <p:nvPr>
            <p:ph sz="quarter" idx="11"/>
          </p:nvPr>
        </p:nvSpPr>
        <p:spPr/>
        <p:txBody>
          <a:bodyPr/>
          <a:lstStyle/>
          <a:p>
            <a:r>
              <a:rPr lang="en-US" altLang="en-US" b="1" dirty="0"/>
              <a:t>Endocytosis</a:t>
            </a:r>
            <a:r>
              <a:rPr lang="en-US" altLang="en-US" dirty="0"/>
              <a:t>: bringing substances into the cell through a vesicle or phagosome</a:t>
            </a:r>
          </a:p>
          <a:p>
            <a:pPr lvl="1"/>
            <a:r>
              <a:rPr lang="en-US" altLang="en-US" b="1" dirty="0"/>
              <a:t>Phagocytosis</a:t>
            </a:r>
            <a:r>
              <a:rPr lang="en-US" altLang="en-US" dirty="0"/>
              <a:t> ingests substances or cells (pseudopods)</a:t>
            </a:r>
            <a:endParaRPr lang="en-US" dirty="0"/>
          </a:p>
          <a:p>
            <a:pPr lvl="1"/>
            <a:r>
              <a:rPr lang="en-US" altLang="en-US" b="1" dirty="0"/>
              <a:t>Pinocytosis</a:t>
            </a:r>
            <a:r>
              <a:rPr lang="en-US" altLang="en-US" dirty="0"/>
              <a:t> ingests fluids and/or dissolved substances (microvilli)</a:t>
            </a:r>
            <a:endParaRPr lang="en-US" dirty="0"/>
          </a:p>
        </p:txBody>
      </p:sp>
    </p:spTree>
    <p:extLst>
      <p:ext uri="{BB962C8B-B14F-4D97-AF65-F5344CB8AC3E}">
        <p14:creationId xmlns:p14="http://schemas.microsoft.com/office/powerpoint/2010/main" val="22414542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Endocytosis: Eating and Drinking by Cells</a:t>
            </a:r>
            <a:r>
              <a:rPr lang="en-US" altLang="en-US" sz="1200" dirty="0"/>
              <a:t> 2</a:t>
            </a:r>
            <a:endParaRPr lang="en-US" dirty="0"/>
          </a:p>
        </p:txBody>
      </p:sp>
      <p:pic>
        <p:nvPicPr>
          <p:cNvPr id="11" name="Picture 2" descr="Illustrated are the endocytotic processes of phagocytosis and pinocytosis. &#10;"/>
          <p:cNvPicPr>
            <a:picLocks noGrp="1" noChangeAspect="1"/>
          </p:cNvPicPr>
          <p:nvPr>
            <p:ph sz="quarter" idx="11"/>
          </p:nvPr>
        </p:nvPicPr>
        <p:blipFill rotWithShape="1">
          <a:blip r:embed="rId2">
            <a:extLst>
              <a:ext uri="{28A0092B-C50C-407E-A947-70E740481C1C}">
                <a14:useLocalDpi xmlns:a14="http://schemas.microsoft.com/office/drawing/2010/main" val="0"/>
              </a:ext>
            </a:extLst>
          </a:blip>
          <a:srcRect t="54392" b="5299"/>
          <a:stretch/>
        </p:blipFill>
        <p:spPr>
          <a:xfrm>
            <a:off x="1203599" y="1206951"/>
            <a:ext cx="6736803" cy="2739829"/>
          </a:xfrm>
        </p:spPr>
      </p:pic>
      <p:sp>
        <p:nvSpPr>
          <p:cNvPr id="7" name="Content Placeholder 3"/>
          <p:cNvSpPr>
            <a:spLocks noGrp="1"/>
          </p:cNvSpPr>
          <p:nvPr>
            <p:ph sz="quarter" idx="14"/>
          </p:nvPr>
        </p:nvSpPr>
        <p:spPr>
          <a:xfrm>
            <a:off x="342900" y="4105275"/>
            <a:ext cx="8458200" cy="2247900"/>
          </a:xfrm>
        </p:spPr>
        <p:txBody>
          <a:bodyPr/>
          <a:lstStyle/>
          <a:p>
            <a:pPr marL="457200" lvl="0" indent="-457200">
              <a:buFont typeface="+mj-lt"/>
              <a:buAutoNum type="alphaLcParenR" startAt="3"/>
            </a:pPr>
            <a:r>
              <a:rPr lang="en-US" b="1" dirty="0">
                <a:solidFill>
                  <a:prstClr val="black"/>
                </a:solidFill>
              </a:rPr>
              <a:t>Endocytosis. </a:t>
            </a:r>
            <a:r>
              <a:rPr lang="en-US" dirty="0">
                <a:solidFill>
                  <a:prstClr val="black"/>
                </a:solidFill>
              </a:rPr>
              <a:t>With phagocytosis, solid particles are engulfed by flexible cell extensions or pseudopods (1-4) (1,000x). (5) With pinocytosis, fluids and/or dissolved substances are enclosed in vesicles by very fine protrusions called microvilli (3.000x). Oil droplets fuse with the membrane and are released directly into the cell. </a:t>
            </a:r>
          </a:p>
        </p:txBody>
      </p:sp>
    </p:spTree>
    <p:extLst>
      <p:ext uri="{BB962C8B-B14F-4D97-AF65-F5344CB8AC3E}">
        <p14:creationId xmlns:p14="http://schemas.microsoft.com/office/powerpoint/2010/main" val="37892346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TABLE 7.3 Summary of Transport Processes in Cells</a:t>
            </a:r>
            <a:r>
              <a:rPr lang="en-US" altLang="en-US" sz="1200" dirty="0"/>
              <a:t> 1</a:t>
            </a:r>
            <a:endParaRPr lang="en-US" dirty="0"/>
          </a:p>
        </p:txBody>
      </p:sp>
      <p:graphicFrame>
        <p:nvGraphicFramePr>
          <p:cNvPr id="6" name="Table 2"/>
          <p:cNvGraphicFramePr>
            <a:graphicFrameLocks noGrp="1"/>
          </p:cNvGraphicFramePr>
          <p:nvPr>
            <p:ph sz="quarter" idx="11"/>
          </p:nvPr>
        </p:nvGraphicFramePr>
        <p:xfrm>
          <a:off x="457201" y="1171575"/>
          <a:ext cx="8343899" cy="4922520"/>
        </p:xfrm>
        <a:graphic>
          <a:graphicData uri="http://schemas.openxmlformats.org/drawingml/2006/table">
            <a:tbl>
              <a:tblPr firstRow="1" bandRow="1">
                <a:tableStyleId>{5C22544A-7EE6-4342-B048-85BDC9FD1C3A}</a:tableStyleId>
              </a:tblPr>
              <a:tblGrid>
                <a:gridCol w="891945">
                  <a:extLst>
                    <a:ext uri="{9D8B030D-6E8A-4147-A177-3AD203B41FA5}">
                      <a16:colId xmlns:a16="http://schemas.microsoft.com/office/drawing/2014/main" val="20000"/>
                    </a:ext>
                  </a:extLst>
                </a:gridCol>
                <a:gridCol w="2347226">
                  <a:extLst>
                    <a:ext uri="{9D8B030D-6E8A-4147-A177-3AD203B41FA5}">
                      <a16:colId xmlns:a16="http://schemas.microsoft.com/office/drawing/2014/main" val="20001"/>
                    </a:ext>
                  </a:extLst>
                </a:gridCol>
                <a:gridCol w="1193175">
                  <a:extLst>
                    <a:ext uri="{9D8B030D-6E8A-4147-A177-3AD203B41FA5}">
                      <a16:colId xmlns:a16="http://schemas.microsoft.com/office/drawing/2014/main" val="20002"/>
                    </a:ext>
                  </a:extLst>
                </a:gridCol>
                <a:gridCol w="2016169">
                  <a:extLst>
                    <a:ext uri="{9D8B030D-6E8A-4147-A177-3AD203B41FA5}">
                      <a16:colId xmlns:a16="http://schemas.microsoft.com/office/drawing/2014/main" val="20003"/>
                    </a:ext>
                  </a:extLst>
                </a:gridCol>
                <a:gridCol w="1895384">
                  <a:extLst>
                    <a:ext uri="{9D8B030D-6E8A-4147-A177-3AD203B41FA5}">
                      <a16:colId xmlns:a16="http://schemas.microsoft.com/office/drawing/2014/main" val="20004"/>
                    </a:ext>
                  </a:extLst>
                </a:gridCol>
              </a:tblGrid>
              <a:tr h="370840">
                <a:tc>
                  <a:txBody>
                    <a:bodyPr/>
                    <a:lstStyle/>
                    <a:p>
                      <a:pPr algn="ctr"/>
                      <a:r>
                        <a:rPr lang="en-US" sz="1300" dirty="0">
                          <a:solidFill>
                            <a:schemeClr val="tx1"/>
                          </a:solidFill>
                          <a:latin typeface="+mn-lt"/>
                        </a:rPr>
                        <a:t>General Process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300" dirty="0">
                          <a:solidFill>
                            <a:schemeClr val="tx1"/>
                          </a:solidFill>
                          <a:latin typeface="+mn-lt"/>
                        </a:rPr>
                        <a:t>Nature of Transport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300" dirty="0">
                          <a:solidFill>
                            <a:schemeClr val="tx1"/>
                          </a:solidFill>
                          <a:latin typeface="+mn-lt"/>
                        </a:rPr>
                        <a:t>Examples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300" dirty="0">
                          <a:solidFill>
                            <a:schemeClr val="tx1"/>
                          </a:solidFill>
                          <a:latin typeface="+mn-lt"/>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300" dirty="0">
                          <a:solidFill>
                            <a:schemeClr val="tx1"/>
                          </a:solidFill>
                          <a:latin typeface="+mn-lt"/>
                        </a:rPr>
                        <a:t>Qualities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Passive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Energy expenditure by the cell is not required. Substances exist in a gradient and move from areas of higher concentration toward areas of lower concentration in the gradient.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Diffusion osmosis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A fundamental property of atoms and molecules that exist in a state of random motion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Nonspecific Brownian movement</a:t>
                      </a:r>
                    </a:p>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Movement of small uncharged molecules across membranes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endParaRPr lang="en-US" sz="1300" kern="1200" dirty="0">
                        <a:solidFill>
                          <a:schemeClr val="tx1"/>
                        </a:solidFill>
                        <a:latin typeface="+mn-lt"/>
                        <a:ea typeface="Verdana" pitchFamily="34" charset="0"/>
                        <a:cs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endParaRPr lang="en-US" sz="1300" kern="1200" dirty="0">
                        <a:solidFill>
                          <a:schemeClr val="tx1"/>
                        </a:solidFill>
                        <a:latin typeface="+mn-lt"/>
                        <a:ea typeface="Verdana" pitchFamily="34" charset="0"/>
                        <a:cs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Facilitated diffusion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Molecule binds to a carrier protein in membrane and is carried across to other side.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Molecule specific; transports both ways</a:t>
                      </a:r>
                    </a:p>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Transports sugars, amino acids, water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Active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Energy expenditure is required. Molecules need not exist in a gradient.</a:t>
                      </a:r>
                    </a:p>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Rate of transport is increased. Transport may occur against a concentration gradient.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Carrier-mediated active transport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Atoms or molecules are pumped into or out of the cell by specialized receptors; driven by ATP or other high- energy molecules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Verdana" pitchFamily="34" charset="0"/>
                          <a:cs typeface="Verdana" pitchFamily="34" charset="0"/>
                        </a:rPr>
                        <a:t>Transports simple sugars, amino acids, inorganic ions (Na</a:t>
                      </a:r>
                      <a:r>
                        <a:rPr lang="en-US" sz="1300" kern="1200" baseline="30000" dirty="0">
                          <a:solidFill>
                            <a:schemeClr val="tx1"/>
                          </a:solidFill>
                          <a:latin typeface="+mn-lt"/>
                          <a:ea typeface="Verdana" pitchFamily="34" charset="0"/>
                          <a:cs typeface="Verdana" pitchFamily="34" charset="0"/>
                        </a:rPr>
                        <a:t>+</a:t>
                      </a:r>
                      <a:r>
                        <a:rPr lang="en-US" sz="1300" kern="1200" dirty="0">
                          <a:solidFill>
                            <a:schemeClr val="tx1"/>
                          </a:solidFill>
                          <a:latin typeface="+mn-lt"/>
                          <a:ea typeface="Verdana" pitchFamily="34" charset="0"/>
                          <a:cs typeface="Verdana" pitchFamily="34" charset="0"/>
                        </a:rPr>
                        <a:t>, K</a:t>
                      </a:r>
                      <a:r>
                        <a:rPr lang="en-US" sz="1300" kern="1200" baseline="30000" dirty="0">
                          <a:solidFill>
                            <a:schemeClr val="tx1"/>
                          </a:solidFill>
                          <a:latin typeface="+mn-lt"/>
                          <a:ea typeface="Verdana" pitchFamily="34" charset="0"/>
                          <a:cs typeface="Verdana" pitchFamily="34" charset="0"/>
                        </a:rPr>
                        <a:t>+</a:t>
                      </a:r>
                      <a:r>
                        <a:rPr lang="en-US" sz="1300" kern="1200" dirty="0">
                          <a:solidFill>
                            <a:schemeClr val="tx1"/>
                          </a:solidFill>
                          <a:latin typeface="+mn-lt"/>
                          <a:ea typeface="Verdana" pitchFamily="34" charset="0"/>
                          <a:cs typeface="Verdana"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561612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TABLE 7.3 Summary of Transport Processes in Cells</a:t>
            </a:r>
            <a:r>
              <a:rPr lang="en-US" altLang="en-US" sz="1200" dirty="0"/>
              <a:t> 2</a:t>
            </a:r>
            <a:endParaRPr lang="en-US" dirty="0"/>
          </a:p>
        </p:txBody>
      </p:sp>
      <p:graphicFrame>
        <p:nvGraphicFramePr>
          <p:cNvPr id="6" name="Table 2"/>
          <p:cNvGraphicFramePr>
            <a:graphicFrameLocks noGrp="1"/>
          </p:cNvGraphicFramePr>
          <p:nvPr>
            <p:ph sz="quarter" idx="11"/>
          </p:nvPr>
        </p:nvGraphicFramePr>
        <p:xfrm>
          <a:off x="421105" y="1195639"/>
          <a:ext cx="8458201" cy="3048000"/>
        </p:xfrm>
        <a:graphic>
          <a:graphicData uri="http://schemas.openxmlformats.org/drawingml/2006/table">
            <a:tbl>
              <a:tblPr firstRow="1" bandRow="1">
                <a:tableStyleId>{5C22544A-7EE6-4342-B048-85BDC9FD1C3A}</a:tableStyleId>
              </a:tblPr>
              <a:tblGrid>
                <a:gridCol w="971447">
                  <a:extLst>
                    <a:ext uri="{9D8B030D-6E8A-4147-A177-3AD203B41FA5}">
                      <a16:colId xmlns:a16="http://schemas.microsoft.com/office/drawing/2014/main" val="20000"/>
                    </a:ext>
                  </a:extLst>
                </a:gridCol>
                <a:gridCol w="2049515">
                  <a:extLst>
                    <a:ext uri="{9D8B030D-6E8A-4147-A177-3AD203B41FA5}">
                      <a16:colId xmlns:a16="http://schemas.microsoft.com/office/drawing/2014/main" val="20001"/>
                    </a:ext>
                  </a:extLst>
                </a:gridCol>
                <a:gridCol w="1488764">
                  <a:extLst>
                    <a:ext uri="{9D8B030D-6E8A-4147-A177-3AD203B41FA5}">
                      <a16:colId xmlns:a16="http://schemas.microsoft.com/office/drawing/2014/main" val="20002"/>
                    </a:ext>
                  </a:extLst>
                </a:gridCol>
                <a:gridCol w="2035200">
                  <a:extLst>
                    <a:ext uri="{9D8B030D-6E8A-4147-A177-3AD203B41FA5}">
                      <a16:colId xmlns:a16="http://schemas.microsoft.com/office/drawing/2014/main" val="20003"/>
                    </a:ext>
                  </a:extLst>
                </a:gridCol>
                <a:gridCol w="1913275">
                  <a:extLst>
                    <a:ext uri="{9D8B030D-6E8A-4147-A177-3AD203B41FA5}">
                      <a16:colId xmlns:a16="http://schemas.microsoft.com/office/drawing/2014/main" val="20004"/>
                    </a:ext>
                  </a:extLst>
                </a:gridCol>
              </a:tblGrid>
              <a:tr h="370840">
                <a:tc>
                  <a:txBody>
                    <a:bodyPr/>
                    <a:lstStyle/>
                    <a:p>
                      <a:pPr algn="ctr"/>
                      <a:r>
                        <a:rPr lang="en-US" sz="1400" dirty="0">
                          <a:solidFill>
                            <a:schemeClr val="tx1"/>
                          </a:solidFill>
                          <a:latin typeface="+mn-lt"/>
                        </a:rPr>
                        <a:t>General Process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latin typeface="+mn-lt"/>
                        </a:rPr>
                        <a:t>Nature of Transport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latin typeface="+mn-lt"/>
                        </a:rPr>
                        <a:t>Examples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latin typeface="+mn-lt"/>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solidFill>
                            <a:schemeClr val="tx1"/>
                          </a:solidFill>
                          <a:latin typeface="+mn-lt"/>
                        </a:rPr>
                        <a:t>Qualities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tx1"/>
                        </a:solidFill>
                        <a:latin typeface="+mn-lt"/>
                        <a:ea typeface="Verdana" pitchFamily="34" charset="0"/>
                        <a:cs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tx1"/>
                        </a:solidFill>
                        <a:latin typeface="+mn-lt"/>
                        <a:ea typeface="Verdana" pitchFamily="34" charset="0"/>
                        <a:cs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mn-lt"/>
                          <a:ea typeface="Verdana" pitchFamily="34" charset="0"/>
                          <a:cs typeface="Verdana" pitchFamily="34" charset="0"/>
                        </a:rPr>
                        <a:t>Group translocation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mn-lt"/>
                          <a:ea typeface="Verdana" pitchFamily="34" charset="0"/>
                          <a:cs typeface="Verdana" pitchFamily="34" charset="0"/>
                        </a:rPr>
                        <a:t>Molecule is moved across membrane and simultaneously converted to a metabolically useful substance.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mn-lt"/>
                          <a:ea typeface="Verdana" pitchFamily="34" charset="0"/>
                          <a:cs typeface="Verdana" pitchFamily="34" charset="0"/>
                        </a:rPr>
                        <a:t>Alternate system for transporting nutrients (sugars, amino acids)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tx1"/>
                        </a:solidFill>
                        <a:latin typeface="+mn-lt"/>
                        <a:ea typeface="Verdana" pitchFamily="34" charset="0"/>
                        <a:cs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tx1"/>
                        </a:solidFill>
                        <a:latin typeface="+mn-lt"/>
                        <a:ea typeface="Verdana" pitchFamily="34" charset="0"/>
                        <a:cs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mn-lt"/>
                          <a:ea typeface="Verdana" pitchFamily="34" charset="0"/>
                          <a:cs typeface="Verdana" pitchFamily="34" charset="0"/>
                        </a:rPr>
                        <a:t>Bulk transport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mn-lt"/>
                          <a:ea typeface="Verdana" pitchFamily="34" charset="0"/>
                          <a:cs typeface="Verdana" pitchFamily="34" charset="0"/>
                        </a:rPr>
                        <a:t>Mass transport of large particles, cells, and liquids by engulfment and vesicle 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indent="-22860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latin typeface="+mn-lt"/>
                          <a:ea typeface="Verdana" pitchFamily="34" charset="0"/>
                          <a:cs typeface="Verdana" pitchFamily="34" charset="0"/>
                        </a:rPr>
                        <a:t>Process is endocytosis; examples are phagocytosis and pinocytosis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87628445"/>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2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494575"/>
      </a:hlink>
      <a:folHlink>
        <a:srgbClr val="625D9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2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494575"/>
      </a:hlink>
      <a:folHlink>
        <a:srgbClr val="625D9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Template_Editorial_v9_2019</Template>
  <TotalTime>8291</TotalTime>
  <Words>2514</Words>
  <Application>Microsoft Office PowerPoint</Application>
  <PresentationFormat>On-screen Show (4:3)</PresentationFormat>
  <Paragraphs>332</Paragraphs>
  <Slides>44</Slides>
  <Notes>2</Notes>
  <HiddenSlides>0</HiddenSlides>
  <MMClips>0</MMClips>
  <ScaleCrop>false</ScaleCrop>
  <HeadingPairs>
    <vt:vector size="8" baseType="variant">
      <vt:variant>
        <vt:lpstr>Fonts Used</vt:lpstr>
      </vt:variant>
      <vt:variant>
        <vt:i4>4</vt:i4>
      </vt:variant>
      <vt:variant>
        <vt:lpstr>Theme</vt:lpstr>
      </vt:variant>
      <vt:variant>
        <vt:i4>5</vt:i4>
      </vt:variant>
      <vt:variant>
        <vt:lpstr>Embedded OLE Servers</vt:lpstr>
      </vt:variant>
      <vt:variant>
        <vt:i4>1</vt:i4>
      </vt:variant>
      <vt:variant>
        <vt:lpstr>Slide Titles</vt:lpstr>
      </vt:variant>
      <vt:variant>
        <vt:i4>44</vt:i4>
      </vt:variant>
    </vt:vector>
  </HeadingPairs>
  <TitlesOfParts>
    <vt:vector size="54" baseType="lpstr">
      <vt:lpstr>Arial</vt:lpstr>
      <vt:lpstr>Calibri</vt:lpstr>
      <vt:lpstr>Times New Roman</vt:lpstr>
      <vt:lpstr>Wingdings</vt:lpstr>
      <vt:lpstr>Title Slides Master</vt:lpstr>
      <vt:lpstr>MainContentSlideMaster</vt:lpstr>
      <vt:lpstr>ClosingMaster</vt:lpstr>
      <vt:lpstr>DividerSlideMaster</vt:lpstr>
      <vt:lpstr>ImageDescriptionAppendixSlideMaster</vt:lpstr>
      <vt:lpstr>Equation</vt:lpstr>
      <vt:lpstr>PowerPoint Presentation</vt:lpstr>
      <vt:lpstr>Contents:</vt:lpstr>
      <vt:lpstr>Microbial Nutrition</vt:lpstr>
      <vt:lpstr>Microbial Nutrition</vt:lpstr>
      <vt:lpstr>Microbial Nutrition</vt:lpstr>
      <vt:lpstr>Microbial Nutrition</vt:lpstr>
      <vt:lpstr>Chemical Analysis of Cell Contents</vt:lpstr>
      <vt:lpstr>Energy Extraction of Microorganisms</vt:lpstr>
      <vt:lpstr>Essential Biological Nutrients </vt:lpstr>
      <vt:lpstr>Essential Biological Nutrients </vt:lpstr>
      <vt:lpstr>Essential Biological Nutrients </vt:lpstr>
      <vt:lpstr>Essential Biological Nutrients </vt:lpstr>
      <vt:lpstr>Essential Biological Nutrients </vt:lpstr>
      <vt:lpstr>Essential Biological Nutrients </vt:lpstr>
      <vt:lpstr>Essential Biological Nutrients </vt:lpstr>
      <vt:lpstr>Essential Biological Nutrients </vt:lpstr>
      <vt:lpstr>Essential Biological Nutrients 13</vt:lpstr>
      <vt:lpstr>Essential Biological Nutrients 14</vt:lpstr>
      <vt:lpstr>Essential Biological Nutrients 15</vt:lpstr>
      <vt:lpstr>Essential Biological Nutrients 16</vt:lpstr>
      <vt:lpstr>Growth Factors: Essential Organic Nutrients</vt:lpstr>
      <vt:lpstr>Classification of Nutritional Types</vt:lpstr>
      <vt:lpstr>Sources of Essential Nutrients: Carbon-Based</vt:lpstr>
      <vt:lpstr>Autotrophs and Their Energy Sources 1</vt:lpstr>
      <vt:lpstr>Autotrophs and Their Energy Sources </vt:lpstr>
      <vt:lpstr>Heterotrophs and Their Energy Sources </vt:lpstr>
      <vt:lpstr>Nutritional Categories</vt:lpstr>
      <vt:lpstr>Heterotrophs and Their Energy Sources </vt:lpstr>
      <vt:lpstr>Heterotrophs and Their Energy Sources </vt:lpstr>
      <vt:lpstr>Transport: Movement of Substances Across the Cell Membrane </vt:lpstr>
      <vt:lpstr>Transport: Movement of Substances Across the Cell Membrane </vt:lpstr>
      <vt:lpstr>Diffusion and Molecular Motion</vt:lpstr>
      <vt:lpstr>Diffusion of Water: Osmosis </vt:lpstr>
      <vt:lpstr>Diffusion of Water: Osmosis 2</vt:lpstr>
      <vt:lpstr>Movement of Solutes: Facilitated Diffusion </vt:lpstr>
      <vt:lpstr>Movement of Solutes: Facilitated Diffusion </vt:lpstr>
      <vt:lpstr>Carrier Mediated Active Transport </vt:lpstr>
      <vt:lpstr>Carrier Mediated Active Transport </vt:lpstr>
      <vt:lpstr>In Group Translocation </vt:lpstr>
      <vt:lpstr>In Group Translocation </vt:lpstr>
      <vt:lpstr>Endocytosis: Eating and Drinking by Cells 1</vt:lpstr>
      <vt:lpstr>Endocytosis: Eating and Drinking by Cells 2</vt:lpstr>
      <vt:lpstr>TABLE 7.3 Summary of Transport Processes in Cells 1</vt:lpstr>
      <vt:lpstr>TABLE 7.3 Summary of Transport Processes in Cells 2</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Nair</dc:creator>
  <cp:keywords>PPT</cp:keywords>
  <cp:lastModifiedBy>pmgnair@outlook.com</cp:lastModifiedBy>
  <cp:revision>894</cp:revision>
  <dcterms:created xsi:type="dcterms:W3CDTF">2019-07-27T05:34:11Z</dcterms:created>
  <dcterms:modified xsi:type="dcterms:W3CDTF">2024-02-15T00:53:47Z</dcterms:modified>
</cp:coreProperties>
</file>