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Lst>
  <p:notesMasterIdLst>
    <p:notesMasterId r:id="rId67"/>
  </p:notesMasterIdLst>
  <p:sldIdLst>
    <p:sldId id="533" r:id="rId6"/>
    <p:sldId id="532" r:id="rId7"/>
    <p:sldId id="373" r:id="rId8"/>
    <p:sldId id="374" r:id="rId9"/>
    <p:sldId id="537" r:id="rId10"/>
    <p:sldId id="538" r:id="rId11"/>
    <p:sldId id="539" r:id="rId12"/>
    <p:sldId id="540" r:id="rId13"/>
    <p:sldId id="261" r:id="rId14"/>
    <p:sldId id="534" r:id="rId15"/>
    <p:sldId id="379" r:id="rId16"/>
    <p:sldId id="380" r:id="rId17"/>
    <p:sldId id="541" r:id="rId18"/>
    <p:sldId id="382" r:id="rId19"/>
    <p:sldId id="383" r:id="rId20"/>
    <p:sldId id="384" r:id="rId21"/>
    <p:sldId id="385" r:id="rId22"/>
    <p:sldId id="386" r:id="rId23"/>
    <p:sldId id="387" r:id="rId24"/>
    <p:sldId id="388" r:id="rId25"/>
    <p:sldId id="396" r:id="rId26"/>
    <p:sldId id="399" r:id="rId27"/>
    <p:sldId id="401" r:id="rId28"/>
    <p:sldId id="286" r:id="rId29"/>
    <p:sldId id="287" r:id="rId30"/>
    <p:sldId id="403" r:id="rId31"/>
    <p:sldId id="406" r:id="rId32"/>
    <p:sldId id="407" r:id="rId33"/>
    <p:sldId id="408" r:id="rId34"/>
    <p:sldId id="409" r:id="rId35"/>
    <p:sldId id="398" r:id="rId36"/>
    <p:sldId id="411" r:id="rId37"/>
    <p:sldId id="412" r:id="rId38"/>
    <p:sldId id="413" r:id="rId39"/>
    <p:sldId id="414" r:id="rId40"/>
    <p:sldId id="415" r:id="rId41"/>
    <p:sldId id="420" r:id="rId42"/>
    <p:sldId id="422" r:id="rId43"/>
    <p:sldId id="423" r:id="rId44"/>
    <p:sldId id="542" r:id="rId45"/>
    <p:sldId id="425" r:id="rId46"/>
    <p:sldId id="310" r:id="rId47"/>
    <p:sldId id="311" r:id="rId48"/>
    <p:sldId id="312" r:id="rId49"/>
    <p:sldId id="430" r:id="rId50"/>
    <p:sldId id="432" r:id="rId51"/>
    <p:sldId id="433" r:id="rId52"/>
    <p:sldId id="435" r:id="rId53"/>
    <p:sldId id="321" r:id="rId54"/>
    <p:sldId id="477" r:id="rId55"/>
    <p:sldId id="476" r:id="rId56"/>
    <p:sldId id="475" r:id="rId57"/>
    <p:sldId id="474" r:id="rId58"/>
    <p:sldId id="473" r:id="rId59"/>
    <p:sldId id="472" r:id="rId60"/>
    <p:sldId id="329" r:id="rId61"/>
    <p:sldId id="331" r:id="rId62"/>
    <p:sldId id="332" r:id="rId63"/>
    <p:sldId id="333" r:id="rId64"/>
    <p:sldId id="334" r:id="rId65"/>
    <p:sldId id="536" r:id="rId6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D403750A-5F0F-4676-8E81-AA1C70853B4F}">
          <p14:sldIdLst>
            <p14:sldId id="533"/>
            <p14:sldId id="532"/>
            <p14:sldId id="373"/>
            <p14:sldId id="374"/>
            <p14:sldId id="537"/>
            <p14:sldId id="538"/>
            <p14:sldId id="539"/>
            <p14:sldId id="540"/>
            <p14:sldId id="261"/>
            <p14:sldId id="534"/>
            <p14:sldId id="379"/>
            <p14:sldId id="380"/>
            <p14:sldId id="541"/>
            <p14:sldId id="382"/>
            <p14:sldId id="383"/>
            <p14:sldId id="384"/>
            <p14:sldId id="385"/>
            <p14:sldId id="386"/>
            <p14:sldId id="387"/>
            <p14:sldId id="388"/>
            <p14:sldId id="396"/>
            <p14:sldId id="399"/>
            <p14:sldId id="401"/>
            <p14:sldId id="286"/>
            <p14:sldId id="287"/>
            <p14:sldId id="403"/>
            <p14:sldId id="406"/>
            <p14:sldId id="407"/>
            <p14:sldId id="408"/>
            <p14:sldId id="409"/>
            <p14:sldId id="398"/>
            <p14:sldId id="411"/>
            <p14:sldId id="412"/>
            <p14:sldId id="413"/>
            <p14:sldId id="414"/>
            <p14:sldId id="415"/>
            <p14:sldId id="420"/>
            <p14:sldId id="422"/>
            <p14:sldId id="423"/>
            <p14:sldId id="542"/>
            <p14:sldId id="425"/>
            <p14:sldId id="310"/>
            <p14:sldId id="311"/>
            <p14:sldId id="312"/>
            <p14:sldId id="430"/>
            <p14:sldId id="432"/>
            <p14:sldId id="433"/>
            <p14:sldId id="435"/>
            <p14:sldId id="321"/>
            <p14:sldId id="477"/>
            <p14:sldId id="476"/>
            <p14:sldId id="475"/>
            <p14:sldId id="474"/>
            <p14:sldId id="473"/>
            <p14:sldId id="472"/>
            <p14:sldId id="329"/>
            <p14:sldId id="331"/>
            <p14:sldId id="332"/>
            <p14:sldId id="333"/>
            <p14:sldId id="334"/>
            <p14:sldId id="536"/>
          </p14:sldIdLst>
        </p14:section>
      </p14:sectionLst>
    </p:ext>
    <p:ext uri="{EFAFB233-063F-42B5-8137-9DF3F51BA10A}">
      <p15:sldGuideLst xmlns:p15="http://schemas.microsoft.com/office/powerpoint/2012/main">
        <p15:guide id="2" pos="3264" userDrawn="1">
          <p15:clr>
            <a:srgbClr val="A4A3A4"/>
          </p15:clr>
        </p15:guide>
        <p15:guide id="3" orient="horz" pos="2256" userDrawn="1">
          <p15:clr>
            <a:srgbClr val="A4A3A4"/>
          </p15:clr>
        </p15:guide>
        <p15:guide id="4" pos="56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cmAuthor id="2" name="Ciporen, Laura" initials="CL [2]"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6568"/>
    <a:srgbClr val="0057AD"/>
    <a:srgbClr val="692146"/>
    <a:srgbClr val="FFB600"/>
    <a:srgbClr val="FFE5B8"/>
    <a:srgbClr val="255881"/>
    <a:srgbClr val="601D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88" autoAdjust="0"/>
    <p:restoredTop sz="89515" autoAdjust="0"/>
  </p:normalViewPr>
  <p:slideViewPr>
    <p:cSldViewPr snapToGrid="0" showGuides="1">
      <p:cViewPr varScale="1">
        <p:scale>
          <a:sx n="77" d="100"/>
          <a:sy n="77" d="100"/>
        </p:scale>
        <p:origin x="1718" y="48"/>
      </p:cViewPr>
      <p:guideLst>
        <p:guide pos="3264"/>
        <p:guide orient="horz" pos="2256"/>
        <p:guide pos="5640"/>
      </p:guideLst>
    </p:cSldViewPr>
  </p:slideViewPr>
  <p:outlineViewPr>
    <p:cViewPr>
      <p:scale>
        <a:sx n="33" d="100"/>
        <a:sy n="33" d="100"/>
      </p:scale>
      <p:origin x="0" y="-636"/>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commentAuthors" Target="commentAuthors.xml"/><Relationship Id="rId7" Type="http://schemas.openxmlformats.org/officeDocument/2006/relationships/slide" Target="slides/slide2.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5" Type="http://schemas.openxmlformats.org/officeDocument/2006/relationships/slideMaster" Target="slideMasters/slideMaster5.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82FDF7-54E0-4EB2-9617-752D4261968E}"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B01AE1B1-BE62-4470-ADFB-4C610A522BBD}">
      <dgm:prSet phldrT="[Text]" custT="1"/>
      <dgm:spPr/>
      <dgm:t>
        <a:bodyPr/>
        <a:lstStyle/>
        <a:p>
          <a:pPr algn="ctr"/>
          <a:r>
            <a:rPr lang="en-US" sz="1400" b="1" u="sng" noProof="0" dirty="0">
              <a:latin typeface="Helvetica" panose="020B0604020202020204" pitchFamily="34" charset="0"/>
              <a:cs typeface="Helvetica" panose="020B0604020202020204" pitchFamily="34" charset="0"/>
            </a:rPr>
            <a:t>Heredity</a:t>
          </a:r>
          <a:r>
            <a:rPr lang="en-US" sz="1400" b="1" noProof="0" dirty="0">
              <a:latin typeface="Helvetica" panose="020B0604020202020204" pitchFamily="34" charset="0"/>
              <a:cs typeface="Helvetica" panose="020B0604020202020204" pitchFamily="34" charset="0"/>
            </a:rPr>
            <a:t> is the transmission of an organism's genome to the next generation by chromosomes, which carry DNA, the molecular blueprint of life. </a:t>
          </a:r>
          <a:endParaRPr lang="en-US" sz="1400" b="1" dirty="0">
            <a:latin typeface="Helvetica" panose="020B0604020202020204" pitchFamily="34" charset="0"/>
            <a:cs typeface="Helvetica" panose="020B0604020202020204" pitchFamily="34" charset="0"/>
          </a:endParaRPr>
        </a:p>
      </dgm:t>
    </dgm:pt>
    <dgm:pt modelId="{851B40F3-2049-4946-B647-548AD8BD18F9}" type="parTrans" cxnId="{FC3E66BE-08FA-4B5A-8154-C79B8C68C4CE}">
      <dgm:prSet/>
      <dgm:spPr/>
      <dgm:t>
        <a:bodyPr/>
        <a:lstStyle/>
        <a:p>
          <a:pPr algn="ctr"/>
          <a:endParaRPr lang="en-US" sz="1400" b="1">
            <a:latin typeface="Helvetica" panose="020B0604020202020204" pitchFamily="34" charset="0"/>
            <a:cs typeface="Helvetica" panose="020B0604020202020204" pitchFamily="34" charset="0"/>
          </a:endParaRPr>
        </a:p>
      </dgm:t>
    </dgm:pt>
    <dgm:pt modelId="{6754D974-4925-4EB0-A7A4-5D79CBC0552C}" type="sibTrans" cxnId="{FC3E66BE-08FA-4B5A-8154-C79B8C68C4CE}">
      <dgm:prSet/>
      <dgm:spPr/>
      <dgm:t>
        <a:bodyPr/>
        <a:lstStyle/>
        <a:p>
          <a:pPr algn="ctr"/>
          <a:endParaRPr lang="en-US" sz="1400" b="1">
            <a:latin typeface="Helvetica" panose="020B0604020202020204" pitchFamily="34" charset="0"/>
            <a:cs typeface="Helvetica" panose="020B0604020202020204" pitchFamily="34" charset="0"/>
          </a:endParaRPr>
        </a:p>
      </dgm:t>
    </dgm:pt>
    <dgm:pt modelId="{1D3DC598-6F4E-48BC-8100-E803ECB33607}">
      <dgm:prSet phldrT="[Text]" custT="1"/>
      <dgm:spPr/>
      <dgm:t>
        <a:bodyPr/>
        <a:lstStyle/>
        <a:p>
          <a:pPr algn="ctr"/>
          <a:r>
            <a:rPr lang="en-US" sz="1400" b="1" u="sng" noProof="0" dirty="0">
              <a:latin typeface="Helvetica" panose="020B0604020202020204" pitchFamily="34" charset="0"/>
              <a:cs typeface="Helvetica" panose="020B0604020202020204" pitchFamily="34" charset="0"/>
            </a:rPr>
            <a:t>Growth</a:t>
          </a:r>
          <a:r>
            <a:rPr lang="en-US" sz="1400" b="1" noProof="0" dirty="0">
              <a:latin typeface="Helvetica" panose="020B0604020202020204" pitchFamily="34" charset="0"/>
              <a:cs typeface="Helvetica" panose="020B0604020202020204" pitchFamily="34" charset="0"/>
            </a:rPr>
            <a:t> has two general meanings in microbiology. In the usual sense, it means an increase in size of population through reproduction. In another case, it refers to the enlargement of a single organism during maturation. </a:t>
          </a:r>
          <a:endParaRPr lang="en-US" sz="1400" b="1" dirty="0">
            <a:latin typeface="Helvetica" panose="020B0604020202020204" pitchFamily="34" charset="0"/>
            <a:cs typeface="Helvetica" panose="020B0604020202020204" pitchFamily="34" charset="0"/>
          </a:endParaRPr>
        </a:p>
      </dgm:t>
    </dgm:pt>
    <dgm:pt modelId="{9823D857-F90E-4F4E-B5EE-10864F5020D9}" type="parTrans" cxnId="{3A6E72F7-484F-4E5A-A14E-DE23B44F1325}">
      <dgm:prSet/>
      <dgm:spPr/>
      <dgm:t>
        <a:bodyPr/>
        <a:lstStyle/>
        <a:p>
          <a:pPr algn="ctr"/>
          <a:endParaRPr lang="en-US" sz="1400" b="1">
            <a:latin typeface="Helvetica" panose="020B0604020202020204" pitchFamily="34" charset="0"/>
            <a:cs typeface="Helvetica" panose="020B0604020202020204" pitchFamily="34" charset="0"/>
          </a:endParaRPr>
        </a:p>
      </dgm:t>
    </dgm:pt>
    <dgm:pt modelId="{AB62C2EB-0864-4D7C-91EF-7C9B92928AD3}" type="sibTrans" cxnId="{3A6E72F7-484F-4E5A-A14E-DE23B44F1325}">
      <dgm:prSet/>
      <dgm:spPr/>
      <dgm:t>
        <a:bodyPr/>
        <a:lstStyle/>
        <a:p>
          <a:pPr algn="ctr"/>
          <a:endParaRPr lang="en-US" sz="1400" b="1">
            <a:latin typeface="Helvetica" panose="020B0604020202020204" pitchFamily="34" charset="0"/>
            <a:cs typeface="Helvetica" panose="020B0604020202020204" pitchFamily="34" charset="0"/>
          </a:endParaRPr>
        </a:p>
      </dgm:t>
    </dgm:pt>
    <dgm:pt modelId="{6CAE5D13-DAA9-4D17-A30C-3BDB44284E4E}">
      <dgm:prSet phldrT="[Text]" custT="1"/>
      <dgm:spPr/>
      <dgm:t>
        <a:bodyPr/>
        <a:lstStyle/>
        <a:p>
          <a:pPr algn="ctr"/>
          <a:r>
            <a:rPr lang="en-US" sz="1400" b="1" u="sng" noProof="0" dirty="0">
              <a:latin typeface="Helvetica" panose="020B0604020202020204" pitchFamily="34" charset="0"/>
              <a:cs typeface="Helvetica" panose="020B0604020202020204" pitchFamily="34" charset="0"/>
            </a:rPr>
            <a:t>Responsiveness</a:t>
          </a:r>
          <a:r>
            <a:rPr lang="en-US" sz="1400" b="1" noProof="0" dirty="0">
              <a:latin typeface="Helvetica" panose="020B0604020202020204" pitchFamily="34" charset="0"/>
              <a:cs typeface="Helvetica" panose="020B0604020202020204" pitchFamily="34" charset="0"/>
            </a:rPr>
            <a:t> is the capacity of cells to interact with external factors. Cells react to stimuli from their environment, like light, chemicals, or other cells. </a:t>
          </a:r>
          <a:endParaRPr lang="en-US" sz="1400" b="1" dirty="0">
            <a:latin typeface="Helvetica" panose="020B0604020202020204" pitchFamily="34" charset="0"/>
            <a:cs typeface="Helvetica" panose="020B0604020202020204" pitchFamily="34" charset="0"/>
          </a:endParaRPr>
        </a:p>
      </dgm:t>
    </dgm:pt>
    <dgm:pt modelId="{BD221797-8670-4A8D-B016-C1D16274AEDB}" type="parTrans" cxnId="{2D3E9DBE-73EB-4F57-805E-AA32BC26465E}">
      <dgm:prSet/>
      <dgm:spPr/>
      <dgm:t>
        <a:bodyPr/>
        <a:lstStyle/>
        <a:p>
          <a:pPr algn="ctr"/>
          <a:endParaRPr lang="en-US" sz="1400" b="1">
            <a:latin typeface="Helvetica" panose="020B0604020202020204" pitchFamily="34" charset="0"/>
            <a:cs typeface="Helvetica" panose="020B0604020202020204" pitchFamily="34" charset="0"/>
          </a:endParaRPr>
        </a:p>
      </dgm:t>
    </dgm:pt>
    <dgm:pt modelId="{8038A497-1EF0-41F4-8B73-6B924B9E1126}" type="sibTrans" cxnId="{2D3E9DBE-73EB-4F57-805E-AA32BC26465E}">
      <dgm:prSet/>
      <dgm:spPr/>
      <dgm:t>
        <a:bodyPr/>
        <a:lstStyle/>
        <a:p>
          <a:pPr algn="ctr"/>
          <a:endParaRPr lang="en-US" sz="1400" b="1">
            <a:latin typeface="Helvetica" panose="020B0604020202020204" pitchFamily="34" charset="0"/>
            <a:cs typeface="Helvetica" panose="020B0604020202020204" pitchFamily="34" charset="0"/>
          </a:endParaRPr>
        </a:p>
      </dgm:t>
    </dgm:pt>
    <dgm:pt modelId="{1157119C-A083-42B1-8890-D036CC9C99D3}">
      <dgm:prSet phldrT="[Text]" custT="1"/>
      <dgm:spPr/>
      <dgm:t>
        <a:bodyPr/>
        <a:lstStyle/>
        <a:p>
          <a:pPr algn="ctr"/>
          <a:r>
            <a:rPr lang="en-US" sz="1400" b="1" u="sng" noProof="0" dirty="0">
              <a:latin typeface="Helvetica" panose="020B0604020202020204" pitchFamily="34" charset="0"/>
              <a:cs typeface="Helvetica" panose="020B0604020202020204" pitchFamily="34" charset="0"/>
            </a:rPr>
            <a:t>Metabolism </a:t>
          </a:r>
          <a:r>
            <a:rPr lang="en-US" sz="1400" b="1" noProof="0" dirty="0">
              <a:latin typeface="Helvetica" panose="020B0604020202020204" pitchFamily="34" charset="0"/>
              <a:cs typeface="Helvetica" panose="020B0604020202020204" pitchFamily="34" charset="0"/>
            </a:rPr>
            <a:t>encompasses the thousands of chemical reactions that all cells need to function. Generally, these reactions either synthesize new cell components or release energy that drives cellular activities. </a:t>
          </a:r>
          <a:endParaRPr lang="en-US" sz="1400" b="1" dirty="0">
            <a:latin typeface="Helvetica" panose="020B0604020202020204" pitchFamily="34" charset="0"/>
            <a:cs typeface="Helvetica" panose="020B0604020202020204" pitchFamily="34" charset="0"/>
          </a:endParaRPr>
        </a:p>
      </dgm:t>
    </dgm:pt>
    <dgm:pt modelId="{F84A87EA-7A3A-4D63-AD24-987C4185DB21}" type="parTrans" cxnId="{68DF7B31-11DB-4814-ABDA-E08EC3775531}">
      <dgm:prSet/>
      <dgm:spPr/>
      <dgm:t>
        <a:bodyPr/>
        <a:lstStyle/>
        <a:p>
          <a:pPr algn="ctr"/>
          <a:endParaRPr lang="en-US" sz="1400" b="1">
            <a:latin typeface="Helvetica" panose="020B0604020202020204" pitchFamily="34" charset="0"/>
            <a:cs typeface="Helvetica" panose="020B0604020202020204" pitchFamily="34" charset="0"/>
          </a:endParaRPr>
        </a:p>
      </dgm:t>
    </dgm:pt>
    <dgm:pt modelId="{93CA7AC2-7EDF-4AEA-BF96-ABE5A29FCF4B}" type="sibTrans" cxnId="{68DF7B31-11DB-4814-ABDA-E08EC3775531}">
      <dgm:prSet/>
      <dgm:spPr/>
      <dgm:t>
        <a:bodyPr/>
        <a:lstStyle/>
        <a:p>
          <a:pPr algn="ctr"/>
          <a:endParaRPr lang="en-US" sz="1400" b="1">
            <a:latin typeface="Helvetica" panose="020B0604020202020204" pitchFamily="34" charset="0"/>
            <a:cs typeface="Helvetica" panose="020B0604020202020204" pitchFamily="34" charset="0"/>
          </a:endParaRPr>
        </a:p>
      </dgm:t>
    </dgm:pt>
    <dgm:pt modelId="{CBDDAEFA-1024-456E-9C08-E16C1C8CE66C}">
      <dgm:prSet phldrT="[Text]" custT="1"/>
      <dgm:spPr/>
      <dgm:t>
        <a:bodyPr/>
        <a:lstStyle/>
        <a:p>
          <a:pPr algn="ctr"/>
          <a:r>
            <a:rPr lang="en-US" sz="1400" b="1" u="sng" noProof="0" dirty="0">
              <a:latin typeface="Helvetica" panose="020B0604020202020204" pitchFamily="34" charset="0"/>
              <a:cs typeface="Helvetica" panose="020B0604020202020204" pitchFamily="34" charset="0"/>
            </a:rPr>
            <a:t>Transport</a:t>
          </a:r>
          <a:r>
            <a:rPr lang="en-US" sz="1400" b="1" noProof="0" dirty="0">
              <a:latin typeface="Helvetica" panose="020B0604020202020204" pitchFamily="34" charset="0"/>
              <a:cs typeface="Helvetica" panose="020B0604020202020204" pitchFamily="34" charset="0"/>
            </a:rPr>
            <a:t> is a system for controlling the flow of materials. This includes carrying nutrients and water from the external	 environment into the cell’s interior. Without these raw materials, metabolism would cease. </a:t>
          </a:r>
          <a:endParaRPr lang="en-US" sz="1400" b="1" dirty="0">
            <a:latin typeface="Helvetica" panose="020B0604020202020204" pitchFamily="34" charset="0"/>
            <a:cs typeface="Helvetica" panose="020B0604020202020204" pitchFamily="34" charset="0"/>
          </a:endParaRPr>
        </a:p>
      </dgm:t>
    </dgm:pt>
    <dgm:pt modelId="{9700BFD2-50DE-4053-9C83-1C8773EE4F3A}" type="parTrans" cxnId="{E5AC7ECC-5066-41CD-BA37-7052417373BC}">
      <dgm:prSet/>
      <dgm:spPr/>
      <dgm:t>
        <a:bodyPr/>
        <a:lstStyle/>
        <a:p>
          <a:pPr algn="ctr"/>
          <a:endParaRPr lang="en-US" sz="1400" b="1">
            <a:latin typeface="Helvetica" panose="020B0604020202020204" pitchFamily="34" charset="0"/>
            <a:cs typeface="Helvetica" panose="020B0604020202020204" pitchFamily="34" charset="0"/>
          </a:endParaRPr>
        </a:p>
      </dgm:t>
    </dgm:pt>
    <dgm:pt modelId="{171D766F-7BE4-4C00-B9F7-75DE75E5B586}" type="sibTrans" cxnId="{E5AC7ECC-5066-41CD-BA37-7052417373BC}">
      <dgm:prSet/>
      <dgm:spPr/>
      <dgm:t>
        <a:bodyPr/>
        <a:lstStyle/>
        <a:p>
          <a:pPr algn="ctr"/>
          <a:endParaRPr lang="en-US" sz="1400" b="1">
            <a:latin typeface="Helvetica" panose="020B0604020202020204" pitchFamily="34" charset="0"/>
            <a:cs typeface="Helvetica" panose="020B0604020202020204" pitchFamily="34" charset="0"/>
          </a:endParaRPr>
        </a:p>
      </dgm:t>
    </dgm:pt>
    <dgm:pt modelId="{D577FB49-44E1-4544-9087-286AA9F46E10}">
      <dgm:prSet phldrT="[Text]" custT="1"/>
      <dgm:spPr/>
      <dgm:t>
        <a:bodyPr/>
        <a:lstStyle/>
        <a:p>
          <a:pPr algn="ctr"/>
          <a:r>
            <a:rPr lang="en-US" sz="1400" b="1" u="sng" noProof="0" dirty="0">
              <a:latin typeface="Helvetica" panose="020B0604020202020204" pitchFamily="34" charset="0"/>
              <a:cs typeface="Helvetica" panose="020B0604020202020204" pitchFamily="34" charset="0"/>
            </a:rPr>
            <a:t>Reproduction</a:t>
          </a:r>
          <a:r>
            <a:rPr lang="en-US" sz="1400" b="1" noProof="0" dirty="0">
              <a:latin typeface="Helvetica" panose="020B0604020202020204" pitchFamily="34" charset="0"/>
              <a:cs typeface="Helvetica" panose="020B0604020202020204" pitchFamily="34" charset="0"/>
            </a:rPr>
            <a:t> involves the generation of offspring necessary to continue a species line of evolution. All organisms display asexual reproduction, with one cell simply dividing into two new cells by fission or mitosis. Many organisms also display sexual reproduction, involving the union of sex cells from two parents. </a:t>
          </a:r>
          <a:endParaRPr lang="en-US" sz="1400" b="1" dirty="0">
            <a:latin typeface="Helvetica" panose="020B0604020202020204" pitchFamily="34" charset="0"/>
            <a:cs typeface="Helvetica" panose="020B0604020202020204" pitchFamily="34" charset="0"/>
          </a:endParaRPr>
        </a:p>
      </dgm:t>
    </dgm:pt>
    <dgm:pt modelId="{660D86F6-9358-489C-930F-B4E2F798BEB3}" type="parTrans" cxnId="{7450FA44-9AA5-48C7-B940-FF908B7C355C}">
      <dgm:prSet/>
      <dgm:spPr/>
      <dgm:t>
        <a:bodyPr/>
        <a:lstStyle/>
        <a:p>
          <a:pPr algn="ctr"/>
          <a:endParaRPr lang="en-US" sz="1400" b="1">
            <a:latin typeface="Helvetica" panose="020B0604020202020204" pitchFamily="34" charset="0"/>
            <a:cs typeface="Helvetica" panose="020B0604020202020204" pitchFamily="34" charset="0"/>
          </a:endParaRPr>
        </a:p>
      </dgm:t>
    </dgm:pt>
    <dgm:pt modelId="{B6858AC3-C60C-4A68-B42F-182CB06FB441}" type="sibTrans" cxnId="{7450FA44-9AA5-48C7-B940-FF908B7C355C}">
      <dgm:prSet/>
      <dgm:spPr/>
      <dgm:t>
        <a:bodyPr/>
        <a:lstStyle/>
        <a:p>
          <a:pPr algn="ctr"/>
          <a:endParaRPr lang="en-US" sz="1400" b="1">
            <a:latin typeface="Helvetica" panose="020B0604020202020204" pitchFamily="34" charset="0"/>
            <a:cs typeface="Helvetica" panose="020B0604020202020204" pitchFamily="34" charset="0"/>
          </a:endParaRPr>
        </a:p>
      </dgm:t>
    </dgm:pt>
    <dgm:pt modelId="{9AD72C51-A375-48AF-AE51-DADB3CFEBEAB}" type="pres">
      <dgm:prSet presAssocID="{2B82FDF7-54E0-4EB2-9617-752D4261968E}" presName="diagram" presStyleCnt="0">
        <dgm:presLayoutVars>
          <dgm:dir/>
          <dgm:resizeHandles val="exact"/>
        </dgm:presLayoutVars>
      </dgm:prSet>
      <dgm:spPr/>
    </dgm:pt>
    <dgm:pt modelId="{F2545080-A83B-4966-BBC9-3EE61F4D91E2}" type="pres">
      <dgm:prSet presAssocID="{B01AE1B1-BE62-4470-ADFB-4C610A522BBD}" presName="node" presStyleLbl="node1" presStyleIdx="0" presStyleCnt="6" custScaleX="117042" custScaleY="151838">
        <dgm:presLayoutVars>
          <dgm:bulletEnabled val="1"/>
        </dgm:presLayoutVars>
      </dgm:prSet>
      <dgm:spPr/>
    </dgm:pt>
    <dgm:pt modelId="{A19BB7BD-B2B2-48CE-AF5E-59A9431B46F8}" type="pres">
      <dgm:prSet presAssocID="{6754D974-4925-4EB0-A7A4-5D79CBC0552C}" presName="sibTrans" presStyleCnt="0"/>
      <dgm:spPr/>
    </dgm:pt>
    <dgm:pt modelId="{65A5C0EA-1149-4CDA-9273-927482E10D1B}" type="pres">
      <dgm:prSet presAssocID="{1D3DC598-6F4E-48BC-8100-E803ECB33607}" presName="node" presStyleLbl="node1" presStyleIdx="1" presStyleCnt="6" custScaleY="156852">
        <dgm:presLayoutVars>
          <dgm:bulletEnabled val="1"/>
        </dgm:presLayoutVars>
      </dgm:prSet>
      <dgm:spPr/>
    </dgm:pt>
    <dgm:pt modelId="{1C63F24E-5A58-4655-BA79-CF6554B954AD}" type="pres">
      <dgm:prSet presAssocID="{AB62C2EB-0864-4D7C-91EF-7C9B92928AD3}" presName="sibTrans" presStyleCnt="0"/>
      <dgm:spPr/>
    </dgm:pt>
    <dgm:pt modelId="{5671E5BB-7EA8-4666-9CC7-9D957F8A9428}" type="pres">
      <dgm:prSet presAssocID="{6CAE5D13-DAA9-4D17-A30C-3BDB44284E4E}" presName="node" presStyleLbl="node1" presStyleIdx="2" presStyleCnt="6" custScaleX="101991" custScaleY="157017">
        <dgm:presLayoutVars>
          <dgm:bulletEnabled val="1"/>
        </dgm:presLayoutVars>
      </dgm:prSet>
      <dgm:spPr/>
    </dgm:pt>
    <dgm:pt modelId="{DCEB70FF-863A-4B6C-9F25-C189EB75363D}" type="pres">
      <dgm:prSet presAssocID="{8038A497-1EF0-41F4-8B73-6B924B9E1126}" presName="sibTrans" presStyleCnt="0"/>
      <dgm:spPr/>
    </dgm:pt>
    <dgm:pt modelId="{3FDC00BC-7941-4ABA-A57E-BB7C3EB9663D}" type="pres">
      <dgm:prSet presAssocID="{1157119C-A083-42B1-8890-D036CC9C99D3}" presName="node" presStyleLbl="node1" presStyleIdx="3" presStyleCnt="6" custScaleX="108318" custScaleY="200981">
        <dgm:presLayoutVars>
          <dgm:bulletEnabled val="1"/>
        </dgm:presLayoutVars>
      </dgm:prSet>
      <dgm:spPr/>
    </dgm:pt>
    <dgm:pt modelId="{80C96B30-9B4E-4937-ACF6-ABE5F871D4A6}" type="pres">
      <dgm:prSet presAssocID="{93CA7AC2-7EDF-4AEA-BF96-ABE5A29FCF4B}" presName="sibTrans" presStyleCnt="0"/>
      <dgm:spPr/>
    </dgm:pt>
    <dgm:pt modelId="{3892B439-DD08-4BCB-9BA0-FC5D578C1A7B}" type="pres">
      <dgm:prSet presAssocID="{CBDDAEFA-1024-456E-9C08-E16C1C8CE66C}" presName="node" presStyleLbl="node1" presStyleIdx="4" presStyleCnt="6" custScaleY="198713">
        <dgm:presLayoutVars>
          <dgm:bulletEnabled val="1"/>
        </dgm:presLayoutVars>
      </dgm:prSet>
      <dgm:spPr/>
    </dgm:pt>
    <dgm:pt modelId="{43B8D4ED-E684-4ACA-8583-168FBA16ED26}" type="pres">
      <dgm:prSet presAssocID="{171D766F-7BE4-4C00-B9F7-75DE75E5B586}" presName="sibTrans" presStyleCnt="0"/>
      <dgm:spPr/>
    </dgm:pt>
    <dgm:pt modelId="{B2F243AE-8F83-4144-AA81-219F987BB6EC}" type="pres">
      <dgm:prSet presAssocID="{D577FB49-44E1-4544-9087-286AA9F46E10}" presName="node" presStyleLbl="node1" presStyleIdx="5" presStyleCnt="6" custScaleX="114740" custScaleY="191233" custLinFactNeighborX="1844" custLinFactNeighborY="24588">
        <dgm:presLayoutVars>
          <dgm:bulletEnabled val="1"/>
        </dgm:presLayoutVars>
      </dgm:prSet>
      <dgm:spPr/>
    </dgm:pt>
  </dgm:ptLst>
  <dgm:cxnLst>
    <dgm:cxn modelId="{AE492722-0768-4FE6-A4A1-9C55A6EE4EFB}" type="presOf" srcId="{6CAE5D13-DAA9-4D17-A30C-3BDB44284E4E}" destId="{5671E5BB-7EA8-4666-9CC7-9D957F8A9428}" srcOrd="0" destOrd="0" presId="urn:microsoft.com/office/officeart/2005/8/layout/default"/>
    <dgm:cxn modelId="{14184125-016A-4B7A-8440-1345BC3196A6}" type="presOf" srcId="{D577FB49-44E1-4544-9087-286AA9F46E10}" destId="{B2F243AE-8F83-4144-AA81-219F987BB6EC}" srcOrd="0" destOrd="0" presId="urn:microsoft.com/office/officeart/2005/8/layout/default"/>
    <dgm:cxn modelId="{68DF7B31-11DB-4814-ABDA-E08EC3775531}" srcId="{2B82FDF7-54E0-4EB2-9617-752D4261968E}" destId="{1157119C-A083-42B1-8890-D036CC9C99D3}" srcOrd="3" destOrd="0" parTransId="{F84A87EA-7A3A-4D63-AD24-987C4185DB21}" sibTransId="{93CA7AC2-7EDF-4AEA-BF96-ABE5A29FCF4B}"/>
    <dgm:cxn modelId="{7450FA44-9AA5-48C7-B940-FF908B7C355C}" srcId="{2B82FDF7-54E0-4EB2-9617-752D4261968E}" destId="{D577FB49-44E1-4544-9087-286AA9F46E10}" srcOrd="5" destOrd="0" parTransId="{660D86F6-9358-489C-930F-B4E2F798BEB3}" sibTransId="{B6858AC3-C60C-4A68-B42F-182CB06FB441}"/>
    <dgm:cxn modelId="{BFECD345-4FFF-48B3-8171-1486733945C2}" type="presOf" srcId="{1D3DC598-6F4E-48BC-8100-E803ECB33607}" destId="{65A5C0EA-1149-4CDA-9273-927482E10D1B}" srcOrd="0" destOrd="0" presId="urn:microsoft.com/office/officeart/2005/8/layout/default"/>
    <dgm:cxn modelId="{468B579E-D87C-40C7-B252-F194C77B6F88}" type="presOf" srcId="{B01AE1B1-BE62-4470-ADFB-4C610A522BBD}" destId="{F2545080-A83B-4966-BBC9-3EE61F4D91E2}" srcOrd="0" destOrd="0" presId="urn:microsoft.com/office/officeart/2005/8/layout/default"/>
    <dgm:cxn modelId="{7A982BA4-2DE4-48AC-9E00-80C9A88E517B}" type="presOf" srcId="{1157119C-A083-42B1-8890-D036CC9C99D3}" destId="{3FDC00BC-7941-4ABA-A57E-BB7C3EB9663D}" srcOrd="0" destOrd="0" presId="urn:microsoft.com/office/officeart/2005/8/layout/default"/>
    <dgm:cxn modelId="{A5B7B2B9-8C1B-4B61-9EF0-64F1A4774345}" type="presOf" srcId="{CBDDAEFA-1024-456E-9C08-E16C1C8CE66C}" destId="{3892B439-DD08-4BCB-9BA0-FC5D578C1A7B}" srcOrd="0" destOrd="0" presId="urn:microsoft.com/office/officeart/2005/8/layout/default"/>
    <dgm:cxn modelId="{FC3E66BE-08FA-4B5A-8154-C79B8C68C4CE}" srcId="{2B82FDF7-54E0-4EB2-9617-752D4261968E}" destId="{B01AE1B1-BE62-4470-ADFB-4C610A522BBD}" srcOrd="0" destOrd="0" parTransId="{851B40F3-2049-4946-B647-548AD8BD18F9}" sibTransId="{6754D974-4925-4EB0-A7A4-5D79CBC0552C}"/>
    <dgm:cxn modelId="{2D3E9DBE-73EB-4F57-805E-AA32BC26465E}" srcId="{2B82FDF7-54E0-4EB2-9617-752D4261968E}" destId="{6CAE5D13-DAA9-4D17-A30C-3BDB44284E4E}" srcOrd="2" destOrd="0" parTransId="{BD221797-8670-4A8D-B016-C1D16274AEDB}" sibTransId="{8038A497-1EF0-41F4-8B73-6B924B9E1126}"/>
    <dgm:cxn modelId="{E5AC7ECC-5066-41CD-BA37-7052417373BC}" srcId="{2B82FDF7-54E0-4EB2-9617-752D4261968E}" destId="{CBDDAEFA-1024-456E-9C08-E16C1C8CE66C}" srcOrd="4" destOrd="0" parTransId="{9700BFD2-50DE-4053-9C83-1C8773EE4F3A}" sibTransId="{171D766F-7BE4-4C00-B9F7-75DE75E5B586}"/>
    <dgm:cxn modelId="{6E1BD9E1-0FDE-4225-808D-629585E03361}" type="presOf" srcId="{2B82FDF7-54E0-4EB2-9617-752D4261968E}" destId="{9AD72C51-A375-48AF-AE51-DADB3CFEBEAB}" srcOrd="0" destOrd="0" presId="urn:microsoft.com/office/officeart/2005/8/layout/default"/>
    <dgm:cxn modelId="{3A6E72F7-484F-4E5A-A14E-DE23B44F1325}" srcId="{2B82FDF7-54E0-4EB2-9617-752D4261968E}" destId="{1D3DC598-6F4E-48BC-8100-E803ECB33607}" srcOrd="1" destOrd="0" parTransId="{9823D857-F90E-4F4E-B5EE-10864F5020D9}" sibTransId="{AB62C2EB-0864-4D7C-91EF-7C9B92928AD3}"/>
    <dgm:cxn modelId="{CCFA9537-B87F-4D64-9C1D-8BCFF92FB81A}" type="presParOf" srcId="{9AD72C51-A375-48AF-AE51-DADB3CFEBEAB}" destId="{F2545080-A83B-4966-BBC9-3EE61F4D91E2}" srcOrd="0" destOrd="0" presId="urn:microsoft.com/office/officeart/2005/8/layout/default"/>
    <dgm:cxn modelId="{8F761AB9-7001-4907-8112-6A4D39A25C5F}" type="presParOf" srcId="{9AD72C51-A375-48AF-AE51-DADB3CFEBEAB}" destId="{A19BB7BD-B2B2-48CE-AF5E-59A9431B46F8}" srcOrd="1" destOrd="0" presId="urn:microsoft.com/office/officeart/2005/8/layout/default"/>
    <dgm:cxn modelId="{86D1817D-6913-4A67-A7CC-30AC5C1C67B0}" type="presParOf" srcId="{9AD72C51-A375-48AF-AE51-DADB3CFEBEAB}" destId="{65A5C0EA-1149-4CDA-9273-927482E10D1B}" srcOrd="2" destOrd="0" presId="urn:microsoft.com/office/officeart/2005/8/layout/default"/>
    <dgm:cxn modelId="{B1A52B87-39A2-491F-A23D-76D07C495CE1}" type="presParOf" srcId="{9AD72C51-A375-48AF-AE51-DADB3CFEBEAB}" destId="{1C63F24E-5A58-4655-BA79-CF6554B954AD}" srcOrd="3" destOrd="0" presId="urn:microsoft.com/office/officeart/2005/8/layout/default"/>
    <dgm:cxn modelId="{2C06BC86-B42C-4BB7-AABF-B7F40A26265C}" type="presParOf" srcId="{9AD72C51-A375-48AF-AE51-DADB3CFEBEAB}" destId="{5671E5BB-7EA8-4666-9CC7-9D957F8A9428}" srcOrd="4" destOrd="0" presId="urn:microsoft.com/office/officeart/2005/8/layout/default"/>
    <dgm:cxn modelId="{B6099A86-4E4F-4DD8-9081-3F8A6D52ECAD}" type="presParOf" srcId="{9AD72C51-A375-48AF-AE51-DADB3CFEBEAB}" destId="{DCEB70FF-863A-4B6C-9F25-C189EB75363D}" srcOrd="5" destOrd="0" presId="urn:microsoft.com/office/officeart/2005/8/layout/default"/>
    <dgm:cxn modelId="{0D71ACBC-6C7C-4BC4-9AB5-B90F6CCB1AE3}" type="presParOf" srcId="{9AD72C51-A375-48AF-AE51-DADB3CFEBEAB}" destId="{3FDC00BC-7941-4ABA-A57E-BB7C3EB9663D}" srcOrd="6" destOrd="0" presId="urn:microsoft.com/office/officeart/2005/8/layout/default"/>
    <dgm:cxn modelId="{43ACECC6-6756-4087-AAC3-DD18A9C2B9F2}" type="presParOf" srcId="{9AD72C51-A375-48AF-AE51-DADB3CFEBEAB}" destId="{80C96B30-9B4E-4937-ACF6-ABE5F871D4A6}" srcOrd="7" destOrd="0" presId="urn:microsoft.com/office/officeart/2005/8/layout/default"/>
    <dgm:cxn modelId="{26AC153F-B339-49F2-ACBE-E75F732B2749}" type="presParOf" srcId="{9AD72C51-A375-48AF-AE51-DADB3CFEBEAB}" destId="{3892B439-DD08-4BCB-9BA0-FC5D578C1A7B}" srcOrd="8" destOrd="0" presId="urn:microsoft.com/office/officeart/2005/8/layout/default"/>
    <dgm:cxn modelId="{FF555EA0-6A18-4024-9C2F-CEBEEB6C931F}" type="presParOf" srcId="{9AD72C51-A375-48AF-AE51-DADB3CFEBEAB}" destId="{43B8D4ED-E684-4ACA-8583-168FBA16ED26}" srcOrd="9" destOrd="0" presId="urn:microsoft.com/office/officeart/2005/8/layout/default"/>
    <dgm:cxn modelId="{ADF0FEAA-CB16-43EC-AD2B-E92323DDF7F1}" type="presParOf" srcId="{9AD72C51-A375-48AF-AE51-DADB3CFEBEAB}" destId="{B2F243AE-8F83-4144-AA81-219F987BB6EC}"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545080-A83B-4966-BBC9-3EE61F4D91E2}">
      <dsp:nvSpPr>
        <dsp:cNvPr id="0" name=""/>
        <dsp:cNvSpPr/>
      </dsp:nvSpPr>
      <dsp:spPr>
        <a:xfrm>
          <a:off x="345640" y="39723"/>
          <a:ext cx="2760237" cy="214850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u="sng" kern="1200" noProof="0" dirty="0">
              <a:latin typeface="Helvetica" panose="020B0604020202020204" pitchFamily="34" charset="0"/>
              <a:cs typeface="Helvetica" panose="020B0604020202020204" pitchFamily="34" charset="0"/>
            </a:rPr>
            <a:t>Heredity</a:t>
          </a:r>
          <a:r>
            <a:rPr lang="en-US" sz="1400" b="1" kern="1200" noProof="0" dirty="0">
              <a:latin typeface="Helvetica" panose="020B0604020202020204" pitchFamily="34" charset="0"/>
              <a:cs typeface="Helvetica" panose="020B0604020202020204" pitchFamily="34" charset="0"/>
            </a:rPr>
            <a:t> is the transmission of an organism's genome to the next generation by chromosomes, which carry DNA, the molecular blueprint of life. </a:t>
          </a:r>
          <a:endParaRPr lang="en-US" sz="1400" b="1" kern="1200" dirty="0">
            <a:latin typeface="Helvetica" panose="020B0604020202020204" pitchFamily="34" charset="0"/>
            <a:cs typeface="Helvetica" panose="020B0604020202020204" pitchFamily="34" charset="0"/>
          </a:endParaRPr>
        </a:p>
      </dsp:txBody>
      <dsp:txXfrm>
        <a:off x="345640" y="39723"/>
        <a:ext cx="2760237" cy="2148505"/>
      </dsp:txXfrm>
    </dsp:sp>
    <dsp:sp modelId="{65A5C0EA-1149-4CDA-9273-927482E10D1B}">
      <dsp:nvSpPr>
        <dsp:cNvPr id="0" name=""/>
        <dsp:cNvSpPr/>
      </dsp:nvSpPr>
      <dsp:spPr>
        <a:xfrm>
          <a:off x="3341710" y="4249"/>
          <a:ext cx="2358330" cy="221945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u="sng" kern="1200" noProof="0" dirty="0">
              <a:latin typeface="Helvetica" panose="020B0604020202020204" pitchFamily="34" charset="0"/>
              <a:cs typeface="Helvetica" panose="020B0604020202020204" pitchFamily="34" charset="0"/>
            </a:rPr>
            <a:t>Growth</a:t>
          </a:r>
          <a:r>
            <a:rPr lang="en-US" sz="1400" b="1" kern="1200" noProof="0" dirty="0">
              <a:latin typeface="Helvetica" panose="020B0604020202020204" pitchFamily="34" charset="0"/>
              <a:cs typeface="Helvetica" panose="020B0604020202020204" pitchFamily="34" charset="0"/>
            </a:rPr>
            <a:t> has two general meanings in microbiology. In the usual sense, it means an increase in size of population through reproduction. In another case, it refers to the enlargement of a single organism during maturation. </a:t>
          </a:r>
          <a:endParaRPr lang="en-US" sz="1400" b="1" kern="1200" dirty="0">
            <a:latin typeface="Helvetica" panose="020B0604020202020204" pitchFamily="34" charset="0"/>
            <a:cs typeface="Helvetica" panose="020B0604020202020204" pitchFamily="34" charset="0"/>
          </a:endParaRPr>
        </a:p>
      </dsp:txBody>
      <dsp:txXfrm>
        <a:off x="3341710" y="4249"/>
        <a:ext cx="2358330" cy="2219453"/>
      </dsp:txXfrm>
    </dsp:sp>
    <dsp:sp modelId="{5671E5BB-7EA8-4666-9CC7-9D957F8A9428}">
      <dsp:nvSpPr>
        <dsp:cNvPr id="0" name=""/>
        <dsp:cNvSpPr/>
      </dsp:nvSpPr>
      <dsp:spPr>
        <a:xfrm>
          <a:off x="5935874" y="3081"/>
          <a:ext cx="2405284" cy="222178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u="sng" kern="1200" noProof="0" dirty="0">
              <a:latin typeface="Helvetica" panose="020B0604020202020204" pitchFamily="34" charset="0"/>
              <a:cs typeface="Helvetica" panose="020B0604020202020204" pitchFamily="34" charset="0"/>
            </a:rPr>
            <a:t>Responsiveness</a:t>
          </a:r>
          <a:r>
            <a:rPr lang="en-US" sz="1400" b="1" kern="1200" noProof="0" dirty="0">
              <a:latin typeface="Helvetica" panose="020B0604020202020204" pitchFamily="34" charset="0"/>
              <a:cs typeface="Helvetica" panose="020B0604020202020204" pitchFamily="34" charset="0"/>
            </a:rPr>
            <a:t> is the capacity of cells to interact with external factors. Cells react to stimuli from their environment, like light, chemicals, or other cells. </a:t>
          </a:r>
          <a:endParaRPr lang="en-US" sz="1400" b="1" kern="1200" dirty="0">
            <a:latin typeface="Helvetica" panose="020B0604020202020204" pitchFamily="34" charset="0"/>
            <a:cs typeface="Helvetica" panose="020B0604020202020204" pitchFamily="34" charset="0"/>
          </a:endParaRPr>
        </a:p>
      </dsp:txBody>
      <dsp:txXfrm>
        <a:off x="5935874" y="3081"/>
        <a:ext cx="2405284" cy="2221787"/>
      </dsp:txXfrm>
    </dsp:sp>
    <dsp:sp modelId="{3FDC00BC-7941-4ABA-A57E-BB7C3EB9663D}">
      <dsp:nvSpPr>
        <dsp:cNvPr id="0" name=""/>
        <dsp:cNvSpPr/>
      </dsp:nvSpPr>
      <dsp:spPr>
        <a:xfrm>
          <a:off x="298179" y="2460702"/>
          <a:ext cx="2554496" cy="28438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u="sng" kern="1200" noProof="0" dirty="0">
              <a:latin typeface="Helvetica" panose="020B0604020202020204" pitchFamily="34" charset="0"/>
              <a:cs typeface="Helvetica" panose="020B0604020202020204" pitchFamily="34" charset="0"/>
            </a:rPr>
            <a:t>Metabolism </a:t>
          </a:r>
          <a:r>
            <a:rPr lang="en-US" sz="1400" b="1" kern="1200" noProof="0" dirty="0">
              <a:latin typeface="Helvetica" panose="020B0604020202020204" pitchFamily="34" charset="0"/>
              <a:cs typeface="Helvetica" panose="020B0604020202020204" pitchFamily="34" charset="0"/>
            </a:rPr>
            <a:t>encompasses the thousands of chemical reactions that all cells need to function. Generally, these reactions either synthesize new cell components or release energy that drives cellular activities. </a:t>
          </a:r>
          <a:endParaRPr lang="en-US" sz="1400" b="1" kern="1200" dirty="0">
            <a:latin typeface="Helvetica" panose="020B0604020202020204" pitchFamily="34" charset="0"/>
            <a:cs typeface="Helvetica" panose="020B0604020202020204" pitchFamily="34" charset="0"/>
          </a:endParaRPr>
        </a:p>
      </dsp:txBody>
      <dsp:txXfrm>
        <a:off x="298179" y="2460702"/>
        <a:ext cx="2554496" cy="2843877"/>
      </dsp:txXfrm>
    </dsp:sp>
    <dsp:sp modelId="{3892B439-DD08-4BCB-9BA0-FC5D578C1A7B}">
      <dsp:nvSpPr>
        <dsp:cNvPr id="0" name=""/>
        <dsp:cNvSpPr/>
      </dsp:nvSpPr>
      <dsp:spPr>
        <a:xfrm>
          <a:off x="3088508" y="2476748"/>
          <a:ext cx="2358330" cy="28117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u="sng" kern="1200" noProof="0" dirty="0">
              <a:latin typeface="Helvetica" panose="020B0604020202020204" pitchFamily="34" charset="0"/>
              <a:cs typeface="Helvetica" panose="020B0604020202020204" pitchFamily="34" charset="0"/>
            </a:rPr>
            <a:t>Transport</a:t>
          </a:r>
          <a:r>
            <a:rPr lang="en-US" sz="1400" b="1" kern="1200" noProof="0" dirty="0">
              <a:latin typeface="Helvetica" panose="020B0604020202020204" pitchFamily="34" charset="0"/>
              <a:cs typeface="Helvetica" panose="020B0604020202020204" pitchFamily="34" charset="0"/>
            </a:rPr>
            <a:t> is a system for controlling the flow of materials. This includes carrying nutrients and water from the external	 environment into the cell’s interior. Without these raw materials, metabolism would cease. </a:t>
          </a:r>
          <a:endParaRPr lang="en-US" sz="1400" b="1" kern="1200" dirty="0">
            <a:latin typeface="Helvetica" panose="020B0604020202020204" pitchFamily="34" charset="0"/>
            <a:cs typeface="Helvetica" panose="020B0604020202020204" pitchFamily="34" charset="0"/>
          </a:endParaRPr>
        </a:p>
      </dsp:txBody>
      <dsp:txXfrm>
        <a:off x="3088508" y="2476748"/>
        <a:ext cx="2358330" cy="2811785"/>
      </dsp:txXfrm>
    </dsp:sp>
    <dsp:sp modelId="{B2F243AE-8F83-4144-AA81-219F987BB6EC}">
      <dsp:nvSpPr>
        <dsp:cNvPr id="0" name=""/>
        <dsp:cNvSpPr/>
      </dsp:nvSpPr>
      <dsp:spPr>
        <a:xfrm>
          <a:off x="5726159" y="2601718"/>
          <a:ext cx="2705948" cy="270594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u="sng" kern="1200" noProof="0" dirty="0">
              <a:latin typeface="Helvetica" panose="020B0604020202020204" pitchFamily="34" charset="0"/>
              <a:cs typeface="Helvetica" panose="020B0604020202020204" pitchFamily="34" charset="0"/>
            </a:rPr>
            <a:t>Reproduction</a:t>
          </a:r>
          <a:r>
            <a:rPr lang="en-US" sz="1400" b="1" kern="1200" noProof="0" dirty="0">
              <a:latin typeface="Helvetica" panose="020B0604020202020204" pitchFamily="34" charset="0"/>
              <a:cs typeface="Helvetica" panose="020B0604020202020204" pitchFamily="34" charset="0"/>
            </a:rPr>
            <a:t> involves the generation of offspring necessary to continue a species line of evolution. All organisms display asexual reproduction, with one cell simply dividing into two new cells by fission or mitosis. Many organisms also display sexual reproduction, involving the union of sex cells from two parents. </a:t>
          </a:r>
          <a:endParaRPr lang="en-US" sz="1400" b="1" kern="1200" dirty="0">
            <a:latin typeface="Helvetica" panose="020B0604020202020204" pitchFamily="34" charset="0"/>
            <a:cs typeface="Helvetica" panose="020B0604020202020204" pitchFamily="34" charset="0"/>
          </a:endParaRPr>
        </a:p>
      </dsp:txBody>
      <dsp:txXfrm>
        <a:off x="5726159" y="2601718"/>
        <a:ext cx="2705948" cy="270594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8751B6-816D-453D-9AB0-FB5BDE553EAC}" type="datetimeFigureOut">
              <a:rPr lang="en-US" smtClean="0"/>
              <a:t>2/3/2024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DB8B88-7B19-4444-8C00-276D3F703348}" type="slidenum">
              <a:rPr lang="en-US" smtClean="0"/>
              <a:t>‹#›</a:t>
            </a:fld>
            <a:endParaRPr lang="en-US"/>
          </a:p>
        </p:txBody>
      </p:sp>
    </p:spTree>
    <p:extLst>
      <p:ext uri="{BB962C8B-B14F-4D97-AF65-F5344CB8AC3E}">
        <p14:creationId xmlns:p14="http://schemas.microsoft.com/office/powerpoint/2010/main" val="3816873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2135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3" name="Google Shape;363;p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88242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0" name="Google Shape;370;p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73306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Copyright</a:t>
            </a:r>
            <a:r>
              <a:rPr lang="en-US" baseline="0" dirty="0"/>
              <a:t> © McGraw-Hill Education. All rights reserved. No reproduction or distribution without the prior written consent of McGraw-Hill Education.</a:t>
            </a:r>
            <a:endParaRPr lang="en-US" dirty="0"/>
          </a:p>
        </p:txBody>
      </p:sp>
      <p:sp>
        <p:nvSpPr>
          <p:cNvPr id="4" name="Slide Number Placeholder 3"/>
          <p:cNvSpPr>
            <a:spLocks noGrp="1"/>
          </p:cNvSpPr>
          <p:nvPr>
            <p:ph type="sldNum" sz="quarter" idx="10"/>
          </p:nvPr>
        </p:nvSpPr>
        <p:spPr/>
        <p:txBody>
          <a:bodyPr/>
          <a:lstStyle/>
          <a:p>
            <a:fld id="{29DB8B88-7B19-4444-8C00-276D3F703348}" type="slidenum">
              <a:rPr lang="en-US" smtClean="0"/>
              <a:t>36</a:t>
            </a:fld>
            <a:endParaRPr lang="en-US"/>
          </a:p>
        </p:txBody>
      </p:sp>
    </p:spTree>
    <p:extLst>
      <p:ext uri="{BB962C8B-B14F-4D97-AF65-F5344CB8AC3E}">
        <p14:creationId xmlns:p14="http://schemas.microsoft.com/office/powerpoint/2010/main" val="19984012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1" name="Google Shape;521;p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65427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7" name="Google Shape;527;p5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419580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5" name="Google Shape;535;p5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55806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6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2" name="Google Shape;592;p6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35108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6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8" name="Google Shape;598;p6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73483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6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7" name="Google Shape;607;p6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73417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p6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5" name="Google Shape;615;p6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19987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7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3" name="Google Shape;623;p7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13830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p7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1" name="Google Shape;631;p7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46456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p7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9" name="Google Shape;639;p7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22655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p7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3" name="Google Shape;653;p7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02568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Google Shape;665;p7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6" name="Google Shape;666;p7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71163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p7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2" name="Google Shape;672;p7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60303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7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0" name="Google Shape;680;p7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11894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p7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7" name="Google Shape;687;p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6950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lumMod val="50000"/>
                    <a:lumOff val="50000"/>
                  </a:schemeClr>
                </a:solidFill>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964800"/>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3750274"/>
            <a:ext cx="3035808" cy="849642"/>
          </a:xfrm>
          <a:prstGeom prst="rect">
            <a:avLst/>
          </a:prstGeom>
        </p:spPr>
        <p:txBody>
          <a:bodyPr anchor="b"/>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662297"/>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4701482"/>
            <a:ext cx="3043303" cy="964800"/>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noAutofit/>
          </a:bodyPr>
          <a:lstStyle>
            <a:lvl1pPr>
              <a:spcBef>
                <a:spcPts val="800"/>
              </a:spcBef>
              <a:defRPr sz="2400"/>
            </a:lvl1pPr>
            <a:lvl2pPr>
              <a:spcBef>
                <a:spcPts val="800"/>
              </a:spcBef>
              <a:defRPr sz="2400"/>
            </a:lvl2pPr>
            <a:lvl3pPr marL="640080">
              <a:spcBef>
                <a:spcPts val="800"/>
              </a:spcBef>
              <a:defRPr sz="2000"/>
            </a:lvl3pPr>
            <a:lvl4pPr marL="987552">
              <a:spcBef>
                <a:spcPts val="800"/>
              </a:spcBef>
              <a:defRPr sz="2000"/>
            </a:lvl4pPr>
          </a:lstStyle>
          <a:p>
            <a:pPr lvl="0"/>
            <a:r>
              <a:rPr lang="en-US" dirty="0"/>
              <a:t>Slide Content</a:t>
            </a:r>
          </a:p>
          <a:p>
            <a:pPr lvl="1"/>
            <a:r>
              <a:rPr lang="en-US" dirty="0"/>
              <a:t>Second level</a:t>
            </a:r>
          </a:p>
          <a:p>
            <a:pPr lvl="2"/>
            <a:r>
              <a:rPr lang="en-US" dirty="0"/>
              <a:t>Third level</a:t>
            </a:r>
          </a:p>
          <a:p>
            <a:pPr lvl="3"/>
            <a:endParaRPr lang="en-US" dirty="0"/>
          </a:p>
        </p:txBody>
      </p:sp>
      <p:sp>
        <p:nvSpPr>
          <p:cNvPr id="6" name="Appendix Link">
            <a:extLst>
              <a:ext uri="{FF2B5EF4-FFF2-40B4-BE49-F238E27FC236}">
                <a16:creationId xmlns:a16="http://schemas.microsoft.com/office/drawing/2014/main" id="{3D2E3074-2DB7-4FC8-BF3F-B9711E20A3B5}"/>
              </a:ext>
            </a:extLst>
          </p:cNvPr>
          <p:cNvSpPr>
            <a:spLocks noGrp="1"/>
          </p:cNvSpPr>
          <p:nvPr>
            <p:ph type="body" sz="quarter" idx="29" hasCustomPrompt="1"/>
          </p:nvPr>
        </p:nvSpPr>
        <p:spPr>
          <a:xfrm>
            <a:off x="3200400" y="6324600"/>
            <a:ext cx="2743200" cy="192024"/>
          </a:xfrm>
        </p:spPr>
        <p:txBody>
          <a:bodyPr anchor="b" anchorCtr="0">
            <a:noAutofit/>
          </a:bodyPr>
          <a:lstStyle>
            <a:lvl1pPr algn="ctr">
              <a:defRPr sz="900"/>
            </a:lvl1pPr>
          </a:lstStyle>
          <a:p>
            <a:pPr lvl="0"/>
            <a:r>
              <a:rPr lang="en-US" dirty="0"/>
              <a:t>Add text alternative link, if needed.</a:t>
            </a:r>
          </a:p>
        </p:txBody>
      </p:sp>
      <p:sp>
        <p:nvSpPr>
          <p:cNvPr id="8" name="Image Credit">
            <a:extLst>
              <a:ext uri="{FF2B5EF4-FFF2-40B4-BE49-F238E27FC236}">
                <a16:creationId xmlns:a16="http://schemas.microsoft.com/office/drawing/2014/main" id="{3341AD32-57DF-4473-A010-15DBF087AC92}"/>
              </a:ext>
            </a:extLst>
          </p:cNvPr>
          <p:cNvSpPr>
            <a:spLocks noGrp="1"/>
          </p:cNvSpPr>
          <p:nvPr>
            <p:ph type="body" sz="quarter" idx="30" hasCustomPrompt="1"/>
          </p:nvPr>
        </p:nvSpPr>
        <p:spPr>
          <a:xfrm>
            <a:off x="1562101" y="6684963"/>
            <a:ext cx="6976872" cy="173736"/>
          </a:xfrm>
        </p:spPr>
        <p:txBody>
          <a:bodyPr anchor="ctr" anchorCtr="0">
            <a:noAutofit/>
          </a:bodyPr>
          <a:lstStyle>
            <a:lvl1pPr algn="r">
              <a:defRPr sz="800">
                <a:solidFill>
                  <a:srgbClr val="595959"/>
                </a:solidFill>
              </a:defRPr>
            </a:lvl1pPr>
          </a:lstStyle>
          <a:p>
            <a:pPr lvl="0"/>
            <a:r>
              <a:rPr lang="en-US" dirty="0"/>
              <a:t>Insert Image Credit Here</a:t>
            </a:r>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noAutofit/>
          </a:bodyPr>
          <a:lstStyle>
            <a:lvl1pPr>
              <a:defRPr sz="2400"/>
            </a:lvl1pPr>
            <a:lvl2pPr>
              <a:defRPr sz="2400"/>
            </a:lvl2pPr>
            <a:lvl3pPr marL="640080">
              <a:defRPr sz="2000"/>
            </a:lvl3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8" name="Appendix Link">
            <a:extLst>
              <a:ext uri="{FF2B5EF4-FFF2-40B4-BE49-F238E27FC236}">
                <a16:creationId xmlns:a16="http://schemas.microsoft.com/office/drawing/2014/main" id="{BA2E2FDB-1128-47F8-861C-736E66873753}"/>
              </a:ext>
            </a:extLst>
          </p:cNvPr>
          <p:cNvSpPr>
            <a:spLocks noGrp="1"/>
          </p:cNvSpPr>
          <p:nvPr>
            <p:ph type="body" sz="quarter" idx="29" hasCustomPrompt="1"/>
          </p:nvPr>
        </p:nvSpPr>
        <p:spPr>
          <a:xfrm>
            <a:off x="3200400" y="6324600"/>
            <a:ext cx="2743200" cy="192024"/>
          </a:xfrm>
        </p:spPr>
        <p:txBody>
          <a:bodyPr anchor="b" anchorCtr="0">
            <a:noAutofit/>
          </a:bodyPr>
          <a:lstStyle>
            <a:lvl1pPr algn="ctr">
              <a:defRPr sz="900"/>
            </a:lvl1pPr>
          </a:lstStyle>
          <a:p>
            <a:pPr lvl="0"/>
            <a:r>
              <a:rPr lang="en-US" dirty="0"/>
              <a:t>Add text alternative link, if needed.</a:t>
            </a:r>
          </a:p>
        </p:txBody>
      </p:sp>
      <p:sp>
        <p:nvSpPr>
          <p:cNvPr id="10" name="Image Credit">
            <a:extLst>
              <a:ext uri="{FF2B5EF4-FFF2-40B4-BE49-F238E27FC236}">
                <a16:creationId xmlns:a16="http://schemas.microsoft.com/office/drawing/2014/main" id="{96D29D1D-52C5-415C-8F04-01A8F1203347}"/>
              </a:ext>
            </a:extLst>
          </p:cNvPr>
          <p:cNvSpPr>
            <a:spLocks noGrp="1"/>
          </p:cNvSpPr>
          <p:nvPr>
            <p:ph type="body" sz="quarter" idx="30" hasCustomPrompt="1"/>
          </p:nvPr>
        </p:nvSpPr>
        <p:spPr>
          <a:xfrm>
            <a:off x="1562101" y="6684963"/>
            <a:ext cx="6976872" cy="173736"/>
          </a:xfrm>
        </p:spPr>
        <p:txBody>
          <a:bodyPr anchor="ctr" anchorCtr="0">
            <a:noAutofit/>
          </a:bodyPr>
          <a:lstStyle>
            <a:lvl1pPr algn="r">
              <a:defRPr sz="800">
                <a:solidFill>
                  <a:srgbClr val="595959"/>
                </a:solidFill>
              </a:defRPr>
            </a:lvl1pPr>
          </a:lstStyle>
          <a:p>
            <a:pPr lvl="0"/>
            <a:r>
              <a:rPr lang="en-US" dirty="0"/>
              <a:t>Insert Image Credit Here</a:t>
            </a:r>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8" name="Appendix Link">
            <a:extLst>
              <a:ext uri="{FF2B5EF4-FFF2-40B4-BE49-F238E27FC236}">
                <a16:creationId xmlns:a16="http://schemas.microsoft.com/office/drawing/2014/main" id="{4AE6E6E7-EF0D-4B16-A430-D3E949F0A825}"/>
              </a:ext>
            </a:extLst>
          </p:cNvPr>
          <p:cNvSpPr>
            <a:spLocks noGrp="1"/>
          </p:cNvSpPr>
          <p:nvPr>
            <p:ph type="body" sz="quarter" idx="29" hasCustomPrompt="1"/>
          </p:nvPr>
        </p:nvSpPr>
        <p:spPr>
          <a:xfrm>
            <a:off x="3200400" y="6324600"/>
            <a:ext cx="2743200" cy="192024"/>
          </a:xfrm>
        </p:spPr>
        <p:txBody>
          <a:bodyPr anchor="b" anchorCtr="0">
            <a:noAutofit/>
          </a:bodyPr>
          <a:lstStyle>
            <a:lvl1pPr algn="ctr">
              <a:defRPr sz="900"/>
            </a:lvl1pPr>
          </a:lstStyle>
          <a:p>
            <a:pPr lvl="0"/>
            <a:r>
              <a:rPr lang="en-US" dirty="0"/>
              <a:t>Add text alternative link, if needed.</a:t>
            </a:r>
          </a:p>
        </p:txBody>
      </p:sp>
      <p:sp>
        <p:nvSpPr>
          <p:cNvPr id="10" name="Image Credit">
            <a:extLst>
              <a:ext uri="{FF2B5EF4-FFF2-40B4-BE49-F238E27FC236}">
                <a16:creationId xmlns:a16="http://schemas.microsoft.com/office/drawing/2014/main" id="{67124AF1-AD81-4125-B6A8-174BC6E5DB6C}"/>
              </a:ext>
            </a:extLst>
          </p:cNvPr>
          <p:cNvSpPr>
            <a:spLocks noGrp="1"/>
          </p:cNvSpPr>
          <p:nvPr>
            <p:ph type="body" sz="quarter" idx="30" hasCustomPrompt="1"/>
          </p:nvPr>
        </p:nvSpPr>
        <p:spPr>
          <a:xfrm>
            <a:off x="1562101" y="6684963"/>
            <a:ext cx="6976872" cy="173736"/>
          </a:xfrm>
        </p:spPr>
        <p:txBody>
          <a:bodyPr anchor="ctr" anchorCtr="0">
            <a:noAutofit/>
          </a:bodyPr>
          <a:lstStyle>
            <a:lvl1pPr algn="r">
              <a:defRPr sz="800">
                <a:solidFill>
                  <a:srgbClr val="595959"/>
                </a:solidFill>
              </a:defRPr>
            </a:lvl1pPr>
          </a:lstStyle>
          <a:p>
            <a:pPr lvl="0"/>
            <a:r>
              <a:rPr lang="en-US" dirty="0"/>
              <a:t>Insert Image Credit Here</a:t>
            </a:r>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8" name="Appendix Link">
            <a:extLst>
              <a:ext uri="{FF2B5EF4-FFF2-40B4-BE49-F238E27FC236}">
                <a16:creationId xmlns:a16="http://schemas.microsoft.com/office/drawing/2014/main" id="{AD32CF7C-C3BC-4FF7-8980-8FA18C499C01}"/>
              </a:ext>
            </a:extLst>
          </p:cNvPr>
          <p:cNvSpPr>
            <a:spLocks noGrp="1"/>
          </p:cNvSpPr>
          <p:nvPr>
            <p:ph type="body" sz="quarter" idx="29" hasCustomPrompt="1"/>
          </p:nvPr>
        </p:nvSpPr>
        <p:spPr>
          <a:xfrm>
            <a:off x="3200400" y="6324600"/>
            <a:ext cx="2743200" cy="192024"/>
          </a:xfrm>
        </p:spPr>
        <p:txBody>
          <a:bodyPr anchor="b" anchorCtr="0">
            <a:noAutofit/>
          </a:bodyPr>
          <a:lstStyle>
            <a:lvl1pPr algn="ctr">
              <a:defRPr sz="900"/>
            </a:lvl1pPr>
          </a:lstStyle>
          <a:p>
            <a:pPr lvl="0"/>
            <a:r>
              <a:rPr lang="en-US" dirty="0"/>
              <a:t>Add text alternative link, if needed.</a:t>
            </a:r>
          </a:p>
        </p:txBody>
      </p:sp>
      <p:sp>
        <p:nvSpPr>
          <p:cNvPr id="10" name="Image Credit">
            <a:extLst>
              <a:ext uri="{FF2B5EF4-FFF2-40B4-BE49-F238E27FC236}">
                <a16:creationId xmlns:a16="http://schemas.microsoft.com/office/drawing/2014/main" id="{7D6F5080-9539-4A86-A29C-6C60365B64C7}"/>
              </a:ext>
            </a:extLst>
          </p:cNvPr>
          <p:cNvSpPr>
            <a:spLocks noGrp="1"/>
          </p:cNvSpPr>
          <p:nvPr>
            <p:ph type="body" sz="quarter" idx="30" hasCustomPrompt="1"/>
          </p:nvPr>
        </p:nvSpPr>
        <p:spPr>
          <a:xfrm>
            <a:off x="1562101" y="6684963"/>
            <a:ext cx="6976872" cy="173736"/>
          </a:xfrm>
        </p:spPr>
        <p:txBody>
          <a:bodyPr anchor="ctr" anchorCtr="0">
            <a:noAutofit/>
          </a:bodyPr>
          <a:lstStyle>
            <a:lvl1pPr algn="r">
              <a:defRPr sz="800">
                <a:solidFill>
                  <a:srgbClr val="595959"/>
                </a:solidFill>
              </a:defRPr>
            </a:lvl1pPr>
          </a:lstStyle>
          <a:p>
            <a:pPr lvl="0"/>
            <a:r>
              <a:rPr lang="en-US" dirty="0"/>
              <a:t>Insert Image Credit Here</a:t>
            </a:r>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noAutofit/>
          </a:bodyPr>
          <a:lstStyle>
            <a:lvl1pPr>
              <a:defRPr sz="2400"/>
            </a:lvl1pPr>
            <a:lvl2pPr>
              <a:defRPr sz="2400"/>
            </a:lvl2pPr>
            <a:lvl3pPr marL="640080">
              <a:defRPr sz="2000"/>
            </a:lvl3pPr>
          </a:lstStyle>
          <a:p>
            <a:pPr lvl="0"/>
            <a:r>
              <a:rPr lang="en-US" dirty="0"/>
              <a:t>Slide Content 3</a:t>
            </a:r>
          </a:p>
          <a:p>
            <a:pPr lvl="1"/>
            <a:r>
              <a:rPr lang="en-US" dirty="0"/>
              <a:t>Second level</a:t>
            </a:r>
          </a:p>
          <a:p>
            <a:pPr lvl="2"/>
            <a:r>
              <a:rPr lang="en-US" dirty="0"/>
              <a:t>Third level</a:t>
            </a:r>
          </a:p>
        </p:txBody>
      </p:sp>
      <p:sp>
        <p:nvSpPr>
          <p:cNvPr id="10" name="Appendix Link">
            <a:extLst>
              <a:ext uri="{FF2B5EF4-FFF2-40B4-BE49-F238E27FC236}">
                <a16:creationId xmlns:a16="http://schemas.microsoft.com/office/drawing/2014/main" id="{94C876B4-C8F8-4EDA-9579-00F8F36CB98C}"/>
              </a:ext>
            </a:extLst>
          </p:cNvPr>
          <p:cNvSpPr>
            <a:spLocks noGrp="1"/>
          </p:cNvSpPr>
          <p:nvPr>
            <p:ph type="body" sz="quarter" idx="29" hasCustomPrompt="1"/>
          </p:nvPr>
        </p:nvSpPr>
        <p:spPr>
          <a:xfrm>
            <a:off x="3200400" y="6324600"/>
            <a:ext cx="2743200" cy="192024"/>
          </a:xfrm>
        </p:spPr>
        <p:txBody>
          <a:bodyPr anchor="b" anchorCtr="0">
            <a:noAutofit/>
          </a:bodyPr>
          <a:lstStyle>
            <a:lvl1pPr algn="ctr">
              <a:defRPr sz="900"/>
            </a:lvl1pPr>
          </a:lstStyle>
          <a:p>
            <a:pPr lvl="0"/>
            <a:r>
              <a:rPr lang="en-US" dirty="0"/>
              <a:t>Add text alternative link, if needed.</a:t>
            </a:r>
          </a:p>
        </p:txBody>
      </p:sp>
      <p:sp>
        <p:nvSpPr>
          <p:cNvPr id="11" name="Image Credit">
            <a:extLst>
              <a:ext uri="{FF2B5EF4-FFF2-40B4-BE49-F238E27FC236}">
                <a16:creationId xmlns:a16="http://schemas.microsoft.com/office/drawing/2014/main" id="{9138FC26-0A66-41D8-932B-35FF43FDA976}"/>
              </a:ext>
            </a:extLst>
          </p:cNvPr>
          <p:cNvSpPr>
            <a:spLocks noGrp="1"/>
          </p:cNvSpPr>
          <p:nvPr>
            <p:ph type="body" sz="quarter" idx="30" hasCustomPrompt="1"/>
          </p:nvPr>
        </p:nvSpPr>
        <p:spPr>
          <a:xfrm>
            <a:off x="1562101" y="6684963"/>
            <a:ext cx="6976872" cy="173736"/>
          </a:xfrm>
        </p:spPr>
        <p:txBody>
          <a:bodyPr anchor="ctr" anchorCtr="0">
            <a:noAutofit/>
          </a:bodyPr>
          <a:lstStyle>
            <a:lvl1pPr algn="r">
              <a:defRPr sz="800">
                <a:solidFill>
                  <a:srgbClr val="595959"/>
                </a:solidFill>
              </a:defRPr>
            </a:lvl1pPr>
          </a:lstStyle>
          <a:p>
            <a:pPr lvl="0"/>
            <a:r>
              <a:rPr lang="en-US" dirty="0"/>
              <a:t>Insert Image Credit Here</a:t>
            </a:r>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noAutofit/>
          </a:bodyPr>
          <a:lstStyle>
            <a:lvl1pPr>
              <a:defRPr sz="2400"/>
            </a:lvl1pPr>
            <a:lvl2pPr>
              <a:defRPr sz="2400"/>
            </a:lvl2pPr>
            <a:lvl3pPr marL="640080">
              <a:defRPr sz="2000"/>
            </a:lvl3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noAutofit/>
          </a:bodyPr>
          <a:lstStyle>
            <a:lvl1pPr>
              <a:defRPr sz="2400"/>
            </a:lvl1pPr>
            <a:lvl2pPr>
              <a:defRPr sz="2400"/>
            </a:lvl2pPr>
            <a:lvl3pPr marL="640080">
              <a:defRPr sz="2000"/>
            </a:lvl3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noAutofit/>
          </a:bodyPr>
          <a:lstStyle>
            <a:lvl1pPr>
              <a:defRPr sz="2400"/>
            </a:lvl1pPr>
            <a:lvl2pPr>
              <a:defRPr sz="2400"/>
            </a:lvl2pPr>
            <a:lvl3pPr marL="640080">
              <a:defRPr sz="2000"/>
            </a:lvl3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2" name="Appendix Link">
            <a:extLst>
              <a:ext uri="{FF2B5EF4-FFF2-40B4-BE49-F238E27FC236}">
                <a16:creationId xmlns:a16="http://schemas.microsoft.com/office/drawing/2014/main" id="{97057F8C-50AA-46C4-9FEB-90CB82EBCB39}"/>
              </a:ext>
            </a:extLst>
          </p:cNvPr>
          <p:cNvSpPr>
            <a:spLocks noGrp="1"/>
          </p:cNvSpPr>
          <p:nvPr>
            <p:ph type="body" sz="quarter" idx="29" hasCustomPrompt="1"/>
          </p:nvPr>
        </p:nvSpPr>
        <p:spPr>
          <a:xfrm>
            <a:off x="3200400" y="6324600"/>
            <a:ext cx="2743200" cy="192024"/>
          </a:xfrm>
        </p:spPr>
        <p:txBody>
          <a:bodyPr anchor="b" anchorCtr="0">
            <a:noAutofit/>
          </a:bodyPr>
          <a:lstStyle>
            <a:lvl1pPr algn="ctr">
              <a:defRPr sz="900"/>
            </a:lvl1pPr>
          </a:lstStyle>
          <a:p>
            <a:pPr lvl="0"/>
            <a:r>
              <a:rPr lang="en-US" dirty="0"/>
              <a:t>Add text alternative link, if needed.</a:t>
            </a:r>
          </a:p>
        </p:txBody>
      </p:sp>
      <p:sp>
        <p:nvSpPr>
          <p:cNvPr id="14" name="Image Credit">
            <a:extLst>
              <a:ext uri="{FF2B5EF4-FFF2-40B4-BE49-F238E27FC236}">
                <a16:creationId xmlns:a16="http://schemas.microsoft.com/office/drawing/2014/main" id="{1623EF09-AD07-4110-9BAD-C19C23C906E2}"/>
              </a:ext>
            </a:extLst>
          </p:cNvPr>
          <p:cNvSpPr>
            <a:spLocks noGrp="1"/>
          </p:cNvSpPr>
          <p:nvPr>
            <p:ph type="body" sz="quarter" idx="30" hasCustomPrompt="1"/>
          </p:nvPr>
        </p:nvSpPr>
        <p:spPr>
          <a:xfrm>
            <a:off x="1562101" y="6684963"/>
            <a:ext cx="6976872" cy="173736"/>
          </a:xfrm>
        </p:spPr>
        <p:txBody>
          <a:bodyPr anchor="ctr" anchorCtr="0">
            <a:noAutofit/>
          </a:bodyPr>
          <a:lstStyle>
            <a:lvl1pPr algn="r">
              <a:defRPr sz="800">
                <a:solidFill>
                  <a:srgbClr val="595959"/>
                </a:solidFill>
              </a:defRPr>
            </a:lvl1pPr>
          </a:lstStyle>
          <a:p>
            <a:pPr lvl="0"/>
            <a:r>
              <a:rPr lang="en-US" dirty="0"/>
              <a:t>Insert Image Credit Here</a:t>
            </a:r>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lnSpc>
                <a:spcPct val="100000"/>
              </a:lnSpc>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548640"/>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1904671"/>
            <a:ext cx="8458200" cy="548640"/>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532632"/>
            <a:ext cx="8458200" cy="548640"/>
          </a:xfrm>
        </p:spPr>
        <p:txBody>
          <a:bodyPr>
            <a:noAutofit/>
          </a:bodyPr>
          <a:lstStyle>
            <a:lvl1pPr>
              <a:defRPr sz="2400"/>
            </a:lvl1pPr>
            <a:lvl2pPr>
              <a:defRPr sz="2400"/>
            </a:lvl2pPr>
            <a:lvl3pPr marL="640080">
              <a:defRPr sz="2000"/>
            </a:lvl3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160593"/>
            <a:ext cx="8458200" cy="548640"/>
          </a:xfrm>
        </p:spPr>
        <p:txBody>
          <a:bodyPr>
            <a:noAutofit/>
          </a:bodyPr>
          <a:lstStyle>
            <a:lvl1pPr>
              <a:defRPr sz="2400"/>
            </a:lvl1pPr>
            <a:lvl2pPr>
              <a:defRPr sz="2400"/>
            </a:lvl2pPr>
            <a:lvl3pPr marL="640080">
              <a:defRPr sz="2000"/>
            </a:lvl3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3788554"/>
            <a:ext cx="8458200" cy="548640"/>
          </a:xfrm>
        </p:spPr>
        <p:txBody>
          <a:bodyPr>
            <a:noAutofit/>
          </a:bodyPr>
          <a:lstStyle>
            <a:lvl1pPr>
              <a:defRPr sz="2400"/>
            </a:lvl1pPr>
            <a:lvl2pPr>
              <a:defRPr sz="2400"/>
            </a:lvl2pPr>
            <a:lvl3pPr marL="640080">
              <a:defRPr sz="2000"/>
            </a:lvl3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4416515"/>
            <a:ext cx="84582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2" name="Content Placeholder 7">
            <a:extLst>
              <a:ext uri="{FF2B5EF4-FFF2-40B4-BE49-F238E27FC236}">
                <a16:creationId xmlns:a16="http://schemas.microsoft.com/office/drawing/2014/main" id="{8B728CCD-2639-461B-9841-57505AC13467}"/>
              </a:ext>
            </a:extLst>
          </p:cNvPr>
          <p:cNvSpPr>
            <a:spLocks noGrp="1"/>
          </p:cNvSpPr>
          <p:nvPr>
            <p:ph sz="quarter" idx="19" hasCustomPrompt="1"/>
          </p:nvPr>
        </p:nvSpPr>
        <p:spPr>
          <a:xfrm>
            <a:off x="342900" y="5044476"/>
            <a:ext cx="84582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4" name="Content Placeholder 8">
            <a:extLst>
              <a:ext uri="{FF2B5EF4-FFF2-40B4-BE49-F238E27FC236}">
                <a16:creationId xmlns:a16="http://schemas.microsoft.com/office/drawing/2014/main" id="{8B728CCD-2639-461B-9841-57505AC13467}"/>
              </a:ext>
            </a:extLst>
          </p:cNvPr>
          <p:cNvSpPr>
            <a:spLocks noGrp="1"/>
          </p:cNvSpPr>
          <p:nvPr>
            <p:ph sz="quarter" idx="20" hasCustomPrompt="1"/>
          </p:nvPr>
        </p:nvSpPr>
        <p:spPr>
          <a:xfrm>
            <a:off x="342900" y="5672435"/>
            <a:ext cx="8458200" cy="548640"/>
          </a:xfrm>
        </p:spPr>
        <p:txBody>
          <a:bodyPr>
            <a:noAutofit/>
          </a:bodyPr>
          <a:lstStyle>
            <a:lvl1pPr>
              <a:defRPr sz="2400"/>
            </a:lvl1pPr>
            <a:lvl2pPr>
              <a:defRPr sz="2400"/>
            </a:lvl2pPr>
            <a:lvl3pPr marL="640080">
              <a:defRPr sz="2000"/>
            </a:lvl3pPr>
          </a:lstStyle>
          <a:p>
            <a:pPr lvl="0"/>
            <a:r>
              <a:rPr lang="en-US" dirty="0"/>
              <a:t>Slide Content 6</a:t>
            </a:r>
          </a:p>
          <a:p>
            <a:pPr lvl="1"/>
            <a:r>
              <a:rPr lang="en-US" dirty="0"/>
              <a:t>Second level</a:t>
            </a:r>
          </a:p>
          <a:p>
            <a:pPr lvl="2"/>
            <a:r>
              <a:rPr lang="en-US" dirty="0"/>
              <a:t>Third level</a:t>
            </a:r>
          </a:p>
        </p:txBody>
      </p:sp>
      <p:sp>
        <p:nvSpPr>
          <p:cNvPr id="18" name="Appendix Link">
            <a:extLst>
              <a:ext uri="{FF2B5EF4-FFF2-40B4-BE49-F238E27FC236}">
                <a16:creationId xmlns:a16="http://schemas.microsoft.com/office/drawing/2014/main" id="{F163B4E1-5D46-44BE-A972-DA38306E845F}"/>
              </a:ext>
            </a:extLst>
          </p:cNvPr>
          <p:cNvSpPr>
            <a:spLocks noGrp="1"/>
          </p:cNvSpPr>
          <p:nvPr>
            <p:ph type="body" sz="quarter" idx="29" hasCustomPrompt="1"/>
          </p:nvPr>
        </p:nvSpPr>
        <p:spPr>
          <a:xfrm>
            <a:off x="3200400" y="6324600"/>
            <a:ext cx="2743200" cy="192024"/>
          </a:xfrm>
        </p:spPr>
        <p:txBody>
          <a:bodyPr anchor="b" anchorCtr="0">
            <a:noAutofit/>
          </a:bodyPr>
          <a:lstStyle>
            <a:lvl1pPr algn="ctr">
              <a:defRPr sz="900"/>
            </a:lvl1pPr>
          </a:lstStyle>
          <a:p>
            <a:pPr lvl="0"/>
            <a:r>
              <a:rPr lang="en-US" dirty="0"/>
              <a:t>Add text alternative link, if needed.</a:t>
            </a:r>
          </a:p>
        </p:txBody>
      </p:sp>
      <p:sp>
        <p:nvSpPr>
          <p:cNvPr id="19" name="Image Credit">
            <a:extLst>
              <a:ext uri="{FF2B5EF4-FFF2-40B4-BE49-F238E27FC236}">
                <a16:creationId xmlns:a16="http://schemas.microsoft.com/office/drawing/2014/main" id="{11CF0136-AD06-4EAE-ADD1-CB06BEFD9BF1}"/>
              </a:ext>
            </a:extLst>
          </p:cNvPr>
          <p:cNvSpPr>
            <a:spLocks noGrp="1"/>
          </p:cNvSpPr>
          <p:nvPr>
            <p:ph type="body" sz="quarter" idx="30" hasCustomPrompt="1"/>
          </p:nvPr>
        </p:nvSpPr>
        <p:spPr>
          <a:xfrm>
            <a:off x="1562101" y="6684963"/>
            <a:ext cx="6976872" cy="173736"/>
          </a:xfrm>
        </p:spPr>
        <p:txBody>
          <a:bodyPr anchor="ctr" anchorCtr="0">
            <a:noAutofit/>
          </a:bodyPr>
          <a:lstStyle>
            <a:lvl1pPr algn="r">
              <a:defRPr sz="800">
                <a:solidFill>
                  <a:srgbClr val="595959"/>
                </a:solidFill>
              </a:defRPr>
            </a:lvl1pPr>
          </a:lstStyle>
          <a:p>
            <a:pPr lvl="0"/>
            <a:r>
              <a:rPr lang="en-US" dirty="0"/>
              <a:t>Insert Image Credit Here</a:t>
            </a:r>
          </a:p>
        </p:txBody>
      </p:sp>
    </p:spTree>
    <p:extLst>
      <p:ext uri="{BB962C8B-B14F-4D97-AF65-F5344CB8AC3E}">
        <p14:creationId xmlns:p14="http://schemas.microsoft.com/office/powerpoint/2010/main" val="103399681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ne Main Placeholder">
  <p:cSld name="1_One Main Placeholder">
    <p:spTree>
      <p:nvGrpSpPr>
        <p:cNvPr id="1" name="Shape 60"/>
        <p:cNvGrpSpPr/>
        <p:nvPr/>
      </p:nvGrpSpPr>
      <p:grpSpPr>
        <a:xfrm>
          <a:off x="0" y="0"/>
          <a:ext cx="0" cy="0"/>
          <a:chOff x="0" y="0"/>
          <a:chExt cx="0" cy="0"/>
        </a:xfrm>
      </p:grpSpPr>
      <p:sp>
        <p:nvSpPr>
          <p:cNvPr id="61" name="Google Shape;61;p165"/>
          <p:cNvSpPr txBox="1">
            <a:spLocks noGrp="1"/>
          </p:cNvSpPr>
          <p:nvPr>
            <p:ph type="title"/>
          </p:nvPr>
        </p:nvSpPr>
        <p:spPr>
          <a:xfrm>
            <a:off x="342900" y="304800"/>
            <a:ext cx="8458200" cy="67861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2400"/>
              <a:buFont typeface="Arial"/>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65"/>
          <p:cNvSpPr txBox="1">
            <a:spLocks noGrp="1"/>
          </p:cNvSpPr>
          <p:nvPr>
            <p:ph type="body" idx="1"/>
          </p:nvPr>
        </p:nvSpPr>
        <p:spPr>
          <a:xfrm>
            <a:off x="342900" y="1276709"/>
            <a:ext cx="8458200" cy="4971691"/>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800"/>
              </a:spcBef>
              <a:spcAft>
                <a:spcPts val="0"/>
              </a:spcAft>
              <a:buClr>
                <a:schemeClr val="dk2"/>
              </a:buClr>
              <a:buSzPts val="2400"/>
              <a:buNone/>
              <a:defRPr sz="2400"/>
            </a:lvl1pPr>
            <a:lvl2pPr marL="914400" lvl="1" indent="-381000" algn="l">
              <a:lnSpc>
                <a:spcPct val="100000"/>
              </a:lnSpc>
              <a:spcBef>
                <a:spcPts val="800"/>
              </a:spcBef>
              <a:spcAft>
                <a:spcPts val="0"/>
              </a:spcAft>
              <a:buClr>
                <a:schemeClr val="dk2"/>
              </a:buClr>
              <a:buSzPts val="2400"/>
              <a:buChar char="•"/>
              <a:defRPr sz="2400"/>
            </a:lvl2pPr>
            <a:lvl3pPr marL="1371600" lvl="2" indent="-355600" algn="l">
              <a:lnSpc>
                <a:spcPct val="100000"/>
              </a:lnSpc>
              <a:spcBef>
                <a:spcPts val="800"/>
              </a:spcBef>
              <a:spcAft>
                <a:spcPts val="0"/>
              </a:spcAft>
              <a:buClr>
                <a:schemeClr val="dk2"/>
              </a:buClr>
              <a:buSzPts val="2000"/>
              <a:buChar char="•"/>
              <a:defRPr sz="2000"/>
            </a:lvl3pPr>
            <a:lvl4pPr marL="1828800" lvl="3" indent="-355600" algn="l">
              <a:lnSpc>
                <a:spcPct val="100000"/>
              </a:lnSpc>
              <a:spcBef>
                <a:spcPts val="800"/>
              </a:spcBef>
              <a:spcAft>
                <a:spcPts val="0"/>
              </a:spcAft>
              <a:buClr>
                <a:schemeClr val="dk1"/>
              </a:buClr>
              <a:buSzPts val="2000"/>
              <a:buChar char="•"/>
              <a:defRPr sz="2000"/>
            </a:lvl4pPr>
            <a:lvl5pPr marL="2286000" lvl="4" indent="-342900" algn="l">
              <a:lnSpc>
                <a:spcPct val="100000"/>
              </a:lnSpc>
              <a:spcBef>
                <a:spcPts val="8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165"/>
          <p:cNvSpPr txBox="1">
            <a:spLocks noGrp="1"/>
          </p:cNvSpPr>
          <p:nvPr>
            <p:ph type="body" idx="2"/>
          </p:nvPr>
        </p:nvSpPr>
        <p:spPr>
          <a:xfrm>
            <a:off x="3200400" y="6324600"/>
            <a:ext cx="2743200" cy="192024"/>
          </a:xfrm>
          <a:prstGeom prst="rect">
            <a:avLst/>
          </a:prstGeom>
          <a:noFill/>
          <a:ln>
            <a:noFill/>
          </a:ln>
        </p:spPr>
        <p:txBody>
          <a:bodyPr spcFirstLastPara="1" wrap="square" lIns="91425" tIns="45700" rIns="91425" bIns="45700" anchor="b" anchorCtr="0">
            <a:noAutofit/>
          </a:bodyPr>
          <a:lstStyle>
            <a:lvl1pPr marL="457200" lvl="0" indent="-228600" algn="ctr">
              <a:lnSpc>
                <a:spcPct val="100000"/>
              </a:lnSpc>
              <a:spcBef>
                <a:spcPts val="0"/>
              </a:spcBef>
              <a:spcAft>
                <a:spcPts val="0"/>
              </a:spcAft>
              <a:buClr>
                <a:schemeClr val="dk2"/>
              </a:buClr>
              <a:buSzPts val="900"/>
              <a:buNone/>
              <a:defRPr sz="900"/>
            </a:lvl1pPr>
            <a:lvl2pPr marL="914400" lvl="1" indent="-342900" algn="l">
              <a:lnSpc>
                <a:spcPct val="100000"/>
              </a:lnSpc>
              <a:spcBef>
                <a:spcPts val="800"/>
              </a:spcBef>
              <a:spcAft>
                <a:spcPts val="0"/>
              </a:spcAft>
              <a:buClr>
                <a:schemeClr val="dk2"/>
              </a:buClr>
              <a:buSzPts val="1800"/>
              <a:buChar char="•"/>
              <a:defRPr/>
            </a:lvl2pPr>
            <a:lvl3pPr marL="1371600" lvl="2" indent="-342900" algn="l">
              <a:lnSpc>
                <a:spcPct val="100000"/>
              </a:lnSpc>
              <a:spcBef>
                <a:spcPts val="800"/>
              </a:spcBef>
              <a:spcAft>
                <a:spcPts val="0"/>
              </a:spcAft>
              <a:buClr>
                <a:schemeClr val="dk2"/>
              </a:buClr>
              <a:buSzPts val="1800"/>
              <a:buChar char="•"/>
              <a:defRPr/>
            </a:lvl3pPr>
            <a:lvl4pPr marL="1828800" lvl="3" indent="-342900" algn="l">
              <a:lnSpc>
                <a:spcPct val="100000"/>
              </a:lnSpc>
              <a:spcBef>
                <a:spcPts val="800"/>
              </a:spcBef>
              <a:spcAft>
                <a:spcPts val="0"/>
              </a:spcAft>
              <a:buClr>
                <a:schemeClr val="dk1"/>
              </a:buClr>
              <a:buSzPts val="1800"/>
              <a:buChar char="•"/>
              <a:defRPr/>
            </a:lvl4pPr>
            <a:lvl5pPr marL="2286000" lvl="4" indent="-342900" algn="l">
              <a:lnSpc>
                <a:spcPct val="100000"/>
              </a:lnSpc>
              <a:spcBef>
                <a:spcPts val="8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165"/>
          <p:cNvSpPr txBox="1">
            <a:spLocks noGrp="1"/>
          </p:cNvSpPr>
          <p:nvPr>
            <p:ph type="body" idx="3"/>
          </p:nvPr>
        </p:nvSpPr>
        <p:spPr>
          <a:xfrm>
            <a:off x="1562101" y="6684963"/>
            <a:ext cx="6976872" cy="173736"/>
          </a:xfrm>
          <a:prstGeom prst="rect">
            <a:avLst/>
          </a:prstGeom>
          <a:noFill/>
          <a:ln>
            <a:noFill/>
          </a:ln>
        </p:spPr>
        <p:txBody>
          <a:bodyPr spcFirstLastPara="1" wrap="square" lIns="91425" tIns="45700" rIns="91425" bIns="45700" anchor="ctr" anchorCtr="0">
            <a:noAutofit/>
          </a:bodyPr>
          <a:lstStyle>
            <a:lvl1pPr marL="457200" lvl="0" indent="-228600" algn="r">
              <a:lnSpc>
                <a:spcPct val="100000"/>
              </a:lnSpc>
              <a:spcBef>
                <a:spcPts val="0"/>
              </a:spcBef>
              <a:spcAft>
                <a:spcPts val="0"/>
              </a:spcAft>
              <a:buClr>
                <a:srgbClr val="595959"/>
              </a:buClr>
              <a:buSzPts val="800"/>
              <a:buNone/>
              <a:defRPr sz="800">
                <a:solidFill>
                  <a:srgbClr val="595959"/>
                </a:solidFill>
              </a:defRPr>
            </a:lvl1pPr>
            <a:lvl2pPr marL="914400" lvl="1" indent="-342900" algn="l">
              <a:lnSpc>
                <a:spcPct val="100000"/>
              </a:lnSpc>
              <a:spcBef>
                <a:spcPts val="800"/>
              </a:spcBef>
              <a:spcAft>
                <a:spcPts val="0"/>
              </a:spcAft>
              <a:buClr>
                <a:schemeClr val="dk2"/>
              </a:buClr>
              <a:buSzPts val="1800"/>
              <a:buChar char="•"/>
              <a:defRPr/>
            </a:lvl2pPr>
            <a:lvl3pPr marL="1371600" lvl="2" indent="-342900" algn="l">
              <a:lnSpc>
                <a:spcPct val="100000"/>
              </a:lnSpc>
              <a:spcBef>
                <a:spcPts val="800"/>
              </a:spcBef>
              <a:spcAft>
                <a:spcPts val="0"/>
              </a:spcAft>
              <a:buClr>
                <a:schemeClr val="dk2"/>
              </a:buClr>
              <a:buSzPts val="1800"/>
              <a:buChar char="•"/>
              <a:defRPr/>
            </a:lvl3pPr>
            <a:lvl4pPr marL="1828800" lvl="3" indent="-342900" algn="l">
              <a:lnSpc>
                <a:spcPct val="100000"/>
              </a:lnSpc>
              <a:spcBef>
                <a:spcPts val="800"/>
              </a:spcBef>
              <a:spcAft>
                <a:spcPts val="0"/>
              </a:spcAft>
              <a:buClr>
                <a:schemeClr val="dk1"/>
              </a:buClr>
              <a:buSzPts val="1800"/>
              <a:buChar char="•"/>
              <a:defRPr/>
            </a:lvl4pPr>
            <a:lvl5pPr marL="2286000" lvl="4" indent="-342900" algn="l">
              <a:lnSpc>
                <a:spcPct val="100000"/>
              </a:lnSpc>
              <a:spcBef>
                <a:spcPts val="8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4505853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Horizontal Main Placeholders">
  <p:cSld name="1_Two Horizontal Main Placeholders">
    <p:spTree>
      <p:nvGrpSpPr>
        <p:cNvPr id="1" name="Shape 65"/>
        <p:cNvGrpSpPr/>
        <p:nvPr/>
      </p:nvGrpSpPr>
      <p:grpSpPr>
        <a:xfrm>
          <a:off x="0" y="0"/>
          <a:ext cx="0" cy="0"/>
          <a:chOff x="0" y="0"/>
          <a:chExt cx="0" cy="0"/>
        </a:xfrm>
      </p:grpSpPr>
      <p:sp>
        <p:nvSpPr>
          <p:cNvPr id="66" name="Google Shape;66;p166"/>
          <p:cNvSpPr txBox="1">
            <a:spLocks noGrp="1"/>
          </p:cNvSpPr>
          <p:nvPr>
            <p:ph type="title"/>
          </p:nvPr>
        </p:nvSpPr>
        <p:spPr>
          <a:xfrm>
            <a:off x="342900" y="304800"/>
            <a:ext cx="8458200" cy="67861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2400"/>
              <a:buFont typeface="Arial"/>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66"/>
          <p:cNvSpPr txBox="1">
            <a:spLocks noGrp="1"/>
          </p:cNvSpPr>
          <p:nvPr>
            <p:ph type="body" idx="1"/>
          </p:nvPr>
        </p:nvSpPr>
        <p:spPr>
          <a:xfrm>
            <a:off x="342900" y="1276709"/>
            <a:ext cx="8458200" cy="2838091"/>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dk2"/>
              </a:buClr>
              <a:buSzPts val="2400"/>
              <a:buNone/>
              <a:defRPr sz="2400"/>
            </a:lvl1pPr>
            <a:lvl2pPr marL="914400" lvl="1" indent="-381000" algn="l">
              <a:lnSpc>
                <a:spcPct val="100000"/>
              </a:lnSpc>
              <a:spcBef>
                <a:spcPts val="800"/>
              </a:spcBef>
              <a:spcAft>
                <a:spcPts val="0"/>
              </a:spcAft>
              <a:buClr>
                <a:schemeClr val="dk2"/>
              </a:buClr>
              <a:buSzPts val="2400"/>
              <a:buChar char="•"/>
              <a:defRPr sz="2400"/>
            </a:lvl2pPr>
            <a:lvl3pPr marL="1371600" lvl="2" indent="-355600" algn="l">
              <a:lnSpc>
                <a:spcPct val="100000"/>
              </a:lnSpc>
              <a:spcBef>
                <a:spcPts val="800"/>
              </a:spcBef>
              <a:spcAft>
                <a:spcPts val="0"/>
              </a:spcAft>
              <a:buClr>
                <a:schemeClr val="dk2"/>
              </a:buClr>
              <a:buSzPts val="2000"/>
              <a:buChar char="•"/>
              <a:defRPr sz="2000"/>
            </a:lvl3pPr>
            <a:lvl4pPr marL="1828800" lvl="3" indent="-342900" algn="l">
              <a:lnSpc>
                <a:spcPct val="100000"/>
              </a:lnSpc>
              <a:spcBef>
                <a:spcPts val="800"/>
              </a:spcBef>
              <a:spcAft>
                <a:spcPts val="0"/>
              </a:spcAft>
              <a:buClr>
                <a:schemeClr val="dk1"/>
              </a:buClr>
              <a:buSzPts val="1800"/>
              <a:buChar char="•"/>
              <a:defRPr/>
            </a:lvl4pPr>
            <a:lvl5pPr marL="2286000" lvl="4" indent="-342900" algn="l">
              <a:lnSpc>
                <a:spcPct val="100000"/>
              </a:lnSpc>
              <a:spcBef>
                <a:spcPts val="8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166"/>
          <p:cNvSpPr txBox="1">
            <a:spLocks noGrp="1"/>
          </p:cNvSpPr>
          <p:nvPr>
            <p:ph type="body" idx="2"/>
          </p:nvPr>
        </p:nvSpPr>
        <p:spPr>
          <a:xfrm>
            <a:off x="342900" y="4343400"/>
            <a:ext cx="8458200" cy="1905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dk2"/>
              </a:buClr>
              <a:buSzPts val="2400"/>
              <a:buNone/>
              <a:defRPr sz="2400"/>
            </a:lvl1pPr>
            <a:lvl2pPr marL="914400" lvl="1" indent="-381000" algn="l">
              <a:lnSpc>
                <a:spcPct val="100000"/>
              </a:lnSpc>
              <a:spcBef>
                <a:spcPts val="800"/>
              </a:spcBef>
              <a:spcAft>
                <a:spcPts val="0"/>
              </a:spcAft>
              <a:buClr>
                <a:schemeClr val="dk2"/>
              </a:buClr>
              <a:buSzPts val="2400"/>
              <a:buChar char="•"/>
              <a:defRPr sz="2400"/>
            </a:lvl2pPr>
            <a:lvl3pPr marL="1371600" lvl="2" indent="-355600" algn="l">
              <a:lnSpc>
                <a:spcPct val="100000"/>
              </a:lnSpc>
              <a:spcBef>
                <a:spcPts val="800"/>
              </a:spcBef>
              <a:spcAft>
                <a:spcPts val="0"/>
              </a:spcAft>
              <a:buClr>
                <a:schemeClr val="dk2"/>
              </a:buClr>
              <a:buSzPts val="2000"/>
              <a:buChar char="•"/>
              <a:defRPr sz="2000"/>
            </a:lvl3pPr>
            <a:lvl4pPr marL="1828800" lvl="3" indent="-228600" algn="l">
              <a:lnSpc>
                <a:spcPct val="100000"/>
              </a:lnSpc>
              <a:spcBef>
                <a:spcPts val="800"/>
              </a:spcBef>
              <a:spcAft>
                <a:spcPts val="0"/>
              </a:spcAft>
              <a:buClr>
                <a:schemeClr val="dk1"/>
              </a:buClr>
              <a:buSzPts val="2000"/>
              <a:buNone/>
              <a:defRPr/>
            </a:lvl4pPr>
            <a:lvl5pPr marL="2286000" lvl="4" indent="-342900" algn="l">
              <a:lnSpc>
                <a:spcPct val="100000"/>
              </a:lnSpc>
              <a:spcBef>
                <a:spcPts val="8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166"/>
          <p:cNvSpPr txBox="1">
            <a:spLocks noGrp="1"/>
          </p:cNvSpPr>
          <p:nvPr>
            <p:ph type="body" idx="3"/>
          </p:nvPr>
        </p:nvSpPr>
        <p:spPr>
          <a:xfrm>
            <a:off x="3200400" y="6324600"/>
            <a:ext cx="2743200" cy="192024"/>
          </a:xfrm>
          <a:prstGeom prst="rect">
            <a:avLst/>
          </a:prstGeom>
          <a:noFill/>
          <a:ln>
            <a:noFill/>
          </a:ln>
        </p:spPr>
        <p:txBody>
          <a:bodyPr spcFirstLastPara="1" wrap="square" lIns="91425" tIns="45700" rIns="91425" bIns="45700" anchor="b" anchorCtr="0">
            <a:noAutofit/>
          </a:bodyPr>
          <a:lstStyle>
            <a:lvl1pPr marL="457200" lvl="0" indent="-228600" algn="ctr">
              <a:lnSpc>
                <a:spcPct val="100000"/>
              </a:lnSpc>
              <a:spcBef>
                <a:spcPts val="0"/>
              </a:spcBef>
              <a:spcAft>
                <a:spcPts val="0"/>
              </a:spcAft>
              <a:buClr>
                <a:schemeClr val="dk2"/>
              </a:buClr>
              <a:buSzPts val="900"/>
              <a:buNone/>
              <a:defRPr sz="900"/>
            </a:lvl1pPr>
            <a:lvl2pPr marL="914400" lvl="1" indent="-342900" algn="l">
              <a:lnSpc>
                <a:spcPct val="100000"/>
              </a:lnSpc>
              <a:spcBef>
                <a:spcPts val="800"/>
              </a:spcBef>
              <a:spcAft>
                <a:spcPts val="0"/>
              </a:spcAft>
              <a:buClr>
                <a:schemeClr val="dk2"/>
              </a:buClr>
              <a:buSzPts val="1800"/>
              <a:buChar char="•"/>
              <a:defRPr/>
            </a:lvl2pPr>
            <a:lvl3pPr marL="1371600" lvl="2" indent="-342900" algn="l">
              <a:lnSpc>
                <a:spcPct val="100000"/>
              </a:lnSpc>
              <a:spcBef>
                <a:spcPts val="800"/>
              </a:spcBef>
              <a:spcAft>
                <a:spcPts val="0"/>
              </a:spcAft>
              <a:buClr>
                <a:schemeClr val="dk2"/>
              </a:buClr>
              <a:buSzPts val="1800"/>
              <a:buChar char="•"/>
              <a:defRPr/>
            </a:lvl3pPr>
            <a:lvl4pPr marL="1828800" lvl="3" indent="-342900" algn="l">
              <a:lnSpc>
                <a:spcPct val="100000"/>
              </a:lnSpc>
              <a:spcBef>
                <a:spcPts val="800"/>
              </a:spcBef>
              <a:spcAft>
                <a:spcPts val="0"/>
              </a:spcAft>
              <a:buClr>
                <a:schemeClr val="dk1"/>
              </a:buClr>
              <a:buSzPts val="1800"/>
              <a:buChar char="•"/>
              <a:defRPr/>
            </a:lvl4pPr>
            <a:lvl5pPr marL="2286000" lvl="4" indent="-342900" algn="l">
              <a:lnSpc>
                <a:spcPct val="100000"/>
              </a:lnSpc>
              <a:spcBef>
                <a:spcPts val="8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166"/>
          <p:cNvSpPr txBox="1">
            <a:spLocks noGrp="1"/>
          </p:cNvSpPr>
          <p:nvPr>
            <p:ph type="body" idx="4"/>
          </p:nvPr>
        </p:nvSpPr>
        <p:spPr>
          <a:xfrm>
            <a:off x="1562101" y="6684963"/>
            <a:ext cx="6976872" cy="173736"/>
          </a:xfrm>
          <a:prstGeom prst="rect">
            <a:avLst/>
          </a:prstGeom>
          <a:noFill/>
          <a:ln>
            <a:noFill/>
          </a:ln>
        </p:spPr>
        <p:txBody>
          <a:bodyPr spcFirstLastPara="1" wrap="square" lIns="91425" tIns="45700" rIns="91425" bIns="45700" anchor="ctr" anchorCtr="0">
            <a:noAutofit/>
          </a:bodyPr>
          <a:lstStyle>
            <a:lvl1pPr marL="457200" lvl="0" indent="-228600" algn="r">
              <a:lnSpc>
                <a:spcPct val="100000"/>
              </a:lnSpc>
              <a:spcBef>
                <a:spcPts val="0"/>
              </a:spcBef>
              <a:spcAft>
                <a:spcPts val="0"/>
              </a:spcAft>
              <a:buClr>
                <a:srgbClr val="595959"/>
              </a:buClr>
              <a:buSzPts val="800"/>
              <a:buNone/>
              <a:defRPr sz="800">
                <a:solidFill>
                  <a:srgbClr val="595959"/>
                </a:solidFill>
              </a:defRPr>
            </a:lvl1pPr>
            <a:lvl2pPr marL="914400" lvl="1" indent="-342900" algn="l">
              <a:lnSpc>
                <a:spcPct val="100000"/>
              </a:lnSpc>
              <a:spcBef>
                <a:spcPts val="800"/>
              </a:spcBef>
              <a:spcAft>
                <a:spcPts val="0"/>
              </a:spcAft>
              <a:buClr>
                <a:schemeClr val="dk2"/>
              </a:buClr>
              <a:buSzPts val="1800"/>
              <a:buChar char="•"/>
              <a:defRPr/>
            </a:lvl2pPr>
            <a:lvl3pPr marL="1371600" lvl="2" indent="-342900" algn="l">
              <a:lnSpc>
                <a:spcPct val="100000"/>
              </a:lnSpc>
              <a:spcBef>
                <a:spcPts val="800"/>
              </a:spcBef>
              <a:spcAft>
                <a:spcPts val="0"/>
              </a:spcAft>
              <a:buClr>
                <a:schemeClr val="dk2"/>
              </a:buClr>
              <a:buSzPts val="1800"/>
              <a:buChar char="•"/>
              <a:defRPr/>
            </a:lvl3pPr>
            <a:lvl4pPr marL="1828800" lvl="3" indent="-342900" algn="l">
              <a:lnSpc>
                <a:spcPct val="100000"/>
              </a:lnSpc>
              <a:spcBef>
                <a:spcPts val="800"/>
              </a:spcBef>
              <a:spcAft>
                <a:spcPts val="0"/>
              </a:spcAft>
              <a:buClr>
                <a:schemeClr val="dk1"/>
              </a:buClr>
              <a:buSzPts val="1800"/>
              <a:buChar char="•"/>
              <a:defRPr/>
            </a:lvl4pPr>
            <a:lvl5pPr marL="2286000" lvl="4" indent="-342900" algn="l">
              <a:lnSpc>
                <a:spcPct val="100000"/>
              </a:lnSpc>
              <a:spcBef>
                <a:spcPts val="8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67400224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Tree>
    <p:extLst>
      <p:ext uri="{BB962C8B-B14F-4D97-AF65-F5344CB8AC3E}">
        <p14:creationId xmlns:p14="http://schemas.microsoft.com/office/powerpoint/2010/main" val="7295532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4" name="Content Placeholder 3">
            <a:extLst>
              <a:ext uri="{FF2B5EF4-FFF2-40B4-BE49-F238E27FC236}">
                <a16:creationId xmlns:a16="http://schemas.microsoft.com/office/drawing/2014/main" id="{0F99ECE4-CEB6-4518-B036-709D64B27AE0}"/>
              </a:ext>
            </a:extLst>
          </p:cNvPr>
          <p:cNvSpPr>
            <a:spLocks noGrp="1"/>
          </p:cNvSpPr>
          <p:nvPr>
            <p:ph sz="quarter" idx="16" hasCustomPrompt="1"/>
          </p:nvPr>
        </p:nvSpPr>
        <p:spPr>
          <a:xfrm>
            <a:off x="342900" y="1371601"/>
            <a:ext cx="8458200" cy="4873752"/>
          </a:xfrm>
        </p:spPr>
        <p:txBody>
          <a:bodyPr>
            <a:noAutofit/>
          </a:bodyPr>
          <a:lstStyle>
            <a:lvl1pPr>
              <a:defRPr/>
            </a:lvl1pPr>
          </a:lstStyle>
          <a:p>
            <a:pPr lvl="0"/>
            <a:r>
              <a:rPr lang="en-US" dirty="0"/>
              <a:t>Slide Content</a:t>
            </a:r>
          </a:p>
          <a:p>
            <a:pPr lvl="1"/>
            <a:r>
              <a:rPr lang="en-US" dirty="0"/>
              <a:t>Second level</a:t>
            </a:r>
          </a:p>
          <a:p>
            <a:pPr lvl="2"/>
            <a:r>
              <a:rPr lang="en-US" dirty="0"/>
              <a:t>Third level</a:t>
            </a:r>
          </a:p>
        </p:txBody>
      </p:sp>
      <p:sp>
        <p:nvSpPr>
          <p:cNvPr id="8" name="Return to main slide Link 2">
            <a:extLst>
              <a:ext uri="{FF2B5EF4-FFF2-40B4-BE49-F238E27FC236}">
                <a16:creationId xmlns:a16="http://schemas.microsoft.com/office/drawing/2014/main" id="{9B134E77-CDFC-4241-959A-BAF4C2ADE209}"/>
              </a:ext>
            </a:extLst>
          </p:cNvPr>
          <p:cNvSpPr>
            <a:spLocks noGrp="1"/>
          </p:cNvSpPr>
          <p:nvPr>
            <p:ph type="body" sz="quarter" idx="17" hasCustomPrompt="1"/>
          </p:nvPr>
        </p:nvSpPr>
        <p:spPr>
          <a:xfrm>
            <a:off x="3070946" y="6350211"/>
            <a:ext cx="2980944" cy="228600"/>
          </a:xfrm>
        </p:spPr>
        <p:txBody>
          <a:bodyPr anchor="ctr">
            <a:noAutofit/>
          </a:bodyPr>
          <a:lstStyle>
            <a:lvl1pPr algn="ctr">
              <a:defRPr sz="1200"/>
            </a:lvl1pPr>
          </a:lstStyle>
          <a:p>
            <a:pPr lvl="0"/>
            <a:r>
              <a:rPr lang="en-IN" dirty="0"/>
              <a:t>Return to parent-slide containing images.</a:t>
            </a:r>
          </a:p>
        </p:txBody>
      </p:sp>
    </p:spTree>
    <p:extLst>
      <p:ext uri="{BB962C8B-B14F-4D97-AF65-F5344CB8AC3E}">
        <p14:creationId xmlns:p14="http://schemas.microsoft.com/office/powerpoint/2010/main" val="918002731"/>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Tree>
    <p:extLst>
      <p:ext uri="{BB962C8B-B14F-4D97-AF65-F5344CB8AC3E}">
        <p14:creationId xmlns:p14="http://schemas.microsoft.com/office/powerpoint/2010/main" val="36925710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4" name="Content Placeholder 3">
            <a:extLst>
              <a:ext uri="{FF2B5EF4-FFF2-40B4-BE49-F238E27FC236}">
                <a16:creationId xmlns:a16="http://schemas.microsoft.com/office/drawing/2014/main" id="{0F99ECE4-CEB6-4518-B036-709D64B27AE0}"/>
              </a:ext>
            </a:extLst>
          </p:cNvPr>
          <p:cNvSpPr>
            <a:spLocks noGrp="1"/>
          </p:cNvSpPr>
          <p:nvPr>
            <p:ph sz="quarter" idx="16" hasCustomPrompt="1"/>
          </p:nvPr>
        </p:nvSpPr>
        <p:spPr>
          <a:xfrm>
            <a:off x="342900" y="1371601"/>
            <a:ext cx="8458200" cy="4873752"/>
          </a:xfrm>
        </p:spPr>
        <p:txBody>
          <a:bodyPr>
            <a:noAutofit/>
          </a:bodyPr>
          <a:lstStyle>
            <a:lvl1pPr>
              <a:defRPr/>
            </a:lvl1pPr>
          </a:lstStyle>
          <a:p>
            <a:pPr lvl="0"/>
            <a:r>
              <a:rPr lang="en-US" dirty="0"/>
              <a:t>Slide Content</a:t>
            </a:r>
          </a:p>
          <a:p>
            <a:pPr lvl="1"/>
            <a:r>
              <a:rPr lang="en-US" dirty="0"/>
              <a:t>Second level</a:t>
            </a:r>
          </a:p>
          <a:p>
            <a:pPr lvl="2"/>
            <a:r>
              <a:rPr lang="en-US" dirty="0"/>
              <a:t>Third level</a:t>
            </a:r>
          </a:p>
        </p:txBody>
      </p:sp>
      <p:sp>
        <p:nvSpPr>
          <p:cNvPr id="8" name="Return to main slide Link 2">
            <a:extLst>
              <a:ext uri="{FF2B5EF4-FFF2-40B4-BE49-F238E27FC236}">
                <a16:creationId xmlns:a16="http://schemas.microsoft.com/office/drawing/2014/main" id="{9B134E77-CDFC-4241-959A-BAF4C2ADE209}"/>
              </a:ext>
            </a:extLst>
          </p:cNvPr>
          <p:cNvSpPr>
            <a:spLocks noGrp="1"/>
          </p:cNvSpPr>
          <p:nvPr>
            <p:ph type="body" sz="quarter" idx="17" hasCustomPrompt="1"/>
          </p:nvPr>
        </p:nvSpPr>
        <p:spPr>
          <a:xfrm>
            <a:off x="3070946" y="6350211"/>
            <a:ext cx="2980944" cy="228600"/>
          </a:xfrm>
        </p:spPr>
        <p:txBody>
          <a:bodyPr anchor="ctr">
            <a:noAutofit/>
          </a:bodyPr>
          <a:lstStyle>
            <a:lvl1pPr algn="ctr">
              <a:defRPr sz="1200"/>
            </a:lvl1pPr>
          </a:lstStyle>
          <a:p>
            <a:pPr lvl="0"/>
            <a:r>
              <a:rPr lang="en-IN" dirty="0"/>
              <a:t>Return to parent-slide containing images.</a:t>
            </a:r>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4" name="Image Identifier 1">
            <a:extLst>
              <a:ext uri="{FF2B5EF4-FFF2-40B4-BE49-F238E27FC236}">
                <a16:creationId xmlns:a16="http://schemas.microsoft.com/office/drawing/2014/main" id="{06B6FD09-21E6-4C44-B034-2825B085D9AB}"/>
              </a:ext>
            </a:extLst>
          </p:cNvPr>
          <p:cNvSpPr>
            <a:spLocks noGrp="1"/>
          </p:cNvSpPr>
          <p:nvPr>
            <p:ph type="body" sz="quarter" idx="17" hasCustomPrompt="1"/>
          </p:nvPr>
        </p:nvSpPr>
        <p:spPr>
          <a:xfrm>
            <a:off x="365125" y="1410562"/>
            <a:ext cx="4078224" cy="393192"/>
          </a:xfrm>
        </p:spPr>
        <p:txBody>
          <a:bodyPr>
            <a:noAutofit/>
          </a:bodyPr>
          <a:lstStyle>
            <a:lvl1pPr>
              <a:defRPr/>
            </a:lvl1pPr>
          </a:lstStyle>
          <a:p>
            <a:pPr lvl="0"/>
            <a:r>
              <a:rPr lang="en-US" dirty="0"/>
              <a:t>Image Identifier 1</a:t>
            </a:r>
          </a:p>
        </p:txBody>
      </p:sp>
      <p:sp>
        <p:nvSpPr>
          <p:cNvPr id="12" name="Content Placeholder 1">
            <a:extLst>
              <a:ext uri="{FF2B5EF4-FFF2-40B4-BE49-F238E27FC236}">
                <a16:creationId xmlns:a16="http://schemas.microsoft.com/office/drawing/2014/main" id="{211AB556-A79C-4FDF-BD73-C1AB72D9590A}"/>
              </a:ext>
            </a:extLst>
          </p:cNvPr>
          <p:cNvSpPr>
            <a:spLocks noGrp="1"/>
          </p:cNvSpPr>
          <p:nvPr>
            <p:ph sz="quarter" idx="18" hasCustomPrompt="1"/>
          </p:nvPr>
        </p:nvSpPr>
        <p:spPr>
          <a:xfrm>
            <a:off x="342900" y="1933303"/>
            <a:ext cx="4078224" cy="4315968"/>
          </a:xfrm>
        </p:spPr>
        <p:txBody>
          <a:bodyPr>
            <a:noAutofit/>
          </a:bodyPr>
          <a:lstStyle>
            <a:lvl1pPr>
              <a:defRPr/>
            </a:lvl1pPr>
          </a:lstStyle>
          <a:p>
            <a:pPr lvl="0"/>
            <a:r>
              <a:rPr lang="en-US" dirty="0"/>
              <a:t>Slide Content</a:t>
            </a:r>
          </a:p>
          <a:p>
            <a:pPr lvl="1"/>
            <a:r>
              <a:rPr lang="en-US" dirty="0"/>
              <a:t>Second level</a:t>
            </a:r>
          </a:p>
          <a:p>
            <a:pPr lvl="2"/>
            <a:r>
              <a:rPr lang="en-US" dirty="0"/>
              <a:t>Third level</a:t>
            </a:r>
          </a:p>
        </p:txBody>
      </p:sp>
      <p:sp>
        <p:nvSpPr>
          <p:cNvPr id="14" name="Image Identifier 2">
            <a:extLst>
              <a:ext uri="{FF2B5EF4-FFF2-40B4-BE49-F238E27FC236}">
                <a16:creationId xmlns:a16="http://schemas.microsoft.com/office/drawing/2014/main" id="{8126F7C8-57F8-404E-8B7F-DFB94AEB3363}"/>
              </a:ext>
            </a:extLst>
          </p:cNvPr>
          <p:cNvSpPr>
            <a:spLocks noGrp="1"/>
          </p:cNvSpPr>
          <p:nvPr>
            <p:ph type="body" sz="quarter" idx="19" hasCustomPrompt="1"/>
          </p:nvPr>
        </p:nvSpPr>
        <p:spPr>
          <a:xfrm>
            <a:off x="4715145" y="1410562"/>
            <a:ext cx="4078224" cy="393192"/>
          </a:xfrm>
        </p:spPr>
        <p:txBody>
          <a:bodyPr>
            <a:noAutofit/>
          </a:bodyPr>
          <a:lstStyle>
            <a:lvl1pPr>
              <a:defRPr/>
            </a:lvl1pPr>
          </a:lstStyle>
          <a:p>
            <a:pPr lvl="0"/>
            <a:r>
              <a:rPr lang="en-US" dirty="0"/>
              <a:t>Image Identifier 2</a:t>
            </a:r>
          </a:p>
        </p:txBody>
      </p:sp>
      <p:sp>
        <p:nvSpPr>
          <p:cNvPr id="16" name="Content Placeholder 2">
            <a:extLst>
              <a:ext uri="{FF2B5EF4-FFF2-40B4-BE49-F238E27FC236}">
                <a16:creationId xmlns:a16="http://schemas.microsoft.com/office/drawing/2014/main" id="{241441BC-54C7-474E-887C-32AF8F737FA5}"/>
              </a:ext>
            </a:extLst>
          </p:cNvPr>
          <p:cNvSpPr>
            <a:spLocks noGrp="1"/>
          </p:cNvSpPr>
          <p:nvPr>
            <p:ph sz="quarter" idx="20" hasCustomPrompt="1"/>
          </p:nvPr>
        </p:nvSpPr>
        <p:spPr>
          <a:xfrm>
            <a:off x="4722876" y="1932432"/>
            <a:ext cx="4078224" cy="4315968"/>
          </a:xfrm>
        </p:spPr>
        <p:txBody>
          <a:bodyPr>
            <a:noAutofit/>
          </a:bodyPr>
          <a:lstStyle>
            <a:lvl1pPr>
              <a:defRPr/>
            </a:lvl1pPr>
          </a:lstStyle>
          <a:p>
            <a:pPr lvl="0"/>
            <a:r>
              <a:rPr lang="en-US" dirty="0"/>
              <a:t>Slide Content 2</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Return to main slide Link 2">
            <a:extLst>
              <a:ext uri="{FF2B5EF4-FFF2-40B4-BE49-F238E27FC236}">
                <a16:creationId xmlns:a16="http://schemas.microsoft.com/office/drawing/2014/main" id="{B9537776-81D3-4405-934B-448730728479}"/>
              </a:ext>
            </a:extLst>
          </p:cNvPr>
          <p:cNvSpPr>
            <a:spLocks noGrp="1"/>
          </p:cNvSpPr>
          <p:nvPr>
            <p:ph type="body" sz="quarter" idx="21" hasCustomPrompt="1"/>
          </p:nvPr>
        </p:nvSpPr>
        <p:spPr>
          <a:xfrm>
            <a:off x="3081528" y="6348550"/>
            <a:ext cx="2980944" cy="228600"/>
          </a:xfrm>
        </p:spPr>
        <p:txBody>
          <a:bodyPr anchor="ctr">
            <a:noAutofit/>
          </a:bodyPr>
          <a:lstStyle>
            <a:lvl1pPr algn="ctr">
              <a:defRPr sz="1200"/>
            </a:lvl1pPr>
          </a:lstStyle>
          <a:p>
            <a:pPr lvl="0"/>
            <a:r>
              <a:rPr lang="en-IN" dirty="0"/>
              <a:t>Return to parent-slide containing images.</a:t>
            </a:r>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10" Type="http://schemas.openxmlformats.org/officeDocument/2006/relationships/theme" Target="../theme/theme2.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8.xml"/><Relationship Id="rId1" Type="http://schemas.openxmlformats.org/officeDocument/2006/relationships/slideLayout" Target="../slideLayouts/slideLayout17.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0.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a:extLst>
              <a:ext uri="{FF2B5EF4-FFF2-40B4-BE49-F238E27FC236}">
                <a16:creationId xmlns:a16="http://schemas.microsoft.com/office/drawing/2014/main" id="{BF372B49-B6F5-4826-B4F8-2F8A4FFF8894}"/>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endParaRPr lang="en-US" dirty="0"/>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
        <p:nvSpPr>
          <p:cNvPr id="7" name="Slide Number"/>
          <p:cNvSpPr txBox="1"/>
          <p:nvPr userDrawn="1"/>
        </p:nvSpPr>
        <p:spPr>
          <a:xfrm>
            <a:off x="8625636" y="6670335"/>
            <a:ext cx="356616" cy="164592"/>
          </a:xfrm>
          <a:prstGeom prst="rect">
            <a:avLst/>
          </a:prstGeom>
          <a:noFill/>
        </p:spPr>
        <p:txBody>
          <a:bodyPr wrap="square" lIns="45720" rIns="45720" rtlCol="0" anchor="ctr" anchorCtr="0">
            <a:noAutofit/>
          </a:bodyPr>
          <a:lstStyle/>
          <a:p>
            <a:pPr algn="r"/>
            <a:fld id="{960EEC4C-B90A-40FB-9378-A310753B0AE3}" type="slidenum">
              <a:rPr lang="en-US" sz="800" smtClean="0">
                <a:solidFill>
                  <a:srgbClr val="595959"/>
                </a:solidFill>
              </a:rPr>
              <a:pPr algn="r"/>
              <a:t>‹#›</a:t>
            </a:fld>
            <a:endParaRPr lang="en-US" sz="800" dirty="0">
              <a:solidFill>
                <a:srgbClr val="595959"/>
              </a:solidFill>
            </a:endParaRPr>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9" r:id="rId3"/>
    <p:sldLayoutId id="2147483695" r:id="rId4"/>
    <p:sldLayoutId id="2147483696" r:id="rId5"/>
    <p:sldLayoutId id="2147483697" r:id="rId6"/>
    <p:sldLayoutId id="2147483704" r:id="rId7"/>
    <p:sldLayoutId id="2147483707" r:id="rId8"/>
    <p:sldLayoutId id="2147483708" r:id="rId9"/>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640080"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914400" indent="-285750" algn="l" defTabSz="914400" rtl="0" eaLnBrk="1" latinLnBrk="0" hangingPunct="1">
        <a:lnSpc>
          <a:spcPct val="100000"/>
        </a:lnSpc>
        <a:spcBef>
          <a:spcPts val="800"/>
        </a:spcBef>
        <a:spcAft>
          <a:spcPts val="800"/>
        </a:spcAft>
        <a:buFont typeface="Arial" panose="020B0604020202020204" pitchFamily="34" charset="0"/>
        <a:buChar char="•"/>
        <a:defRPr sz="20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 id="2147483705" r:id="rId2"/>
    <p:sldLayoutId id="2147483706" r:id="rId3"/>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Autofit/>
          </a:bodyPr>
          <a:lstStyle/>
          <a:p>
            <a:r>
              <a:rPr lang="en-US" dirty="0"/>
              <a:t>Title goes here</a:t>
            </a:r>
          </a:p>
        </p:txBody>
      </p:sp>
      <p:sp>
        <p:nvSpPr>
          <p:cNvPr id="14" name="Slide Number"/>
          <p:cNvSpPr txBox="1"/>
          <p:nvPr userDrawn="1"/>
        </p:nvSpPr>
        <p:spPr>
          <a:xfrm>
            <a:off x="8625636" y="6670335"/>
            <a:ext cx="356616" cy="164592"/>
          </a:xfrm>
          <a:prstGeom prst="rect">
            <a:avLst/>
          </a:prstGeom>
          <a:noFill/>
        </p:spPr>
        <p:txBody>
          <a:bodyPr wrap="square" lIns="45720" rIns="45720" rtlCol="0" anchor="ctr" anchorCtr="0">
            <a:noAutofit/>
          </a:bodyPr>
          <a:lstStyle/>
          <a:p>
            <a:pPr algn="r"/>
            <a:fld id="{960EEC4C-B90A-40FB-9378-A310753B0AE3}" type="slidenum">
              <a:rPr lang="en-US" sz="800" smtClean="0">
                <a:solidFill>
                  <a:srgbClr val="595959"/>
                </a:solidFill>
              </a:rPr>
              <a:pPr algn="r"/>
              <a:t>‹#›</a:t>
            </a:fld>
            <a:endParaRPr lang="en-US" sz="800" dirty="0">
              <a:solidFill>
                <a:srgbClr val="595959"/>
              </a:solidFill>
            </a:endParaRP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Lst>
  <p:hf hdr="0" dt="0"/>
  <p:txStyles>
    <p:titleStyle>
      <a:lvl1pPr algn="l" defTabSz="914400" rtl="0" eaLnBrk="1" latinLnBrk="0" hangingPunct="1">
        <a:lnSpc>
          <a:spcPct val="10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
        <p:nvSpPr>
          <p:cNvPr id="7" name="Slide Number"/>
          <p:cNvSpPr txBox="1"/>
          <p:nvPr userDrawn="1"/>
        </p:nvSpPr>
        <p:spPr>
          <a:xfrm>
            <a:off x="8625636" y="6670335"/>
            <a:ext cx="356616" cy="164592"/>
          </a:xfrm>
          <a:prstGeom prst="rect">
            <a:avLst/>
          </a:prstGeom>
          <a:noFill/>
        </p:spPr>
        <p:txBody>
          <a:bodyPr wrap="square" lIns="45720" rIns="45720" rtlCol="0" anchor="ctr" anchorCtr="0">
            <a:noAutofit/>
          </a:bodyPr>
          <a:lstStyle/>
          <a:p>
            <a:pPr algn="r"/>
            <a:fld id="{960EEC4C-B90A-40FB-9378-A310753B0AE3}" type="slidenum">
              <a:rPr lang="en-US" sz="800" smtClean="0">
                <a:solidFill>
                  <a:srgbClr val="595959"/>
                </a:solidFill>
              </a:rPr>
              <a:pPr algn="r"/>
              <a:t>‹#›</a:t>
            </a:fld>
            <a:endParaRPr lang="en-US" sz="800" dirty="0">
              <a:solidFill>
                <a:srgbClr val="595959"/>
              </a:solidFill>
            </a:endParaRPr>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e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48.png"/></Relationships>
</file>

<file path=ppt/slides/_rels/slide51.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50.jpg"/><Relationship Id="rId4" Type="http://schemas.openxmlformats.org/officeDocument/2006/relationships/image" Target="../media/image49.jpg"/></Relationships>
</file>

<file path=ppt/slides/_rels/slide52.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51.jpg"/></Relationships>
</file>

<file path=ppt/slides/_rels/slide53.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52.png"/></Relationships>
</file>

<file path=ppt/slides/_rels/slide54.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53.jpg"/></Relationships>
</file>

<file path=ppt/slides/_rels/slide55.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56.jpg"/></Relationships>
</file>

<file path=ppt/slides/_rels/slide59.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14C897A-4409-4F96-826A-7AE9F1281913}"/>
              </a:ext>
            </a:extLst>
          </p:cNvPr>
          <p:cNvSpPr txBox="1">
            <a:spLocks/>
          </p:cNvSpPr>
          <p:nvPr/>
        </p:nvSpPr>
        <p:spPr>
          <a:xfrm>
            <a:off x="3167385" y="1284219"/>
            <a:ext cx="3035808" cy="964800"/>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2"/>
                </a:solidFill>
                <a:latin typeface="+mj-lt"/>
                <a:ea typeface="+mj-ea"/>
                <a:cs typeface="+mj-cs"/>
              </a:defRPr>
            </a:lvl1pPr>
          </a:lstStyle>
          <a:p>
            <a:r>
              <a:rPr lang="en-US" sz="3200" dirty="0">
                <a:latin typeface="+mn-lt"/>
              </a:rPr>
              <a:t>Lecture 3</a:t>
            </a:r>
          </a:p>
        </p:txBody>
      </p:sp>
      <p:sp>
        <p:nvSpPr>
          <p:cNvPr id="8" name="Subtitle 2">
            <a:extLst>
              <a:ext uri="{FF2B5EF4-FFF2-40B4-BE49-F238E27FC236}">
                <a16:creationId xmlns:a16="http://schemas.microsoft.com/office/drawing/2014/main" id="{3FB1E11C-5C2E-408E-8472-9BDA5A6163BD}"/>
              </a:ext>
            </a:extLst>
          </p:cNvPr>
          <p:cNvSpPr txBox="1">
            <a:spLocks/>
          </p:cNvSpPr>
          <p:nvPr/>
        </p:nvSpPr>
        <p:spPr>
          <a:xfrm>
            <a:off x="1125851" y="2579358"/>
            <a:ext cx="6892298" cy="849642"/>
          </a:xfrm>
          <a:prstGeom prst="rect">
            <a:avLst/>
          </a:prstGeo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640080"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914400" indent="-285750" algn="l" defTabSz="914400" rtl="0" eaLnBrk="1" latinLnBrk="0" hangingPunct="1">
              <a:lnSpc>
                <a:spcPct val="100000"/>
              </a:lnSpc>
              <a:spcBef>
                <a:spcPts val="800"/>
              </a:spcBef>
              <a:spcAft>
                <a:spcPts val="800"/>
              </a:spcAft>
              <a:buFont typeface="Arial" panose="020B0604020202020204" pitchFamily="34" charset="0"/>
              <a:buChar char="•"/>
              <a:defRPr sz="20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200" b="1" dirty="0"/>
              <a:t>Prokaryotic Cell Structure and Function</a:t>
            </a:r>
          </a:p>
        </p:txBody>
      </p:sp>
      <p:sp>
        <p:nvSpPr>
          <p:cNvPr id="9" name="Text Placeholder 3">
            <a:extLst>
              <a:ext uri="{FF2B5EF4-FFF2-40B4-BE49-F238E27FC236}">
                <a16:creationId xmlns:a16="http://schemas.microsoft.com/office/drawing/2014/main" id="{A59F268B-4D44-410E-9686-AEB4FDBAB432}"/>
              </a:ext>
            </a:extLst>
          </p:cNvPr>
          <p:cNvSpPr txBox="1">
            <a:spLocks/>
          </p:cNvSpPr>
          <p:nvPr/>
        </p:nvSpPr>
        <p:spPr>
          <a:xfrm>
            <a:off x="631624" y="4485173"/>
            <a:ext cx="4357819" cy="964800"/>
          </a:xfrm>
          <a:prstGeom prst="rect">
            <a:avLst/>
          </a:prstGeo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640080"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914400" indent="-285750" algn="l" defTabSz="914400" rtl="0" eaLnBrk="1" latinLnBrk="0" hangingPunct="1">
              <a:lnSpc>
                <a:spcPct val="100000"/>
              </a:lnSpc>
              <a:spcBef>
                <a:spcPts val="800"/>
              </a:spcBef>
              <a:spcAft>
                <a:spcPts val="800"/>
              </a:spcAft>
              <a:buFont typeface="Arial" panose="020B0604020202020204" pitchFamily="34" charset="0"/>
              <a:buChar char="•"/>
              <a:defRPr sz="20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1800" i="1" dirty="0" err="1"/>
              <a:t>Talaro’s</a:t>
            </a:r>
            <a:r>
              <a:rPr lang="en-IN" sz="1800" i="1" dirty="0"/>
              <a:t> </a:t>
            </a:r>
            <a:r>
              <a:rPr lang="en-IN" sz="1800" dirty="0"/>
              <a:t>Foundations in Microbiology </a:t>
            </a:r>
          </a:p>
          <a:p>
            <a:pPr>
              <a:spcBef>
                <a:spcPts val="300"/>
              </a:spcBef>
            </a:pPr>
            <a:r>
              <a:rPr lang="en-IN" sz="1800" dirty="0"/>
              <a:t>12th Edition</a:t>
            </a:r>
          </a:p>
          <a:p>
            <a:pPr>
              <a:spcBef>
                <a:spcPts val="600"/>
              </a:spcBef>
            </a:pPr>
            <a:r>
              <a:rPr lang="en-IN" sz="1800" dirty="0"/>
              <a:t>Barry Chess</a:t>
            </a:r>
          </a:p>
        </p:txBody>
      </p:sp>
    </p:spTree>
    <p:extLst>
      <p:ext uri="{BB962C8B-B14F-4D97-AF65-F5344CB8AC3E}">
        <p14:creationId xmlns:p14="http://schemas.microsoft.com/office/powerpoint/2010/main" val="34476331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1"/>
          </p:nvPr>
        </p:nvSpPr>
        <p:spPr/>
        <p:txBody>
          <a:bodyPr/>
          <a:lstStyle/>
          <a:p>
            <a:r>
              <a:rPr lang="en-US" dirty="0"/>
              <a:t>We will discuss about:</a:t>
            </a:r>
          </a:p>
          <a:p>
            <a:endParaRPr lang="en-US" dirty="0"/>
          </a:p>
          <a:p>
            <a:pPr marL="342900" indent="-342900">
              <a:buFont typeface="Arial" panose="020B0604020202020204" pitchFamily="34" charset="0"/>
              <a:buChar char="•"/>
            </a:pPr>
            <a:r>
              <a:rPr lang="en-US" b="1" dirty="0"/>
              <a:t>Prokaryotic Cell Structure and Function</a:t>
            </a:r>
            <a:endParaRPr lang="en-US" dirty="0"/>
          </a:p>
          <a:p>
            <a:pPr marL="342900" indent="-342900">
              <a:buFont typeface="Arial" panose="020B0604020202020204" pitchFamily="34" charset="0"/>
              <a:buChar char="•"/>
            </a:pPr>
            <a:r>
              <a:rPr lang="en-US" dirty="0"/>
              <a:t>Appendages</a:t>
            </a:r>
          </a:p>
          <a:p>
            <a:pPr marL="342900" indent="-342900">
              <a:buFont typeface="Arial" panose="020B0604020202020204" pitchFamily="34" charset="0"/>
              <a:buChar char="•"/>
            </a:pPr>
            <a:r>
              <a:rPr lang="en-US" dirty="0"/>
              <a:t>Differences in the composition of Gram positive and Gram negative cell walls </a:t>
            </a:r>
          </a:p>
          <a:p>
            <a:pPr marL="342900" indent="-342900">
              <a:buFont typeface="Arial" panose="020B0604020202020204" pitchFamily="34" charset="0"/>
              <a:buChar char="•"/>
            </a:pPr>
            <a:r>
              <a:rPr lang="en-US" dirty="0"/>
              <a:t>Non-atypical cell walls </a:t>
            </a:r>
          </a:p>
          <a:p>
            <a:pPr marL="342900" indent="-342900">
              <a:buFont typeface="Arial" panose="020B0604020202020204" pitchFamily="34" charset="0"/>
              <a:buChar char="•"/>
            </a:pPr>
            <a:r>
              <a:rPr lang="en-US" dirty="0"/>
              <a:t>Bacterial endospores and their medical significance.</a:t>
            </a:r>
          </a:p>
        </p:txBody>
      </p:sp>
    </p:spTree>
    <p:extLst>
      <p:ext uri="{BB962C8B-B14F-4D97-AF65-F5344CB8AC3E}">
        <p14:creationId xmlns:p14="http://schemas.microsoft.com/office/powerpoint/2010/main" val="3241157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0"/>
            <a:ext cx="8458200" cy="678611"/>
          </a:xfrm>
        </p:spPr>
        <p:txBody>
          <a:bodyPr/>
          <a:lstStyle/>
          <a:p>
            <a:r>
              <a:rPr lang="en-US" altLang="en-US" dirty="0"/>
              <a:t>Characteristics of Cells and Life</a:t>
            </a:r>
            <a:endParaRPr lang="en-US" sz="1200" dirty="0"/>
          </a:p>
        </p:txBody>
      </p:sp>
      <p:sp>
        <p:nvSpPr>
          <p:cNvPr id="3" name="Content Placeholder 2"/>
          <p:cNvSpPr>
            <a:spLocks noGrp="1"/>
          </p:cNvSpPr>
          <p:nvPr>
            <p:ph sz="quarter" idx="11"/>
          </p:nvPr>
        </p:nvSpPr>
        <p:spPr>
          <a:xfrm>
            <a:off x="342900" y="598284"/>
            <a:ext cx="8458200" cy="2894471"/>
          </a:xfrm>
        </p:spPr>
        <p:txBody>
          <a:bodyPr/>
          <a:lstStyle/>
          <a:p>
            <a:pPr>
              <a:spcBef>
                <a:spcPts val="800"/>
              </a:spcBef>
            </a:pPr>
            <a:r>
              <a:rPr lang="en-US" altLang="en-US" dirty="0"/>
              <a:t>All living things (single and multicellular) are made of cells that share some common characteristics:</a:t>
            </a:r>
          </a:p>
          <a:p>
            <a:pPr lvl="1"/>
            <a:r>
              <a:rPr lang="en-US" altLang="en-US" dirty="0"/>
              <a:t>Basic shape – spherical, cubical, cylindrical</a:t>
            </a:r>
          </a:p>
          <a:p>
            <a:pPr lvl="1"/>
            <a:r>
              <a:rPr lang="en-US" altLang="en-US" dirty="0"/>
              <a:t>Internal content – </a:t>
            </a:r>
            <a:r>
              <a:rPr lang="en-US" altLang="en-US" b="1" dirty="0"/>
              <a:t>cytoplasm,</a:t>
            </a:r>
            <a:r>
              <a:rPr lang="en-US" altLang="en-US" dirty="0"/>
              <a:t> surrounded by a membrane</a:t>
            </a:r>
          </a:p>
          <a:p>
            <a:pPr lvl="1"/>
            <a:r>
              <a:rPr lang="en-US" altLang="en-US" dirty="0"/>
              <a:t>DNA chromosome(s), ribosomes, metabolic capabilities</a:t>
            </a:r>
          </a:p>
          <a:p>
            <a:pPr>
              <a:spcBef>
                <a:spcPts val="800"/>
              </a:spcBef>
            </a:pPr>
            <a:r>
              <a:rPr lang="en-US" altLang="en-US" dirty="0"/>
              <a:t>Two basic cell types: </a:t>
            </a:r>
            <a:r>
              <a:rPr lang="en-US" altLang="en-US" b="1" dirty="0"/>
              <a:t>eukaryotic</a:t>
            </a:r>
            <a:r>
              <a:rPr lang="en-US" altLang="en-US" dirty="0"/>
              <a:t> and </a:t>
            </a:r>
            <a:r>
              <a:rPr lang="en-US" altLang="en-US" b="1" dirty="0"/>
              <a:t>prokaryotic</a:t>
            </a:r>
            <a:endParaRPr lang="en-US" dirty="0"/>
          </a:p>
        </p:txBody>
      </p:sp>
      <p:pic>
        <p:nvPicPr>
          <p:cNvPr id="4" name="Picture 3"/>
          <p:cNvPicPr>
            <a:picLocks noChangeAspect="1"/>
          </p:cNvPicPr>
          <p:nvPr/>
        </p:nvPicPr>
        <p:blipFill>
          <a:blip r:embed="rId2"/>
          <a:stretch>
            <a:fillRect/>
          </a:stretch>
        </p:blipFill>
        <p:spPr>
          <a:xfrm>
            <a:off x="379770" y="4177217"/>
            <a:ext cx="1143000" cy="1466850"/>
          </a:xfrm>
          <a:prstGeom prst="rect">
            <a:avLst/>
          </a:prstGeom>
        </p:spPr>
      </p:pic>
      <p:pic>
        <p:nvPicPr>
          <p:cNvPr id="5" name="Picture 4"/>
          <p:cNvPicPr>
            <a:picLocks noChangeAspect="1"/>
          </p:cNvPicPr>
          <p:nvPr/>
        </p:nvPicPr>
        <p:blipFill>
          <a:blip r:embed="rId3"/>
          <a:stretch>
            <a:fillRect/>
          </a:stretch>
        </p:blipFill>
        <p:spPr>
          <a:xfrm>
            <a:off x="5717149" y="4091039"/>
            <a:ext cx="1590675" cy="1428750"/>
          </a:xfrm>
          <a:prstGeom prst="rect">
            <a:avLst/>
          </a:prstGeom>
        </p:spPr>
      </p:pic>
      <p:pic>
        <p:nvPicPr>
          <p:cNvPr id="6" name="Picture 5"/>
          <p:cNvPicPr>
            <a:picLocks noChangeAspect="1"/>
          </p:cNvPicPr>
          <p:nvPr/>
        </p:nvPicPr>
        <p:blipFill>
          <a:blip r:embed="rId4"/>
          <a:stretch>
            <a:fillRect/>
          </a:stretch>
        </p:blipFill>
        <p:spPr>
          <a:xfrm>
            <a:off x="1784707" y="3878579"/>
            <a:ext cx="3878980" cy="1765488"/>
          </a:xfrm>
          <a:prstGeom prst="rect">
            <a:avLst/>
          </a:prstGeom>
        </p:spPr>
      </p:pic>
      <p:pic>
        <p:nvPicPr>
          <p:cNvPr id="7" name="Picture 6"/>
          <p:cNvPicPr>
            <a:picLocks noChangeAspect="1"/>
          </p:cNvPicPr>
          <p:nvPr/>
        </p:nvPicPr>
        <p:blipFill>
          <a:blip r:embed="rId5"/>
          <a:stretch>
            <a:fillRect/>
          </a:stretch>
        </p:blipFill>
        <p:spPr>
          <a:xfrm>
            <a:off x="7330562" y="3994200"/>
            <a:ext cx="1562100" cy="2428875"/>
          </a:xfrm>
          <a:prstGeom prst="rect">
            <a:avLst/>
          </a:prstGeom>
        </p:spPr>
      </p:pic>
      <p:sp>
        <p:nvSpPr>
          <p:cNvPr id="8" name="Rectangle 7"/>
          <p:cNvSpPr/>
          <p:nvPr/>
        </p:nvSpPr>
        <p:spPr>
          <a:xfrm>
            <a:off x="423293" y="5959197"/>
            <a:ext cx="3300904" cy="369332"/>
          </a:xfrm>
          <a:prstGeom prst="rect">
            <a:avLst/>
          </a:prstGeom>
        </p:spPr>
        <p:txBody>
          <a:bodyPr wrap="none">
            <a:spAutoFit/>
          </a:bodyPr>
          <a:lstStyle/>
          <a:p>
            <a:r>
              <a:rPr lang="en-US" altLang="en-US" dirty="0"/>
              <a:t>Figure: Basic shapes of cells </a:t>
            </a:r>
            <a:endParaRPr lang="en-US" dirty="0"/>
          </a:p>
        </p:txBody>
      </p:sp>
    </p:spTree>
    <p:extLst>
      <p:ext uri="{BB962C8B-B14F-4D97-AF65-F5344CB8AC3E}">
        <p14:creationId xmlns:p14="http://schemas.microsoft.com/office/powerpoint/2010/main" val="3038043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Characteristics of Cells</a:t>
            </a:r>
            <a:r>
              <a:rPr lang="en-US" altLang="en-US" sz="1200" dirty="0"/>
              <a:t> 1</a:t>
            </a:r>
            <a:endParaRPr lang="en-US" sz="1200" dirty="0"/>
          </a:p>
        </p:txBody>
      </p:sp>
      <p:sp>
        <p:nvSpPr>
          <p:cNvPr id="3" name="Content Placeholder 2"/>
          <p:cNvSpPr>
            <a:spLocks noGrp="1"/>
          </p:cNvSpPr>
          <p:nvPr>
            <p:ph sz="quarter" idx="11"/>
          </p:nvPr>
        </p:nvSpPr>
        <p:spPr/>
        <p:txBody>
          <a:bodyPr/>
          <a:lstStyle/>
          <a:p>
            <a:r>
              <a:rPr lang="en-US" altLang="en-US" dirty="0"/>
              <a:t>Eukaryotic cells: animals, plants, fungi, and protists</a:t>
            </a:r>
          </a:p>
          <a:p>
            <a:pPr lvl="1"/>
            <a:r>
              <a:rPr lang="en-US" altLang="en-US" dirty="0"/>
              <a:t>Contain </a:t>
            </a:r>
            <a:r>
              <a:rPr lang="en-US" altLang="en-US" dirty="0">
                <a:solidFill>
                  <a:srgbClr val="FF0000"/>
                </a:solidFill>
              </a:rPr>
              <a:t>membrane-bound organelles </a:t>
            </a:r>
            <a:r>
              <a:rPr lang="en-US" altLang="en-US" dirty="0"/>
              <a:t>that compartmentalize the cytoplasm and perform specific functions</a:t>
            </a:r>
          </a:p>
          <a:p>
            <a:pPr lvl="1"/>
            <a:r>
              <a:rPr lang="en-US" altLang="en-US" dirty="0"/>
              <a:t>Contain </a:t>
            </a:r>
            <a:r>
              <a:rPr lang="en-US" altLang="en-US" dirty="0">
                <a:solidFill>
                  <a:srgbClr val="FF0000"/>
                </a:solidFill>
              </a:rPr>
              <a:t>double-membrane bound nucleus </a:t>
            </a:r>
            <a:r>
              <a:rPr lang="en-US" altLang="en-US" dirty="0"/>
              <a:t>with DNA chromosomes</a:t>
            </a:r>
          </a:p>
          <a:p>
            <a:r>
              <a:rPr lang="en-US" altLang="en-US" b="1" dirty="0">
                <a:solidFill>
                  <a:srgbClr val="FF0000"/>
                </a:solidFill>
              </a:rPr>
              <a:t>Prokaryotic cells: bacteria and archaea </a:t>
            </a:r>
          </a:p>
          <a:p>
            <a:pPr lvl="1"/>
            <a:r>
              <a:rPr lang="en-US" altLang="en-US" dirty="0">
                <a:solidFill>
                  <a:srgbClr val="FF0000"/>
                </a:solidFill>
              </a:rPr>
              <a:t>No nucleus </a:t>
            </a:r>
            <a:r>
              <a:rPr lang="en-US" altLang="en-US" dirty="0"/>
              <a:t>or other membrane-bound organelles</a:t>
            </a:r>
            <a:endParaRPr lang="en-US" dirty="0"/>
          </a:p>
        </p:txBody>
      </p:sp>
    </p:spTree>
    <p:extLst>
      <p:ext uri="{BB962C8B-B14F-4D97-AF65-F5344CB8AC3E}">
        <p14:creationId xmlns:p14="http://schemas.microsoft.com/office/powerpoint/2010/main" val="3038043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535CA-186E-CDD6-E04F-9731E0103075}"/>
              </a:ext>
            </a:extLst>
          </p:cNvPr>
          <p:cNvSpPr>
            <a:spLocks noGrp="1"/>
          </p:cNvSpPr>
          <p:nvPr>
            <p:ph type="title"/>
          </p:nvPr>
        </p:nvSpPr>
        <p:spPr>
          <a:xfrm>
            <a:off x="183874" y="56719"/>
            <a:ext cx="8458200" cy="678611"/>
          </a:xfrm>
        </p:spPr>
        <p:txBody>
          <a:bodyPr/>
          <a:lstStyle/>
          <a:p>
            <a:r>
              <a:rPr lang="en-US" noProof="0" dirty="0"/>
              <a:t>Characteristics of Cells</a:t>
            </a:r>
            <a:endParaRPr lang="en-US" dirty="0"/>
          </a:p>
        </p:txBody>
      </p:sp>
      <p:graphicFrame>
        <p:nvGraphicFramePr>
          <p:cNvPr id="7" name="Content Placeholder 6">
            <a:extLst>
              <a:ext uri="{FF2B5EF4-FFF2-40B4-BE49-F238E27FC236}">
                <a16:creationId xmlns:a16="http://schemas.microsoft.com/office/drawing/2014/main" id="{75A08871-5072-1879-0148-982C2ECCEFF2}"/>
              </a:ext>
            </a:extLst>
          </p:cNvPr>
          <p:cNvGraphicFramePr>
            <a:graphicFrameLocks noGrp="1"/>
          </p:cNvGraphicFramePr>
          <p:nvPr>
            <p:ph sz="quarter" idx="11"/>
            <p:extLst>
              <p:ext uri="{D42A27DB-BD31-4B8C-83A1-F6EECF244321}">
                <p14:modId xmlns:p14="http://schemas.microsoft.com/office/powerpoint/2010/main" val="338999023"/>
              </p:ext>
            </p:extLst>
          </p:nvPr>
        </p:nvGraphicFramePr>
        <p:xfrm>
          <a:off x="228600" y="775169"/>
          <a:ext cx="8686800" cy="53076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49108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16A9E-49A0-DFC2-E719-93FA2CBA75C9}"/>
              </a:ext>
            </a:extLst>
          </p:cNvPr>
          <p:cNvSpPr>
            <a:spLocks noGrp="1"/>
          </p:cNvSpPr>
          <p:nvPr>
            <p:ph type="title"/>
          </p:nvPr>
        </p:nvSpPr>
        <p:spPr/>
        <p:txBody>
          <a:bodyPr/>
          <a:lstStyle/>
          <a:p>
            <a:r>
              <a:rPr lang="en-US" noProof="0" dirty="0"/>
              <a:t>Characteristics of Cells</a:t>
            </a:r>
            <a:endParaRPr lang="en-US" dirty="0"/>
          </a:p>
        </p:txBody>
      </p:sp>
      <p:pic>
        <p:nvPicPr>
          <p:cNvPr id="8" name="Picture 7">
            <a:extLst>
              <a:ext uri="{FF2B5EF4-FFF2-40B4-BE49-F238E27FC236}">
                <a16:creationId xmlns:a16="http://schemas.microsoft.com/office/drawing/2014/main" id="{6502AC15-CEA2-CBD3-2978-32EEE8839AED}"/>
              </a:ext>
            </a:extLst>
          </p:cNvPr>
          <p:cNvPicPr>
            <a:picLocks noChangeAspect="1"/>
          </p:cNvPicPr>
          <p:nvPr/>
        </p:nvPicPr>
        <p:blipFill>
          <a:blip r:embed="rId2"/>
          <a:stretch>
            <a:fillRect/>
          </a:stretch>
        </p:blipFill>
        <p:spPr>
          <a:xfrm>
            <a:off x="260488" y="1235145"/>
            <a:ext cx="4382586" cy="4144617"/>
          </a:xfrm>
          <a:prstGeom prst="rect">
            <a:avLst/>
          </a:prstGeom>
        </p:spPr>
      </p:pic>
      <p:pic>
        <p:nvPicPr>
          <p:cNvPr id="10" name="Picture 9">
            <a:extLst>
              <a:ext uri="{FF2B5EF4-FFF2-40B4-BE49-F238E27FC236}">
                <a16:creationId xmlns:a16="http://schemas.microsoft.com/office/drawing/2014/main" id="{C3280EC8-ECCF-B259-3256-CEC65673578F}"/>
              </a:ext>
            </a:extLst>
          </p:cNvPr>
          <p:cNvPicPr>
            <a:picLocks noChangeAspect="1"/>
          </p:cNvPicPr>
          <p:nvPr/>
        </p:nvPicPr>
        <p:blipFill>
          <a:blip r:embed="rId3"/>
          <a:stretch>
            <a:fillRect/>
          </a:stretch>
        </p:blipFill>
        <p:spPr>
          <a:xfrm>
            <a:off x="4717774" y="1612830"/>
            <a:ext cx="4314825" cy="4010025"/>
          </a:xfrm>
          <a:prstGeom prst="rect">
            <a:avLst/>
          </a:prstGeom>
        </p:spPr>
      </p:pic>
    </p:spTree>
    <p:extLst>
      <p:ext uri="{BB962C8B-B14F-4D97-AF65-F5344CB8AC3E}">
        <p14:creationId xmlns:p14="http://schemas.microsoft.com/office/powerpoint/2010/main" val="3751497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5AA08-AD5B-02BF-092E-C70DA6980300}"/>
              </a:ext>
            </a:extLst>
          </p:cNvPr>
          <p:cNvSpPr>
            <a:spLocks noGrp="1"/>
          </p:cNvSpPr>
          <p:nvPr>
            <p:ph type="title"/>
          </p:nvPr>
        </p:nvSpPr>
        <p:spPr/>
        <p:txBody>
          <a:bodyPr/>
          <a:lstStyle/>
          <a:p>
            <a:r>
              <a:rPr lang="en-US" noProof="0" dirty="0"/>
              <a:t>Characteristics of Cells</a:t>
            </a:r>
            <a:endParaRPr lang="en-US" dirty="0"/>
          </a:p>
        </p:txBody>
      </p:sp>
      <p:pic>
        <p:nvPicPr>
          <p:cNvPr id="8" name="Picture 7">
            <a:extLst>
              <a:ext uri="{FF2B5EF4-FFF2-40B4-BE49-F238E27FC236}">
                <a16:creationId xmlns:a16="http://schemas.microsoft.com/office/drawing/2014/main" id="{AAE9042C-6E18-E6E9-A1B7-62FDF80FAF28}"/>
              </a:ext>
            </a:extLst>
          </p:cNvPr>
          <p:cNvPicPr>
            <a:picLocks noChangeAspect="1"/>
          </p:cNvPicPr>
          <p:nvPr/>
        </p:nvPicPr>
        <p:blipFill>
          <a:blip r:embed="rId2"/>
          <a:stretch>
            <a:fillRect/>
          </a:stretch>
        </p:blipFill>
        <p:spPr>
          <a:xfrm>
            <a:off x="150330" y="1266203"/>
            <a:ext cx="4171950" cy="4067175"/>
          </a:xfrm>
          <a:prstGeom prst="rect">
            <a:avLst/>
          </a:prstGeom>
        </p:spPr>
      </p:pic>
      <p:pic>
        <p:nvPicPr>
          <p:cNvPr id="10" name="Picture 9">
            <a:extLst>
              <a:ext uri="{FF2B5EF4-FFF2-40B4-BE49-F238E27FC236}">
                <a16:creationId xmlns:a16="http://schemas.microsoft.com/office/drawing/2014/main" id="{B7FA98BE-71CE-A165-2683-C703392FF2C3}"/>
              </a:ext>
            </a:extLst>
          </p:cNvPr>
          <p:cNvPicPr>
            <a:picLocks noChangeAspect="1"/>
          </p:cNvPicPr>
          <p:nvPr/>
        </p:nvPicPr>
        <p:blipFill>
          <a:blip r:embed="rId3"/>
          <a:stretch>
            <a:fillRect/>
          </a:stretch>
        </p:blipFill>
        <p:spPr>
          <a:xfrm>
            <a:off x="4413388" y="1452562"/>
            <a:ext cx="4133850" cy="3952875"/>
          </a:xfrm>
          <a:prstGeom prst="rect">
            <a:avLst/>
          </a:prstGeom>
        </p:spPr>
      </p:pic>
    </p:spTree>
    <p:extLst>
      <p:ext uri="{BB962C8B-B14F-4D97-AF65-F5344CB8AC3E}">
        <p14:creationId xmlns:p14="http://schemas.microsoft.com/office/powerpoint/2010/main" val="3539072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57AB1-9352-FCB4-9D61-B345C20E4F7B}"/>
              </a:ext>
            </a:extLst>
          </p:cNvPr>
          <p:cNvSpPr>
            <a:spLocks noGrp="1"/>
          </p:cNvSpPr>
          <p:nvPr>
            <p:ph type="title"/>
          </p:nvPr>
        </p:nvSpPr>
        <p:spPr/>
        <p:txBody>
          <a:bodyPr/>
          <a:lstStyle/>
          <a:p>
            <a:r>
              <a:rPr lang="en-US" noProof="0" dirty="0"/>
              <a:t>Characteristics of Cells</a:t>
            </a:r>
            <a:endParaRPr lang="en-US" dirty="0"/>
          </a:p>
        </p:txBody>
      </p:sp>
      <p:pic>
        <p:nvPicPr>
          <p:cNvPr id="8" name="Picture 7">
            <a:extLst>
              <a:ext uri="{FF2B5EF4-FFF2-40B4-BE49-F238E27FC236}">
                <a16:creationId xmlns:a16="http://schemas.microsoft.com/office/drawing/2014/main" id="{9422D0F9-F2A6-5E54-A15C-808926F183AF}"/>
              </a:ext>
            </a:extLst>
          </p:cNvPr>
          <p:cNvPicPr>
            <a:picLocks noChangeAspect="1"/>
          </p:cNvPicPr>
          <p:nvPr/>
        </p:nvPicPr>
        <p:blipFill>
          <a:blip r:embed="rId2"/>
          <a:stretch>
            <a:fillRect/>
          </a:stretch>
        </p:blipFill>
        <p:spPr>
          <a:xfrm>
            <a:off x="342900" y="1061002"/>
            <a:ext cx="3990975" cy="4000500"/>
          </a:xfrm>
          <a:prstGeom prst="rect">
            <a:avLst/>
          </a:prstGeom>
        </p:spPr>
      </p:pic>
      <p:pic>
        <p:nvPicPr>
          <p:cNvPr id="10" name="Picture 9">
            <a:extLst>
              <a:ext uri="{FF2B5EF4-FFF2-40B4-BE49-F238E27FC236}">
                <a16:creationId xmlns:a16="http://schemas.microsoft.com/office/drawing/2014/main" id="{0FD65FEE-2983-21ED-1E36-A5AA5BE713B5}"/>
              </a:ext>
            </a:extLst>
          </p:cNvPr>
          <p:cNvPicPr>
            <a:picLocks noChangeAspect="1"/>
          </p:cNvPicPr>
          <p:nvPr/>
        </p:nvPicPr>
        <p:blipFill>
          <a:blip r:embed="rId3"/>
          <a:stretch>
            <a:fillRect/>
          </a:stretch>
        </p:blipFill>
        <p:spPr>
          <a:xfrm>
            <a:off x="5014912" y="1179443"/>
            <a:ext cx="3686175" cy="3962400"/>
          </a:xfrm>
          <a:prstGeom prst="rect">
            <a:avLst/>
          </a:prstGeom>
        </p:spPr>
      </p:pic>
    </p:spTree>
    <p:extLst>
      <p:ext uri="{BB962C8B-B14F-4D97-AF65-F5344CB8AC3E}">
        <p14:creationId xmlns:p14="http://schemas.microsoft.com/office/powerpoint/2010/main" val="1476375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6"/>
          <p:cNvSpPr txBox="1">
            <a:spLocks noGrp="1"/>
          </p:cNvSpPr>
          <p:nvPr>
            <p:ph type="title"/>
          </p:nvPr>
        </p:nvSpPr>
        <p:spPr>
          <a:xfrm>
            <a:off x="342900" y="304800"/>
            <a:ext cx="2974731" cy="67861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2400"/>
              <a:buFont typeface="Arial"/>
              <a:buNone/>
            </a:pPr>
            <a:r>
              <a:rPr lang="en-US" noProof="0" dirty="0"/>
              <a:t>Structure of a Bacterial Cell</a:t>
            </a:r>
          </a:p>
        </p:txBody>
      </p:sp>
      <p:pic>
        <p:nvPicPr>
          <p:cNvPr id="201" name="Google Shape;201;p6" descr="An illustration depicts the structure of a typical bacterial cell."/>
          <p:cNvPicPr>
            <a:picLocks noGrp="1" noChangeAspect="1"/>
          </p:cNvPicPr>
          <p:nvPr>
            <p:ph type="body" idx="1"/>
          </p:nvPr>
        </p:nvPicPr>
        <p:blipFill rotWithShape="1">
          <a:blip r:embed="rId3">
            <a:alphaModFix/>
          </a:blip>
          <a:srcRect l="5089" b="3294"/>
          <a:stretch/>
        </p:blipFill>
        <p:spPr>
          <a:xfrm>
            <a:off x="3487918" y="162248"/>
            <a:ext cx="5346886" cy="599018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133" y="-78537"/>
            <a:ext cx="8458200" cy="678611"/>
          </a:xfrm>
        </p:spPr>
        <p:txBody>
          <a:bodyPr/>
          <a:lstStyle/>
          <a:p>
            <a:r>
              <a:rPr lang="en-US" dirty="0"/>
              <a:t>General Structural Plan of a Prokaryotic Cell</a:t>
            </a:r>
          </a:p>
        </p:txBody>
      </p:sp>
      <p:pic>
        <p:nvPicPr>
          <p:cNvPr id="8" name="Picture 7"/>
          <p:cNvPicPr>
            <a:picLocks noChangeAspect="1"/>
          </p:cNvPicPr>
          <p:nvPr/>
        </p:nvPicPr>
        <p:blipFill>
          <a:blip r:embed="rId2"/>
          <a:stretch>
            <a:fillRect/>
          </a:stretch>
        </p:blipFill>
        <p:spPr>
          <a:xfrm>
            <a:off x="1004640" y="467859"/>
            <a:ext cx="7134719" cy="6129372"/>
          </a:xfrm>
          <a:prstGeom prst="rect">
            <a:avLst/>
          </a:prstGeom>
        </p:spPr>
      </p:pic>
    </p:spTree>
    <p:extLst>
      <p:ext uri="{BB962C8B-B14F-4D97-AF65-F5344CB8AC3E}">
        <p14:creationId xmlns:p14="http://schemas.microsoft.com/office/powerpoint/2010/main" val="475865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255" y="0"/>
            <a:ext cx="8458200" cy="678611"/>
          </a:xfrm>
        </p:spPr>
        <p:txBody>
          <a:bodyPr/>
          <a:lstStyle/>
          <a:p>
            <a:r>
              <a:rPr lang="en-US" altLang="en-US" dirty="0"/>
              <a:t>External Structures</a:t>
            </a:r>
            <a:endParaRPr lang="en-US" dirty="0"/>
          </a:p>
        </p:txBody>
      </p:sp>
      <p:sp>
        <p:nvSpPr>
          <p:cNvPr id="3" name="Content Placeholder 2"/>
          <p:cNvSpPr>
            <a:spLocks noGrp="1"/>
          </p:cNvSpPr>
          <p:nvPr>
            <p:ph sz="quarter" idx="11"/>
          </p:nvPr>
        </p:nvSpPr>
        <p:spPr>
          <a:xfrm>
            <a:off x="342900" y="1016542"/>
            <a:ext cx="8458200" cy="4971691"/>
          </a:xfrm>
        </p:spPr>
        <p:txBody>
          <a:bodyPr/>
          <a:lstStyle/>
          <a:p>
            <a:r>
              <a:rPr lang="en-US" altLang="en-US" b="1" dirty="0">
                <a:solidFill>
                  <a:srgbClr val="FF0000"/>
                </a:solidFill>
              </a:rPr>
              <a:t>1. Appendages</a:t>
            </a:r>
            <a:r>
              <a:rPr lang="en-US" altLang="en-US" dirty="0"/>
              <a:t> - </a:t>
            </a:r>
            <a:r>
              <a:rPr lang="en-US" dirty="0"/>
              <a:t>Accessory structure that sprouts from the surface of bacteria. </a:t>
            </a:r>
          </a:p>
          <a:p>
            <a:r>
              <a:rPr lang="en-US" dirty="0"/>
              <a:t>They can be divided into two major groups: those that provide </a:t>
            </a:r>
            <a:r>
              <a:rPr lang="en-US" dirty="0">
                <a:solidFill>
                  <a:srgbClr val="FF0000"/>
                </a:solidFill>
              </a:rPr>
              <a:t>motility</a:t>
            </a:r>
            <a:r>
              <a:rPr lang="en-US" dirty="0"/>
              <a:t> and those that enable </a:t>
            </a:r>
            <a:r>
              <a:rPr lang="en-US" dirty="0">
                <a:solidFill>
                  <a:srgbClr val="FF0000"/>
                </a:solidFill>
              </a:rPr>
              <a:t>adhesion</a:t>
            </a:r>
            <a:r>
              <a:rPr lang="en-US" dirty="0"/>
              <a:t>.</a:t>
            </a:r>
            <a:endParaRPr lang="en-US" altLang="en-US" dirty="0"/>
          </a:p>
          <a:p>
            <a:pPr lvl="1"/>
            <a:r>
              <a:rPr lang="en-US" altLang="en-US" dirty="0"/>
              <a:t>Two major groups of appendages:</a:t>
            </a:r>
          </a:p>
          <a:p>
            <a:pPr lvl="2"/>
            <a:r>
              <a:rPr lang="en-US" altLang="en-US" dirty="0">
                <a:solidFill>
                  <a:srgbClr val="FF0000"/>
                </a:solidFill>
              </a:rPr>
              <a:t>Flagella</a:t>
            </a:r>
            <a:r>
              <a:rPr lang="en-US" altLang="en-US" dirty="0"/>
              <a:t> - responsible for bacterial mobility or self-propulsion. Allows a cell to swim freely through an aqueous habitat.</a:t>
            </a:r>
          </a:p>
          <a:p>
            <a:pPr lvl="2"/>
            <a:r>
              <a:rPr lang="en-US" altLang="en-US" dirty="0"/>
              <a:t>Attachment or channels – </a:t>
            </a:r>
            <a:r>
              <a:rPr lang="en-US" altLang="en-US" dirty="0">
                <a:solidFill>
                  <a:srgbClr val="FF0000"/>
                </a:solidFill>
              </a:rPr>
              <a:t>fimbriae</a:t>
            </a:r>
            <a:r>
              <a:rPr lang="en-US" altLang="en-US" dirty="0"/>
              <a:t> and </a:t>
            </a:r>
            <a:r>
              <a:rPr lang="en-US" altLang="en-US" dirty="0">
                <a:solidFill>
                  <a:srgbClr val="FF0000"/>
                </a:solidFill>
              </a:rPr>
              <a:t>pili</a:t>
            </a:r>
          </a:p>
          <a:p>
            <a:r>
              <a:rPr lang="en-US" altLang="en-US" dirty="0">
                <a:solidFill>
                  <a:srgbClr val="FF0000"/>
                </a:solidFill>
              </a:rPr>
              <a:t>2. </a:t>
            </a:r>
            <a:r>
              <a:rPr lang="en-US" altLang="en-US" b="1" dirty="0">
                <a:solidFill>
                  <a:srgbClr val="FF0000"/>
                </a:solidFill>
              </a:rPr>
              <a:t>Glycocalyx</a:t>
            </a:r>
            <a:r>
              <a:rPr lang="en-US" altLang="en-US" dirty="0"/>
              <a:t> – surface coating</a:t>
            </a:r>
          </a:p>
        </p:txBody>
      </p:sp>
    </p:spTree>
    <p:extLst>
      <p:ext uri="{BB962C8B-B14F-4D97-AF65-F5344CB8AC3E}">
        <p14:creationId xmlns:p14="http://schemas.microsoft.com/office/powerpoint/2010/main" val="30380435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203" y="386664"/>
            <a:ext cx="8458200" cy="379774"/>
          </a:xfrm>
        </p:spPr>
        <p:txBody>
          <a:bodyPr/>
          <a:lstStyle/>
          <a:p>
            <a:r>
              <a:rPr lang="en-US" altLang="en-US" dirty="0"/>
              <a:t> Flagella</a:t>
            </a:r>
            <a:r>
              <a:rPr lang="en-US" altLang="en-US" sz="1200" dirty="0"/>
              <a:t> </a:t>
            </a:r>
            <a:endParaRPr lang="en-US" sz="1200" dirty="0"/>
          </a:p>
        </p:txBody>
      </p:sp>
      <p:sp>
        <p:nvSpPr>
          <p:cNvPr id="3" name="Content Placeholder 2"/>
          <p:cNvSpPr>
            <a:spLocks noGrp="1"/>
          </p:cNvSpPr>
          <p:nvPr>
            <p:ph sz="quarter" idx="11"/>
          </p:nvPr>
        </p:nvSpPr>
        <p:spPr>
          <a:xfrm>
            <a:off x="265203" y="1105606"/>
            <a:ext cx="3461971" cy="1456659"/>
          </a:xfrm>
        </p:spPr>
        <p:txBody>
          <a:bodyPr/>
          <a:lstStyle/>
          <a:p>
            <a:r>
              <a:rPr lang="en-US" altLang="en-US" dirty="0"/>
              <a:t>3 parts:</a:t>
            </a:r>
          </a:p>
          <a:p>
            <a:pPr lvl="1"/>
            <a:r>
              <a:rPr lang="en-US" altLang="en-US" dirty="0">
                <a:solidFill>
                  <a:srgbClr val="FF0000"/>
                </a:solidFill>
              </a:rPr>
              <a:t>Filament</a:t>
            </a:r>
            <a:r>
              <a:rPr lang="en-US" altLang="en-US" dirty="0"/>
              <a:t> – long, thin, helical structure composed of protein flagellin</a:t>
            </a:r>
          </a:p>
          <a:p>
            <a:pPr lvl="1"/>
            <a:r>
              <a:rPr lang="en-US" altLang="en-US" dirty="0">
                <a:solidFill>
                  <a:srgbClr val="FF0000"/>
                </a:solidFill>
              </a:rPr>
              <a:t>Hook</a:t>
            </a:r>
            <a:r>
              <a:rPr lang="en-US" altLang="en-US" dirty="0"/>
              <a:t> – curved sheath</a:t>
            </a:r>
          </a:p>
          <a:p>
            <a:pPr lvl="1"/>
            <a:r>
              <a:rPr lang="en-US" altLang="en-US" dirty="0">
                <a:solidFill>
                  <a:srgbClr val="FF0000"/>
                </a:solidFill>
              </a:rPr>
              <a:t>Basal body </a:t>
            </a:r>
            <a:r>
              <a:rPr lang="en-US" altLang="en-US" dirty="0"/>
              <a:t>– stack of rings firmly anchored in cell wall</a:t>
            </a:r>
          </a:p>
        </p:txBody>
      </p:sp>
      <p:pic>
        <p:nvPicPr>
          <p:cNvPr id="6" name="Picture 5">
            <a:extLst>
              <a:ext uri="{FF2B5EF4-FFF2-40B4-BE49-F238E27FC236}">
                <a16:creationId xmlns:a16="http://schemas.microsoft.com/office/drawing/2014/main" id="{CDD80C9D-E76F-7525-84DD-B0FDBCAA8317}"/>
              </a:ext>
            </a:extLst>
          </p:cNvPr>
          <p:cNvPicPr>
            <a:picLocks noChangeAspect="1"/>
          </p:cNvPicPr>
          <p:nvPr/>
        </p:nvPicPr>
        <p:blipFill>
          <a:blip r:embed="rId2"/>
          <a:stretch>
            <a:fillRect/>
          </a:stretch>
        </p:blipFill>
        <p:spPr>
          <a:xfrm>
            <a:off x="4047339" y="1287283"/>
            <a:ext cx="5096661" cy="4553693"/>
          </a:xfrm>
          <a:prstGeom prst="rect">
            <a:avLst/>
          </a:prstGeom>
        </p:spPr>
      </p:pic>
    </p:spTree>
    <p:extLst>
      <p:ext uri="{BB962C8B-B14F-4D97-AF65-F5344CB8AC3E}">
        <p14:creationId xmlns:p14="http://schemas.microsoft.com/office/powerpoint/2010/main" val="3038043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27427-0188-B6C3-575E-F4D425F55BE8}"/>
              </a:ext>
            </a:extLst>
          </p:cNvPr>
          <p:cNvSpPr>
            <a:spLocks noGrp="1"/>
          </p:cNvSpPr>
          <p:nvPr>
            <p:ph type="title"/>
          </p:nvPr>
        </p:nvSpPr>
        <p:spPr>
          <a:xfrm>
            <a:off x="163996" y="69574"/>
            <a:ext cx="8458200" cy="678611"/>
          </a:xfrm>
        </p:spPr>
        <p:txBody>
          <a:bodyPr/>
          <a:lstStyle/>
          <a:p>
            <a:r>
              <a:rPr lang="en-US" altLang="en-US" dirty="0"/>
              <a:t> Flagella</a:t>
            </a:r>
            <a:r>
              <a:rPr lang="en-US" altLang="en-US" sz="1200" dirty="0"/>
              <a:t> </a:t>
            </a:r>
            <a:endParaRPr lang="en-US" dirty="0"/>
          </a:p>
        </p:txBody>
      </p:sp>
      <p:pic>
        <p:nvPicPr>
          <p:cNvPr id="7" name="Picture 2" descr="Shown are the detailed anatomies of a flagellum and the membranes of a gram-negative cell.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1301" y="69574"/>
            <a:ext cx="6226247" cy="331075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EB0FCAA4-42BA-356D-E163-643317C10EB3}"/>
              </a:ext>
            </a:extLst>
          </p:cNvPr>
          <p:cNvSpPr txBox="1"/>
          <p:nvPr/>
        </p:nvSpPr>
        <p:spPr>
          <a:xfrm>
            <a:off x="163996" y="3599983"/>
            <a:ext cx="8587408" cy="2554545"/>
          </a:xfrm>
          <a:prstGeom prst="rect">
            <a:avLst/>
          </a:prstGeom>
          <a:noFill/>
        </p:spPr>
        <p:txBody>
          <a:bodyPr wrap="square">
            <a:spAutoFit/>
          </a:bodyPr>
          <a:lstStyle/>
          <a:p>
            <a:pPr marL="0" lvl="0" indent="0" algn="just"/>
            <a:r>
              <a:rPr lang="en-US" sz="2000" b="1" noProof="0" dirty="0">
                <a:solidFill>
                  <a:schemeClr val="accent1"/>
                </a:solidFill>
              </a:rPr>
              <a:t>(A) the structure of gram-negative cells,</a:t>
            </a:r>
            <a:r>
              <a:rPr lang="en-US" sz="2000" noProof="0" dirty="0"/>
              <a:t> where the filament is within the hook resting on the basal body formed by an </a:t>
            </a:r>
            <a:r>
              <a:rPr lang="en-US" sz="2000" noProof="0" dirty="0">
                <a:solidFill>
                  <a:srgbClr val="0070C0"/>
                </a:solidFill>
              </a:rPr>
              <a:t>L ring, rod, and rings on top and bottom of the rod</a:t>
            </a:r>
            <a:r>
              <a:rPr lang="en-US" sz="2000" noProof="0" dirty="0"/>
              <a:t>. The rings at the bottom rest on the cell membrane. The periplasmic space and cell wall are labeled above the cell membrane.</a:t>
            </a:r>
          </a:p>
          <a:p>
            <a:pPr marL="0" lvl="0" indent="0" algn="just"/>
            <a:r>
              <a:rPr lang="en-US" sz="2000" noProof="0" dirty="0"/>
              <a:t> </a:t>
            </a:r>
          </a:p>
          <a:p>
            <a:pPr marL="0" lvl="0" indent="0" algn="just"/>
            <a:r>
              <a:rPr lang="en-US" sz="2000" b="1" noProof="0" dirty="0">
                <a:solidFill>
                  <a:schemeClr val="accent1"/>
                </a:solidFill>
              </a:rPr>
              <a:t>(B) the structure in gram-positive cells</a:t>
            </a:r>
            <a:r>
              <a:rPr lang="en-US" sz="2000" noProof="0" dirty="0"/>
              <a:t>, where the filament is wrapped within the hook resting on the rings at the bottom of the cell membrane. The cell wall covers the predominant portion. </a:t>
            </a:r>
          </a:p>
        </p:txBody>
      </p:sp>
    </p:spTree>
    <p:extLst>
      <p:ext uri="{BB962C8B-B14F-4D97-AF65-F5344CB8AC3E}">
        <p14:creationId xmlns:p14="http://schemas.microsoft.com/office/powerpoint/2010/main" val="4227268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Flagella</a:t>
            </a:r>
            <a:r>
              <a:rPr lang="en-US" altLang="en-US" sz="1200" dirty="0"/>
              <a:t> </a:t>
            </a:r>
            <a:endParaRPr lang="en-US" dirty="0"/>
          </a:p>
        </p:txBody>
      </p:sp>
      <p:sp>
        <p:nvSpPr>
          <p:cNvPr id="6" name="Content Placeholder 2"/>
          <p:cNvSpPr>
            <a:spLocks noGrp="1"/>
          </p:cNvSpPr>
          <p:nvPr>
            <p:ph sz="quarter" idx="11"/>
          </p:nvPr>
        </p:nvSpPr>
        <p:spPr>
          <a:xfrm>
            <a:off x="342900" y="983411"/>
            <a:ext cx="8458200" cy="1034691"/>
          </a:xfrm>
        </p:spPr>
        <p:txBody>
          <a:bodyPr/>
          <a:lstStyle/>
          <a:p>
            <a:pPr>
              <a:spcBef>
                <a:spcPts val="800"/>
              </a:spcBef>
            </a:pPr>
            <a:r>
              <a:rPr lang="en-US" altLang="en-US" dirty="0"/>
              <a:t>Rotates 360°</a:t>
            </a:r>
          </a:p>
          <a:p>
            <a:pPr>
              <a:spcBef>
                <a:spcPts val="800"/>
              </a:spcBef>
            </a:pPr>
            <a:r>
              <a:rPr lang="en-US" altLang="en-US" dirty="0"/>
              <a:t>Functions in motility of cell through environment</a:t>
            </a:r>
          </a:p>
        </p:txBody>
      </p:sp>
      <p:pic>
        <p:nvPicPr>
          <p:cNvPr id="7" name="Picture 6"/>
          <p:cNvPicPr>
            <a:picLocks noChangeAspect="1"/>
          </p:cNvPicPr>
          <p:nvPr/>
        </p:nvPicPr>
        <p:blipFill>
          <a:blip r:embed="rId2"/>
          <a:stretch>
            <a:fillRect/>
          </a:stretch>
        </p:blipFill>
        <p:spPr>
          <a:xfrm>
            <a:off x="2047875" y="2161099"/>
            <a:ext cx="5048250" cy="2162175"/>
          </a:xfrm>
          <a:prstGeom prst="rect">
            <a:avLst/>
          </a:prstGeom>
        </p:spPr>
      </p:pic>
      <p:sp>
        <p:nvSpPr>
          <p:cNvPr id="8" name="Rectangle 7"/>
          <p:cNvSpPr/>
          <p:nvPr/>
        </p:nvSpPr>
        <p:spPr>
          <a:xfrm>
            <a:off x="566584" y="4323274"/>
            <a:ext cx="8234516" cy="1754326"/>
          </a:xfrm>
          <a:prstGeom prst="rect">
            <a:avLst/>
          </a:prstGeom>
        </p:spPr>
        <p:txBody>
          <a:bodyPr wrap="square">
            <a:spAutoFit/>
          </a:bodyPr>
          <a:lstStyle/>
          <a:p>
            <a:r>
              <a:rPr lang="en-US" dirty="0"/>
              <a:t>(a) When a polar flagellum rotates in a </a:t>
            </a:r>
            <a:r>
              <a:rPr lang="en-US" dirty="0">
                <a:solidFill>
                  <a:srgbClr val="FF0000"/>
                </a:solidFill>
              </a:rPr>
              <a:t>counterclockwise</a:t>
            </a:r>
            <a:r>
              <a:rPr lang="en-US" dirty="0"/>
              <a:t> direction, the cell swims forward in runs.</a:t>
            </a:r>
          </a:p>
          <a:p>
            <a:endParaRPr lang="en-US" dirty="0"/>
          </a:p>
          <a:p>
            <a:r>
              <a:rPr lang="en-US" dirty="0"/>
              <a:t>  </a:t>
            </a:r>
          </a:p>
          <a:p>
            <a:r>
              <a:rPr lang="en-US" dirty="0"/>
              <a:t>(b) When the flagellum reverses direction and rotates </a:t>
            </a:r>
            <a:r>
              <a:rPr lang="en-US" dirty="0">
                <a:solidFill>
                  <a:srgbClr val="FF0000"/>
                </a:solidFill>
              </a:rPr>
              <a:t>clockwise</a:t>
            </a:r>
            <a:r>
              <a:rPr lang="en-US" dirty="0"/>
              <a:t>, the cell stops and tumbles.</a:t>
            </a:r>
          </a:p>
        </p:txBody>
      </p:sp>
    </p:spTree>
    <p:extLst>
      <p:ext uri="{BB962C8B-B14F-4D97-AF65-F5344CB8AC3E}">
        <p14:creationId xmlns:p14="http://schemas.microsoft.com/office/powerpoint/2010/main" val="30380435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3874" y="76200"/>
            <a:ext cx="8458200" cy="678611"/>
          </a:xfrm>
        </p:spPr>
        <p:txBody>
          <a:bodyPr/>
          <a:lstStyle/>
          <a:p>
            <a:r>
              <a:rPr lang="en-US" altLang="en-US"/>
              <a:t>Flagellar Arrangements</a:t>
            </a:r>
            <a:r>
              <a:rPr lang="en-US" altLang="en-US" sz="1200"/>
              <a:t> 1</a:t>
            </a:r>
            <a:endParaRPr lang="en-US" sz="1200" dirty="0"/>
          </a:p>
        </p:txBody>
      </p:sp>
      <p:sp>
        <p:nvSpPr>
          <p:cNvPr id="3" name="Content Placeholder 2"/>
          <p:cNvSpPr>
            <a:spLocks noGrp="1"/>
          </p:cNvSpPr>
          <p:nvPr>
            <p:ph sz="quarter" idx="11"/>
          </p:nvPr>
        </p:nvSpPr>
        <p:spPr>
          <a:xfrm>
            <a:off x="285750" y="754811"/>
            <a:ext cx="8572500" cy="2469381"/>
          </a:xfrm>
        </p:spPr>
        <p:txBody>
          <a:bodyPr/>
          <a:lstStyle/>
          <a:p>
            <a:r>
              <a:rPr lang="en-US" altLang="en-US" dirty="0"/>
              <a:t>The flagella are </a:t>
            </a:r>
            <a:r>
              <a:rPr lang="en-US" altLang="en-US" dirty="0">
                <a:solidFill>
                  <a:srgbClr val="FF0000"/>
                </a:solidFill>
              </a:rPr>
              <a:t>attached at one or both ends of the cell </a:t>
            </a:r>
            <a:r>
              <a:rPr lang="en-US" altLang="en-US" dirty="0"/>
              <a:t>or are </a:t>
            </a:r>
            <a:r>
              <a:rPr lang="en-US" altLang="en-US" dirty="0">
                <a:solidFill>
                  <a:srgbClr val="FF0000"/>
                </a:solidFill>
              </a:rPr>
              <a:t>dispersed over the surface of the cell</a:t>
            </a:r>
            <a:r>
              <a:rPr lang="en-US" altLang="en-US" dirty="0"/>
              <a:t>.</a:t>
            </a:r>
          </a:p>
          <a:p>
            <a:r>
              <a:rPr lang="en-US" altLang="en-US" b="1" dirty="0" err="1"/>
              <a:t>Monotrichous</a:t>
            </a:r>
            <a:r>
              <a:rPr lang="en-US" altLang="en-US" dirty="0"/>
              <a:t> – single flagellum at one end</a:t>
            </a:r>
          </a:p>
          <a:p>
            <a:r>
              <a:rPr lang="en-US" altLang="en-US" b="1" dirty="0"/>
              <a:t>Lophotrichous</a:t>
            </a:r>
            <a:r>
              <a:rPr lang="en-US" altLang="en-US" dirty="0"/>
              <a:t> – small bunches emerging from the same site</a:t>
            </a:r>
          </a:p>
          <a:p>
            <a:r>
              <a:rPr lang="en-US" altLang="en-US" b="1" dirty="0"/>
              <a:t>Amphitrichous</a:t>
            </a:r>
            <a:r>
              <a:rPr lang="en-US" altLang="en-US" dirty="0"/>
              <a:t> – flagella at both ends of cell</a:t>
            </a:r>
          </a:p>
          <a:p>
            <a:r>
              <a:rPr lang="en-US" altLang="en-US" b="1" dirty="0"/>
              <a:t>Peritrichous</a:t>
            </a:r>
            <a:r>
              <a:rPr lang="en-US" altLang="en-US" dirty="0"/>
              <a:t> – flagella dispersed over surface of cell</a:t>
            </a:r>
            <a:endParaRPr lang="en-US" dirty="0"/>
          </a:p>
        </p:txBody>
      </p:sp>
      <p:pic>
        <p:nvPicPr>
          <p:cNvPr id="5" name="Picture 4">
            <a:extLst>
              <a:ext uri="{FF2B5EF4-FFF2-40B4-BE49-F238E27FC236}">
                <a16:creationId xmlns:a16="http://schemas.microsoft.com/office/drawing/2014/main" id="{F350F898-708E-1C91-B9F9-6E3515E5E8AA}"/>
              </a:ext>
            </a:extLst>
          </p:cNvPr>
          <p:cNvPicPr>
            <a:picLocks noChangeAspect="1"/>
          </p:cNvPicPr>
          <p:nvPr/>
        </p:nvPicPr>
        <p:blipFill>
          <a:blip r:embed="rId2"/>
          <a:stretch>
            <a:fillRect/>
          </a:stretch>
        </p:blipFill>
        <p:spPr>
          <a:xfrm>
            <a:off x="285750" y="3849832"/>
            <a:ext cx="2419350" cy="2819400"/>
          </a:xfrm>
          <a:prstGeom prst="rect">
            <a:avLst/>
          </a:prstGeom>
        </p:spPr>
      </p:pic>
      <p:sp>
        <p:nvSpPr>
          <p:cNvPr id="7" name="TextBox 6">
            <a:extLst>
              <a:ext uri="{FF2B5EF4-FFF2-40B4-BE49-F238E27FC236}">
                <a16:creationId xmlns:a16="http://schemas.microsoft.com/office/drawing/2014/main" id="{4DF1D4A8-C978-6BA8-35F4-D24A02AF78A5}"/>
              </a:ext>
            </a:extLst>
          </p:cNvPr>
          <p:cNvSpPr txBox="1"/>
          <p:nvPr/>
        </p:nvSpPr>
        <p:spPr>
          <a:xfrm>
            <a:off x="2782956" y="4189200"/>
            <a:ext cx="3091070" cy="1569660"/>
          </a:xfrm>
          <a:prstGeom prst="rect">
            <a:avLst/>
          </a:prstGeom>
          <a:noFill/>
        </p:spPr>
        <p:txBody>
          <a:bodyPr wrap="square">
            <a:spAutoFit/>
          </a:bodyPr>
          <a:lstStyle/>
          <a:p>
            <a:pPr algn="l"/>
            <a:r>
              <a:rPr lang="en-US" altLang="en-US" sz="2400" dirty="0">
                <a:latin typeface="Helvetica" panose="020B0604020202020204" pitchFamily="34" charset="0"/>
                <a:cs typeface="Helvetica" panose="020B0604020202020204" pitchFamily="34" charset="0"/>
              </a:rPr>
              <a:t>A = </a:t>
            </a:r>
            <a:r>
              <a:rPr lang="en-US" altLang="en-US" sz="2400" dirty="0" err="1">
                <a:latin typeface="Helvetica" panose="020B0604020202020204" pitchFamily="34" charset="0"/>
                <a:cs typeface="Helvetica" panose="020B0604020202020204" pitchFamily="34" charset="0"/>
              </a:rPr>
              <a:t>monotrichous</a:t>
            </a:r>
            <a:r>
              <a:rPr lang="en-US" altLang="en-US" sz="2400" dirty="0">
                <a:latin typeface="Helvetica" panose="020B0604020202020204" pitchFamily="34" charset="0"/>
                <a:cs typeface="Helvetica" panose="020B0604020202020204" pitchFamily="34" charset="0"/>
              </a:rPr>
              <a:t>  </a:t>
            </a:r>
          </a:p>
          <a:p>
            <a:pPr algn="l"/>
            <a:r>
              <a:rPr lang="en-US" altLang="en-US" sz="2400" dirty="0">
                <a:latin typeface="Helvetica" panose="020B0604020202020204" pitchFamily="34" charset="0"/>
                <a:cs typeface="Helvetica" panose="020B0604020202020204" pitchFamily="34" charset="0"/>
              </a:rPr>
              <a:t>B = amphitrichous  </a:t>
            </a:r>
          </a:p>
          <a:p>
            <a:pPr algn="l"/>
            <a:r>
              <a:rPr lang="en-US" altLang="en-US" sz="2400" dirty="0">
                <a:latin typeface="Helvetica" panose="020B0604020202020204" pitchFamily="34" charset="0"/>
                <a:cs typeface="Helvetica" panose="020B0604020202020204" pitchFamily="34" charset="0"/>
              </a:rPr>
              <a:t>C = </a:t>
            </a:r>
            <a:r>
              <a:rPr lang="en-US" altLang="en-US" sz="2400" dirty="0" err="1">
                <a:latin typeface="Helvetica" panose="020B0604020202020204" pitchFamily="34" charset="0"/>
                <a:cs typeface="Helvetica" panose="020B0604020202020204" pitchFamily="34" charset="0"/>
              </a:rPr>
              <a:t>lophotrichous</a:t>
            </a:r>
            <a:r>
              <a:rPr lang="en-US" altLang="en-US" sz="2400" dirty="0">
                <a:latin typeface="Helvetica" panose="020B0604020202020204" pitchFamily="34" charset="0"/>
                <a:cs typeface="Helvetica" panose="020B0604020202020204" pitchFamily="34" charset="0"/>
              </a:rPr>
              <a:t>  </a:t>
            </a:r>
          </a:p>
          <a:p>
            <a:pPr algn="l"/>
            <a:r>
              <a:rPr lang="en-US" altLang="en-US" sz="2400" dirty="0">
                <a:latin typeface="Helvetica" panose="020B0604020202020204" pitchFamily="34" charset="0"/>
                <a:cs typeface="Helvetica" panose="020B0604020202020204" pitchFamily="34" charset="0"/>
              </a:rPr>
              <a:t>D = peritrichous</a:t>
            </a:r>
          </a:p>
        </p:txBody>
      </p:sp>
    </p:spTree>
    <p:extLst>
      <p:ext uri="{BB962C8B-B14F-4D97-AF65-F5344CB8AC3E}">
        <p14:creationId xmlns:p14="http://schemas.microsoft.com/office/powerpoint/2010/main" val="30380435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Flagellar Arrangements</a:t>
            </a:r>
            <a:r>
              <a:rPr lang="en-US" altLang="en-US" sz="1200" dirty="0"/>
              <a:t> 2</a:t>
            </a:r>
            <a:endParaRPr lang="en-US" dirty="0"/>
          </a:p>
        </p:txBody>
      </p:sp>
      <p:pic>
        <p:nvPicPr>
          <p:cNvPr id="5122" name="Picture 2" descr="This is an electron micrograph of a monotrichous flagellum."/>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683256" y="1149171"/>
            <a:ext cx="6990822" cy="4559657"/>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3"/>
          <p:cNvSpPr>
            <a:spLocks noGrp="1"/>
          </p:cNvSpPr>
          <p:nvPr>
            <p:ph type="body" sz="quarter" idx="30"/>
          </p:nvPr>
        </p:nvSpPr>
        <p:spPr/>
        <p:txBody>
          <a:bodyPr/>
          <a:lstStyle/>
          <a:p>
            <a:r>
              <a:rPr lang="en-US" dirty="0"/>
              <a:t>(a): </a:t>
            </a:r>
            <a:r>
              <a:rPr lang="en-US" i="1" dirty="0"/>
              <a:t>Source: </a:t>
            </a:r>
            <a:r>
              <a:rPr lang="en-US" dirty="0"/>
              <a:t>Louisa Howard/Dartmouth Electron Microscope Facility; </a:t>
            </a:r>
          </a:p>
        </p:txBody>
      </p:sp>
      <p:sp>
        <p:nvSpPr>
          <p:cNvPr id="3" name="Rectangle 2"/>
          <p:cNvSpPr/>
          <p:nvPr/>
        </p:nvSpPr>
        <p:spPr>
          <a:xfrm>
            <a:off x="1469922" y="5385662"/>
            <a:ext cx="6061588" cy="369332"/>
          </a:xfrm>
          <a:prstGeom prst="rect">
            <a:avLst/>
          </a:prstGeom>
        </p:spPr>
        <p:txBody>
          <a:bodyPr wrap="square">
            <a:spAutoFit/>
          </a:bodyPr>
          <a:lstStyle/>
          <a:p>
            <a:r>
              <a:rPr lang="en-US" altLang="en-US" b="1" dirty="0"/>
              <a:t>Monotrichous</a:t>
            </a:r>
            <a:r>
              <a:rPr lang="en-US" altLang="en-US" dirty="0"/>
              <a:t> – single flagellum at one end</a:t>
            </a:r>
          </a:p>
        </p:txBody>
      </p:sp>
      <p:grpSp>
        <p:nvGrpSpPr>
          <p:cNvPr id="9" name="Group 8">
            <a:extLst>
              <a:ext uri="{FF2B5EF4-FFF2-40B4-BE49-F238E27FC236}">
                <a16:creationId xmlns:a16="http://schemas.microsoft.com/office/drawing/2014/main" id="{E49B74A1-6952-31B2-2B19-41AF86B35275}"/>
              </a:ext>
            </a:extLst>
          </p:cNvPr>
          <p:cNvGrpSpPr/>
          <p:nvPr/>
        </p:nvGrpSpPr>
        <p:grpSpPr>
          <a:xfrm>
            <a:off x="5098774" y="1544048"/>
            <a:ext cx="2276061" cy="369332"/>
            <a:chOff x="5098774" y="1544048"/>
            <a:chExt cx="2276061" cy="369332"/>
          </a:xfrm>
        </p:grpSpPr>
        <p:sp>
          <p:nvSpPr>
            <p:cNvPr id="6" name="TextBox 5">
              <a:extLst>
                <a:ext uri="{FF2B5EF4-FFF2-40B4-BE49-F238E27FC236}">
                  <a16:creationId xmlns:a16="http://schemas.microsoft.com/office/drawing/2014/main" id="{4AA18C43-96D1-7512-AF07-A1E149A3ED7C}"/>
                </a:ext>
              </a:extLst>
            </p:cNvPr>
            <p:cNvSpPr txBox="1"/>
            <p:nvPr/>
          </p:nvSpPr>
          <p:spPr>
            <a:xfrm>
              <a:off x="5098774" y="1544048"/>
              <a:ext cx="1331843" cy="369332"/>
            </a:xfrm>
            <a:prstGeom prst="rect">
              <a:avLst/>
            </a:prstGeom>
            <a:noFill/>
          </p:spPr>
          <p:txBody>
            <a:bodyPr wrap="square">
              <a:spAutoFit/>
            </a:bodyPr>
            <a:lstStyle/>
            <a:p>
              <a:r>
                <a:rPr lang="en-US" altLang="en-US" b="1" dirty="0">
                  <a:solidFill>
                    <a:schemeClr val="bg1"/>
                  </a:solidFill>
                </a:rPr>
                <a:t>Flagellum</a:t>
              </a:r>
              <a:endParaRPr lang="en-US" b="1" dirty="0">
                <a:solidFill>
                  <a:schemeClr val="bg1"/>
                </a:solidFill>
              </a:endParaRPr>
            </a:p>
          </p:txBody>
        </p:sp>
        <p:cxnSp>
          <p:nvCxnSpPr>
            <p:cNvPr id="8" name="Straight Arrow Connector 7">
              <a:extLst>
                <a:ext uri="{FF2B5EF4-FFF2-40B4-BE49-F238E27FC236}">
                  <a16:creationId xmlns:a16="http://schemas.microsoft.com/office/drawing/2014/main" id="{F035B876-9B24-DBDA-ABEC-7E3BC6559F56}"/>
                </a:ext>
              </a:extLst>
            </p:cNvPr>
            <p:cNvCxnSpPr/>
            <p:nvPr/>
          </p:nvCxnSpPr>
          <p:spPr>
            <a:xfrm flipH="1" flipV="1">
              <a:off x="6341165" y="1769165"/>
              <a:ext cx="1033670" cy="144215"/>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873C0F84-6BDF-A40C-9308-575E54AB8795}"/>
              </a:ext>
            </a:extLst>
          </p:cNvPr>
          <p:cNvSpPr txBox="1"/>
          <p:nvPr/>
        </p:nvSpPr>
        <p:spPr>
          <a:xfrm>
            <a:off x="775251" y="5873730"/>
            <a:ext cx="7553739" cy="369332"/>
          </a:xfrm>
          <a:prstGeom prst="rect">
            <a:avLst/>
          </a:prstGeom>
          <a:noFill/>
        </p:spPr>
        <p:txBody>
          <a:bodyPr wrap="square">
            <a:spAutoFit/>
          </a:bodyPr>
          <a:lstStyle/>
          <a:p>
            <a:r>
              <a:rPr lang="en-US" dirty="0" err="1"/>
              <a:t>Monotrichous</a:t>
            </a:r>
            <a:r>
              <a:rPr lang="en-US" dirty="0"/>
              <a:t> flagellum on the pathogen </a:t>
            </a:r>
            <a:r>
              <a:rPr lang="en-US" i="1" dirty="0"/>
              <a:t>Vibrio cholerae </a:t>
            </a:r>
            <a:r>
              <a:rPr lang="en-US" dirty="0"/>
              <a:t>(10,000 x). </a:t>
            </a:r>
          </a:p>
        </p:txBody>
      </p:sp>
    </p:spTree>
    <p:extLst>
      <p:ext uri="{BB962C8B-B14F-4D97-AF65-F5344CB8AC3E}">
        <p14:creationId xmlns:p14="http://schemas.microsoft.com/office/powerpoint/2010/main" val="30380435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Flagellar Arrangements</a:t>
            </a:r>
            <a:r>
              <a:rPr lang="en-US" altLang="en-US" sz="1200" dirty="0"/>
              <a:t> 3</a:t>
            </a:r>
            <a:endParaRPr lang="en-US" dirty="0"/>
          </a:p>
        </p:txBody>
      </p:sp>
      <p:pic>
        <p:nvPicPr>
          <p:cNvPr id="6146" name="Picture 2" descr="This is an electron micrograph of a lophotrichous flagellum."/>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1458354" y="983411"/>
            <a:ext cx="5794673" cy="4299533"/>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3"/>
          <p:cNvSpPr>
            <a:spLocks noGrp="1"/>
          </p:cNvSpPr>
          <p:nvPr>
            <p:ph type="body" sz="quarter" idx="30"/>
          </p:nvPr>
        </p:nvSpPr>
        <p:spPr/>
        <p:txBody>
          <a:bodyPr/>
          <a:lstStyle/>
          <a:p>
            <a:r>
              <a:rPr lang="en-IN" dirty="0"/>
              <a:t>(b): Heather Davies/Science Source </a:t>
            </a:r>
            <a:endParaRPr lang="en-US" dirty="0"/>
          </a:p>
        </p:txBody>
      </p:sp>
      <p:sp>
        <p:nvSpPr>
          <p:cNvPr id="3" name="Rectangle 2"/>
          <p:cNvSpPr/>
          <p:nvPr/>
        </p:nvSpPr>
        <p:spPr>
          <a:xfrm>
            <a:off x="1853379" y="4959778"/>
            <a:ext cx="5796117" cy="646331"/>
          </a:xfrm>
          <a:prstGeom prst="rect">
            <a:avLst/>
          </a:prstGeom>
        </p:spPr>
        <p:txBody>
          <a:bodyPr wrap="square">
            <a:spAutoFit/>
          </a:bodyPr>
          <a:lstStyle/>
          <a:p>
            <a:r>
              <a:rPr lang="en-US" altLang="en-US" b="1" dirty="0"/>
              <a:t>Lophotrichous</a:t>
            </a:r>
            <a:r>
              <a:rPr lang="en-US" altLang="en-US" dirty="0"/>
              <a:t> – small bunches emerging from the same site</a:t>
            </a:r>
          </a:p>
        </p:txBody>
      </p:sp>
      <p:grpSp>
        <p:nvGrpSpPr>
          <p:cNvPr id="4" name="Group 3">
            <a:extLst>
              <a:ext uri="{FF2B5EF4-FFF2-40B4-BE49-F238E27FC236}">
                <a16:creationId xmlns:a16="http://schemas.microsoft.com/office/drawing/2014/main" id="{4049D797-D446-ECFB-51AC-D1514B55593E}"/>
              </a:ext>
            </a:extLst>
          </p:cNvPr>
          <p:cNvGrpSpPr/>
          <p:nvPr/>
        </p:nvGrpSpPr>
        <p:grpSpPr>
          <a:xfrm>
            <a:off x="3752552" y="1499754"/>
            <a:ext cx="2276061" cy="369332"/>
            <a:chOff x="5098774" y="1544048"/>
            <a:chExt cx="2276061" cy="369332"/>
          </a:xfrm>
        </p:grpSpPr>
        <p:sp>
          <p:nvSpPr>
            <p:cNvPr id="6" name="TextBox 5">
              <a:extLst>
                <a:ext uri="{FF2B5EF4-FFF2-40B4-BE49-F238E27FC236}">
                  <a16:creationId xmlns:a16="http://schemas.microsoft.com/office/drawing/2014/main" id="{D2D93E79-A5AE-61C1-C319-816F2F61391B}"/>
                </a:ext>
              </a:extLst>
            </p:cNvPr>
            <p:cNvSpPr txBox="1"/>
            <p:nvPr/>
          </p:nvSpPr>
          <p:spPr>
            <a:xfrm>
              <a:off x="5098774" y="1544048"/>
              <a:ext cx="1331843" cy="369332"/>
            </a:xfrm>
            <a:prstGeom prst="rect">
              <a:avLst/>
            </a:prstGeom>
            <a:noFill/>
          </p:spPr>
          <p:txBody>
            <a:bodyPr wrap="square">
              <a:spAutoFit/>
            </a:bodyPr>
            <a:lstStyle/>
            <a:p>
              <a:r>
                <a:rPr lang="en-US" altLang="en-US" b="1" dirty="0"/>
                <a:t>Flagellum</a:t>
              </a:r>
              <a:endParaRPr lang="en-US" b="1" dirty="0"/>
            </a:p>
          </p:txBody>
        </p:sp>
        <p:cxnSp>
          <p:nvCxnSpPr>
            <p:cNvPr id="7" name="Straight Arrow Connector 6">
              <a:extLst>
                <a:ext uri="{FF2B5EF4-FFF2-40B4-BE49-F238E27FC236}">
                  <a16:creationId xmlns:a16="http://schemas.microsoft.com/office/drawing/2014/main" id="{20190F73-8B83-872D-F97B-19BBDA0A0195}"/>
                </a:ext>
              </a:extLst>
            </p:cNvPr>
            <p:cNvCxnSpPr/>
            <p:nvPr/>
          </p:nvCxnSpPr>
          <p:spPr>
            <a:xfrm flipH="1" flipV="1">
              <a:off x="6341165" y="1769165"/>
              <a:ext cx="1033670" cy="1442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97F888D5-8BAC-ABCE-E51E-FC662B05025F}"/>
              </a:ext>
            </a:extLst>
          </p:cNvPr>
          <p:cNvSpPr txBox="1"/>
          <p:nvPr/>
        </p:nvSpPr>
        <p:spPr>
          <a:xfrm>
            <a:off x="342900" y="5715467"/>
            <a:ext cx="8711648" cy="646331"/>
          </a:xfrm>
          <a:prstGeom prst="rect">
            <a:avLst/>
          </a:prstGeom>
          <a:noFill/>
        </p:spPr>
        <p:txBody>
          <a:bodyPr wrap="square">
            <a:spAutoFit/>
          </a:bodyPr>
          <a:lstStyle/>
          <a:p>
            <a:r>
              <a:rPr lang="en-US" dirty="0"/>
              <a:t>Lophotrichous flagella on </a:t>
            </a:r>
            <a:r>
              <a:rPr lang="en-US" i="1" dirty="0"/>
              <a:t>Helicobacter pylori</a:t>
            </a:r>
            <a:r>
              <a:rPr lang="en-US" dirty="0"/>
              <a:t>, a cause of stomach ulcers (14,000x).</a:t>
            </a:r>
          </a:p>
          <a:p>
            <a:endParaRPr lang="en-US" dirty="0"/>
          </a:p>
        </p:txBody>
      </p:sp>
    </p:spTree>
    <p:extLst>
      <p:ext uri="{BB962C8B-B14F-4D97-AF65-F5344CB8AC3E}">
        <p14:creationId xmlns:p14="http://schemas.microsoft.com/office/powerpoint/2010/main" val="30380435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773" y="0"/>
            <a:ext cx="8458200" cy="678611"/>
          </a:xfrm>
        </p:spPr>
        <p:txBody>
          <a:bodyPr/>
          <a:lstStyle/>
          <a:p>
            <a:r>
              <a:rPr lang="en-US" altLang="en-US" dirty="0"/>
              <a:t>Flagellar Arrangements</a:t>
            </a:r>
            <a:r>
              <a:rPr lang="en-US" altLang="en-US" sz="1200" dirty="0"/>
              <a:t> 4</a:t>
            </a:r>
            <a:endParaRPr lang="en-IN" dirty="0"/>
          </a:p>
        </p:txBody>
      </p:sp>
      <p:pic>
        <p:nvPicPr>
          <p:cNvPr id="7170" name="Picture 2" descr="This is an electron micrograph of an unusual flagella of Aquaspirillum."/>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1674332" y="767431"/>
            <a:ext cx="6301059" cy="462951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805744" y="5468692"/>
            <a:ext cx="6038234" cy="369332"/>
          </a:xfrm>
          <a:prstGeom prst="rect">
            <a:avLst/>
          </a:prstGeom>
        </p:spPr>
        <p:txBody>
          <a:bodyPr wrap="square">
            <a:spAutoFit/>
          </a:bodyPr>
          <a:lstStyle/>
          <a:p>
            <a:r>
              <a:rPr lang="en-US" altLang="en-US" b="1" dirty="0" err="1"/>
              <a:t>Amphitrichous</a:t>
            </a:r>
            <a:r>
              <a:rPr lang="en-US" altLang="en-US" dirty="0"/>
              <a:t> – flagella at both ends of cell</a:t>
            </a:r>
          </a:p>
        </p:txBody>
      </p:sp>
      <p:grpSp>
        <p:nvGrpSpPr>
          <p:cNvPr id="4" name="Group 3">
            <a:extLst>
              <a:ext uri="{FF2B5EF4-FFF2-40B4-BE49-F238E27FC236}">
                <a16:creationId xmlns:a16="http://schemas.microsoft.com/office/drawing/2014/main" id="{400F6910-6EFC-1E54-76E5-F17DFE39B200}"/>
              </a:ext>
            </a:extLst>
          </p:cNvPr>
          <p:cNvGrpSpPr/>
          <p:nvPr/>
        </p:nvGrpSpPr>
        <p:grpSpPr>
          <a:xfrm>
            <a:off x="0" y="1164191"/>
            <a:ext cx="2276061" cy="369332"/>
            <a:chOff x="5098774" y="1544048"/>
            <a:chExt cx="2276061" cy="369332"/>
          </a:xfrm>
        </p:grpSpPr>
        <p:sp>
          <p:nvSpPr>
            <p:cNvPr id="5" name="TextBox 4">
              <a:extLst>
                <a:ext uri="{FF2B5EF4-FFF2-40B4-BE49-F238E27FC236}">
                  <a16:creationId xmlns:a16="http://schemas.microsoft.com/office/drawing/2014/main" id="{91341DA1-195E-3EA6-80EC-FC00A7751940}"/>
                </a:ext>
              </a:extLst>
            </p:cNvPr>
            <p:cNvSpPr txBox="1"/>
            <p:nvPr/>
          </p:nvSpPr>
          <p:spPr>
            <a:xfrm>
              <a:off x="5098774" y="1544048"/>
              <a:ext cx="1331843" cy="369332"/>
            </a:xfrm>
            <a:prstGeom prst="rect">
              <a:avLst/>
            </a:prstGeom>
            <a:noFill/>
          </p:spPr>
          <p:txBody>
            <a:bodyPr wrap="square">
              <a:spAutoFit/>
            </a:bodyPr>
            <a:lstStyle/>
            <a:p>
              <a:r>
                <a:rPr lang="en-US" altLang="en-US" b="1" dirty="0"/>
                <a:t>Flagellum</a:t>
              </a:r>
              <a:endParaRPr lang="en-US" b="1" dirty="0"/>
            </a:p>
          </p:txBody>
        </p:sp>
        <p:cxnSp>
          <p:nvCxnSpPr>
            <p:cNvPr id="6" name="Straight Arrow Connector 5">
              <a:extLst>
                <a:ext uri="{FF2B5EF4-FFF2-40B4-BE49-F238E27FC236}">
                  <a16:creationId xmlns:a16="http://schemas.microsoft.com/office/drawing/2014/main" id="{082E37C4-F0A4-92EA-E11A-9A9657388DA4}"/>
                </a:ext>
              </a:extLst>
            </p:cNvPr>
            <p:cNvCxnSpPr/>
            <p:nvPr/>
          </p:nvCxnSpPr>
          <p:spPr>
            <a:xfrm flipH="1" flipV="1">
              <a:off x="6341165" y="1769165"/>
              <a:ext cx="1033670" cy="1442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DFABF1C9-B448-7525-5DB4-2604C6584EFE}"/>
              </a:ext>
            </a:extLst>
          </p:cNvPr>
          <p:cNvSpPr txBox="1"/>
          <p:nvPr/>
        </p:nvSpPr>
        <p:spPr>
          <a:xfrm>
            <a:off x="705091" y="5905993"/>
            <a:ext cx="8239540" cy="369332"/>
          </a:xfrm>
          <a:prstGeom prst="rect">
            <a:avLst/>
          </a:prstGeom>
          <a:noFill/>
        </p:spPr>
        <p:txBody>
          <a:bodyPr wrap="square">
            <a:spAutoFit/>
          </a:bodyPr>
          <a:lstStyle/>
          <a:p>
            <a:r>
              <a:rPr lang="en-US" dirty="0"/>
              <a:t>Amphitrichous flagella of </a:t>
            </a:r>
            <a:r>
              <a:rPr lang="en-US" i="1" dirty="0" err="1"/>
              <a:t>Aquasprillum</a:t>
            </a:r>
            <a:r>
              <a:rPr lang="en-US" dirty="0"/>
              <a:t> (75,000x).</a:t>
            </a:r>
          </a:p>
        </p:txBody>
      </p:sp>
    </p:spTree>
    <p:extLst>
      <p:ext uri="{BB962C8B-B14F-4D97-AF65-F5344CB8AC3E}">
        <p14:creationId xmlns:p14="http://schemas.microsoft.com/office/powerpoint/2010/main" val="408271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919" y="78658"/>
            <a:ext cx="8458200" cy="678611"/>
          </a:xfrm>
        </p:spPr>
        <p:txBody>
          <a:bodyPr/>
          <a:lstStyle/>
          <a:p>
            <a:r>
              <a:rPr lang="en-US" altLang="en-US" dirty="0"/>
              <a:t>Flagellar Arrangements</a:t>
            </a:r>
            <a:r>
              <a:rPr lang="en-US" altLang="en-US" sz="1200" dirty="0"/>
              <a:t> 5</a:t>
            </a:r>
            <a:endParaRPr lang="en-IN" dirty="0"/>
          </a:p>
        </p:txBody>
      </p:sp>
      <p:pic>
        <p:nvPicPr>
          <p:cNvPr id="8194" name="Picture 2" descr="This is electron micrograph of Proteus mirabilis exhibiting peritrichous flagella."/>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237497" y="1084265"/>
            <a:ext cx="3981548" cy="325913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753682" y="4485730"/>
            <a:ext cx="5636635" cy="369332"/>
          </a:xfrm>
          <a:prstGeom prst="rect">
            <a:avLst/>
          </a:prstGeom>
        </p:spPr>
        <p:txBody>
          <a:bodyPr wrap="square">
            <a:spAutoFit/>
          </a:bodyPr>
          <a:lstStyle/>
          <a:p>
            <a:r>
              <a:rPr lang="en-US" altLang="en-US" b="1" dirty="0" err="1"/>
              <a:t>Peritrichous</a:t>
            </a:r>
            <a:r>
              <a:rPr lang="en-US" altLang="en-US" dirty="0"/>
              <a:t> – flagella dispersed over surface of cell</a:t>
            </a:r>
            <a:endParaRPr lang="en-US" dirty="0"/>
          </a:p>
        </p:txBody>
      </p:sp>
      <p:pic>
        <p:nvPicPr>
          <p:cNvPr id="4" name="Google Shape;261;p15" descr="A micrograph of Proteus mirabilis, a bacteria possessing several thread-like flagella termed peritrichous flagella on all sides of its surface.">
            <a:extLst>
              <a:ext uri="{FF2B5EF4-FFF2-40B4-BE49-F238E27FC236}">
                <a16:creationId xmlns:a16="http://schemas.microsoft.com/office/drawing/2014/main" id="{9C9FE7CB-BF86-8A09-9485-13810202B1B4}"/>
              </a:ext>
            </a:extLst>
          </p:cNvPr>
          <p:cNvPicPr>
            <a:picLocks noChangeAspect="1"/>
          </p:cNvPicPr>
          <p:nvPr/>
        </p:nvPicPr>
        <p:blipFill>
          <a:blip r:embed="rId3"/>
          <a:stretch>
            <a:fillRect/>
          </a:stretch>
        </p:blipFill>
        <p:spPr>
          <a:xfrm>
            <a:off x="4465219" y="1064387"/>
            <a:ext cx="4401455" cy="3128307"/>
          </a:xfrm>
          <a:prstGeom prst="rect">
            <a:avLst/>
          </a:prstGeom>
        </p:spPr>
      </p:pic>
      <p:grpSp>
        <p:nvGrpSpPr>
          <p:cNvPr id="5" name="Group 4">
            <a:extLst>
              <a:ext uri="{FF2B5EF4-FFF2-40B4-BE49-F238E27FC236}">
                <a16:creationId xmlns:a16="http://schemas.microsoft.com/office/drawing/2014/main" id="{E2237450-6282-E781-A6F9-16719CEAB1FA}"/>
              </a:ext>
            </a:extLst>
          </p:cNvPr>
          <p:cNvGrpSpPr/>
          <p:nvPr/>
        </p:nvGrpSpPr>
        <p:grpSpPr>
          <a:xfrm>
            <a:off x="4389885" y="1251275"/>
            <a:ext cx="2276061" cy="369332"/>
            <a:chOff x="5098774" y="1544048"/>
            <a:chExt cx="2276061" cy="369332"/>
          </a:xfrm>
        </p:grpSpPr>
        <p:sp>
          <p:nvSpPr>
            <p:cNvPr id="6" name="TextBox 5">
              <a:extLst>
                <a:ext uri="{FF2B5EF4-FFF2-40B4-BE49-F238E27FC236}">
                  <a16:creationId xmlns:a16="http://schemas.microsoft.com/office/drawing/2014/main" id="{1B4BCFC9-F5C2-4356-0EC9-4CBFFA1DB95A}"/>
                </a:ext>
              </a:extLst>
            </p:cNvPr>
            <p:cNvSpPr txBox="1"/>
            <p:nvPr/>
          </p:nvSpPr>
          <p:spPr>
            <a:xfrm>
              <a:off x="5098774" y="1544048"/>
              <a:ext cx="1331843" cy="369332"/>
            </a:xfrm>
            <a:prstGeom prst="rect">
              <a:avLst/>
            </a:prstGeom>
            <a:noFill/>
          </p:spPr>
          <p:txBody>
            <a:bodyPr wrap="square">
              <a:spAutoFit/>
            </a:bodyPr>
            <a:lstStyle/>
            <a:p>
              <a:r>
                <a:rPr lang="en-US" altLang="en-US" b="1" dirty="0"/>
                <a:t>Flagellum</a:t>
              </a:r>
              <a:endParaRPr lang="en-US" b="1" dirty="0"/>
            </a:p>
          </p:txBody>
        </p:sp>
        <p:cxnSp>
          <p:nvCxnSpPr>
            <p:cNvPr id="7" name="Straight Arrow Connector 6">
              <a:extLst>
                <a:ext uri="{FF2B5EF4-FFF2-40B4-BE49-F238E27FC236}">
                  <a16:creationId xmlns:a16="http://schemas.microsoft.com/office/drawing/2014/main" id="{A420B341-C4BB-028F-7042-ED47B4B1ED26}"/>
                </a:ext>
              </a:extLst>
            </p:cNvPr>
            <p:cNvCxnSpPr/>
            <p:nvPr/>
          </p:nvCxnSpPr>
          <p:spPr>
            <a:xfrm flipH="1" flipV="1">
              <a:off x="6341165" y="1769165"/>
              <a:ext cx="1033670" cy="1442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A326F613-FDE3-A1D8-5104-29D22A7A1378}"/>
              </a:ext>
            </a:extLst>
          </p:cNvPr>
          <p:cNvSpPr txBox="1"/>
          <p:nvPr/>
        </p:nvSpPr>
        <p:spPr>
          <a:xfrm>
            <a:off x="805069" y="5302090"/>
            <a:ext cx="6585248" cy="369332"/>
          </a:xfrm>
          <a:prstGeom prst="rect">
            <a:avLst/>
          </a:prstGeom>
          <a:noFill/>
        </p:spPr>
        <p:txBody>
          <a:bodyPr wrap="square">
            <a:spAutoFit/>
          </a:bodyPr>
          <a:lstStyle/>
          <a:p>
            <a:r>
              <a:rPr lang="en-US" dirty="0"/>
              <a:t>Peritrichous flagella of </a:t>
            </a:r>
            <a:r>
              <a:rPr lang="en-US" i="1" dirty="0"/>
              <a:t>Proteus mirabilis </a:t>
            </a:r>
            <a:r>
              <a:rPr lang="en-US" dirty="0"/>
              <a:t>(10,000x).</a:t>
            </a:r>
          </a:p>
        </p:txBody>
      </p:sp>
    </p:spTree>
    <p:extLst>
      <p:ext uri="{BB962C8B-B14F-4D97-AF65-F5344CB8AC3E}">
        <p14:creationId xmlns:p14="http://schemas.microsoft.com/office/powerpoint/2010/main" val="39905482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758" y="19850"/>
            <a:ext cx="8458200" cy="678611"/>
          </a:xfrm>
        </p:spPr>
        <p:txBody>
          <a:bodyPr/>
          <a:lstStyle/>
          <a:p>
            <a:r>
              <a:rPr lang="en-US" altLang="en-US" dirty="0"/>
              <a:t>Flagellar Responses</a:t>
            </a:r>
            <a:r>
              <a:rPr lang="en-US" altLang="en-US" sz="1200" dirty="0"/>
              <a:t> 1</a:t>
            </a:r>
            <a:endParaRPr lang="en-IN" sz="1200" dirty="0"/>
          </a:p>
        </p:txBody>
      </p:sp>
      <p:sp>
        <p:nvSpPr>
          <p:cNvPr id="3" name="Content Placeholder 2"/>
          <p:cNvSpPr>
            <a:spLocks noGrp="1"/>
          </p:cNvSpPr>
          <p:nvPr>
            <p:ph sz="quarter" idx="11"/>
          </p:nvPr>
        </p:nvSpPr>
        <p:spPr>
          <a:xfrm>
            <a:off x="324090" y="1284870"/>
            <a:ext cx="8722442" cy="4971691"/>
          </a:xfrm>
        </p:spPr>
        <p:txBody>
          <a:bodyPr/>
          <a:lstStyle/>
          <a:p>
            <a:pPr marL="342900" indent="-342900">
              <a:buFont typeface="Arial" panose="020B0604020202020204" pitchFamily="34" charset="0"/>
              <a:buChar char="•"/>
            </a:pPr>
            <a:r>
              <a:rPr lang="en-US" altLang="en-US" dirty="0"/>
              <a:t>Functions as more than just a locomotor device.</a:t>
            </a:r>
          </a:p>
          <a:p>
            <a:pPr marL="342900" indent="-342900">
              <a:buFont typeface="Arial" panose="020B0604020202020204" pitchFamily="34" charset="0"/>
              <a:buChar char="•"/>
            </a:pPr>
            <a:r>
              <a:rPr lang="en-US" altLang="en-US" dirty="0"/>
              <a:t>They are </a:t>
            </a:r>
            <a:r>
              <a:rPr lang="en-US" altLang="en-US" dirty="0">
                <a:solidFill>
                  <a:srgbClr val="FF0000"/>
                </a:solidFill>
              </a:rPr>
              <a:t>sensory appendages </a:t>
            </a:r>
            <a:r>
              <a:rPr lang="en-US" altLang="en-US" dirty="0"/>
              <a:t>that can </a:t>
            </a:r>
            <a:r>
              <a:rPr lang="en-US" altLang="en-US" dirty="0">
                <a:solidFill>
                  <a:srgbClr val="FF0000"/>
                </a:solidFill>
              </a:rPr>
              <a:t>detect and respond to environmental signals</a:t>
            </a:r>
            <a:r>
              <a:rPr lang="en-US" altLang="en-US" dirty="0"/>
              <a:t>.</a:t>
            </a:r>
          </a:p>
          <a:p>
            <a:r>
              <a:rPr lang="en-US" altLang="en-US" dirty="0"/>
              <a:t>Guide bacteria in a direction in response to external stimulus: </a:t>
            </a:r>
          </a:p>
          <a:p>
            <a:pPr lvl="1"/>
            <a:r>
              <a:rPr lang="en-US" altLang="en-US" dirty="0"/>
              <a:t>Chemical stimuli – </a:t>
            </a:r>
            <a:r>
              <a:rPr lang="en-US" altLang="en-US" b="1" dirty="0">
                <a:solidFill>
                  <a:schemeClr val="accent1"/>
                </a:solidFill>
              </a:rPr>
              <a:t>chemotaxis</a:t>
            </a:r>
            <a:r>
              <a:rPr lang="en-US" altLang="en-US" dirty="0"/>
              <a:t>; positive and negative</a:t>
            </a:r>
          </a:p>
          <a:p>
            <a:pPr lvl="1"/>
            <a:r>
              <a:rPr lang="en-US" altLang="en-US" dirty="0"/>
              <a:t>Light stimuli – </a:t>
            </a:r>
            <a:r>
              <a:rPr lang="en-US" altLang="en-US" b="1" dirty="0">
                <a:solidFill>
                  <a:schemeClr val="accent1"/>
                </a:solidFill>
              </a:rPr>
              <a:t>phototaxis</a:t>
            </a:r>
          </a:p>
          <a:p>
            <a:pPr marL="1588" lvl="1" indent="0">
              <a:buNone/>
            </a:pPr>
            <a:endParaRPr lang="en-US" altLang="en-US" dirty="0"/>
          </a:p>
        </p:txBody>
      </p:sp>
    </p:spTree>
    <p:extLst>
      <p:ext uri="{BB962C8B-B14F-4D97-AF65-F5344CB8AC3E}">
        <p14:creationId xmlns:p14="http://schemas.microsoft.com/office/powerpoint/2010/main" val="33423670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93" y="-122107"/>
            <a:ext cx="8458200" cy="678611"/>
          </a:xfrm>
        </p:spPr>
        <p:txBody>
          <a:bodyPr/>
          <a:lstStyle/>
          <a:p>
            <a:r>
              <a:rPr lang="en-US" altLang="en-US" dirty="0"/>
              <a:t>Fimbriae</a:t>
            </a:r>
            <a:r>
              <a:rPr lang="en-US" altLang="en-US" sz="1200" dirty="0"/>
              <a:t> 1</a:t>
            </a:r>
            <a:endParaRPr lang="en-IN" sz="1200" dirty="0"/>
          </a:p>
        </p:txBody>
      </p:sp>
      <p:sp>
        <p:nvSpPr>
          <p:cNvPr id="3" name="Content Placeholder 2"/>
          <p:cNvSpPr>
            <a:spLocks noGrp="1"/>
          </p:cNvSpPr>
          <p:nvPr>
            <p:ph sz="quarter" idx="11"/>
          </p:nvPr>
        </p:nvSpPr>
        <p:spPr>
          <a:xfrm>
            <a:off x="234745" y="400315"/>
            <a:ext cx="8458200" cy="4971691"/>
          </a:xfrm>
        </p:spPr>
        <p:txBody>
          <a:bodyPr/>
          <a:lstStyle/>
          <a:p>
            <a:r>
              <a:rPr lang="en-US" sz="2200" dirty="0"/>
              <a:t>Fine, proteinaceous, hair like bristles emerging from the cell surface.</a:t>
            </a:r>
          </a:p>
          <a:p>
            <a:r>
              <a:rPr lang="en-US" sz="2200" dirty="0"/>
              <a:t>Function in adhesion to other cells and surfaces</a:t>
            </a:r>
            <a:endParaRPr lang="en-IN" sz="2200" dirty="0"/>
          </a:p>
        </p:txBody>
      </p:sp>
      <p:pic>
        <p:nvPicPr>
          <p:cNvPr id="4" name="Picture 2" descr="This is a micrograph of several cells of E. coli covered with numerous fibers called fimbria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660" y="1689076"/>
            <a:ext cx="3581881" cy="2598830"/>
          </a:xfrm>
          <a:prstGeom prst="rect">
            <a:avLst/>
          </a:prstGeom>
          <a:noFill/>
          <a:extLst>
            <a:ext uri="{909E8E84-426E-40DD-AFC4-6F175D3DCCD1}">
              <a14:hiddenFill xmlns:a14="http://schemas.microsoft.com/office/drawing/2010/main">
                <a:solidFill>
                  <a:srgbClr val="FFFFFF"/>
                </a:solidFill>
              </a14:hiddenFill>
            </a:ext>
          </a:extLst>
        </p:spPr>
      </p:pic>
      <p:pic>
        <p:nvPicPr>
          <p:cNvPr id="5" name="Google Shape;328;p25" descr="A micrograph of Escherichia cell, a rod-shaped cell surrounded by a cell wall with 2 bilayers and long filamentous polymeric structures.">
            <a:extLst>
              <a:ext uri="{FF2B5EF4-FFF2-40B4-BE49-F238E27FC236}">
                <a16:creationId xmlns:a16="http://schemas.microsoft.com/office/drawing/2014/main" id="{B260FC40-0407-FDC6-CF75-0104F7CE9B96}"/>
              </a:ext>
            </a:extLst>
          </p:cNvPr>
          <p:cNvPicPr>
            <a:picLocks noChangeAspect="1"/>
          </p:cNvPicPr>
          <p:nvPr/>
        </p:nvPicPr>
        <p:blipFill rotWithShape="1">
          <a:blip r:embed="rId3"/>
          <a:stretch/>
        </p:blipFill>
        <p:spPr>
          <a:xfrm>
            <a:off x="4463846" y="1657187"/>
            <a:ext cx="3973462" cy="2915440"/>
          </a:xfrm>
          <a:prstGeom prst="rect">
            <a:avLst/>
          </a:prstGeom>
        </p:spPr>
      </p:pic>
      <p:cxnSp>
        <p:nvCxnSpPr>
          <p:cNvPr id="15" name="Straight Connector 14">
            <a:extLst>
              <a:ext uri="{FF2B5EF4-FFF2-40B4-BE49-F238E27FC236}">
                <a16:creationId xmlns:a16="http://schemas.microsoft.com/office/drawing/2014/main" id="{11042E99-07C7-4F0C-137E-291E25D7751D}"/>
              </a:ext>
            </a:extLst>
          </p:cNvPr>
          <p:cNvCxnSpPr>
            <a:cxnSpLocks/>
          </p:cNvCxnSpPr>
          <p:nvPr/>
        </p:nvCxnSpPr>
        <p:spPr>
          <a:xfrm>
            <a:off x="1133061" y="4810328"/>
            <a:ext cx="92618" cy="237536"/>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E265D1A0-D547-540B-50F8-C9C248EFD901}"/>
              </a:ext>
            </a:extLst>
          </p:cNvPr>
          <p:cNvPicPr>
            <a:picLocks noChangeAspect="1"/>
          </p:cNvPicPr>
          <p:nvPr/>
        </p:nvPicPr>
        <p:blipFill>
          <a:blip r:embed="rId4"/>
          <a:stretch>
            <a:fillRect/>
          </a:stretch>
        </p:blipFill>
        <p:spPr>
          <a:xfrm>
            <a:off x="206104" y="4287906"/>
            <a:ext cx="4079805" cy="2461220"/>
          </a:xfrm>
          <a:prstGeom prst="rect">
            <a:avLst/>
          </a:prstGeom>
        </p:spPr>
      </p:pic>
    </p:spTree>
    <p:extLst>
      <p:ext uri="{BB962C8B-B14F-4D97-AF65-F5344CB8AC3E}">
        <p14:creationId xmlns:p14="http://schemas.microsoft.com/office/powerpoint/2010/main" val="3089178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458200" cy="678611"/>
          </a:xfrm>
        </p:spPr>
        <p:txBody>
          <a:bodyPr/>
          <a:lstStyle/>
          <a:p>
            <a:r>
              <a:rPr lang="en-US" altLang="en-US" dirty="0"/>
              <a:t>Pili</a:t>
            </a:r>
            <a:r>
              <a:rPr lang="en-US" altLang="en-US" sz="1200" dirty="0"/>
              <a:t> 1</a:t>
            </a:r>
            <a:endParaRPr lang="en-IN" sz="1200" dirty="0"/>
          </a:p>
        </p:txBody>
      </p:sp>
      <p:sp>
        <p:nvSpPr>
          <p:cNvPr id="3" name="Content Placeholder 2"/>
          <p:cNvSpPr>
            <a:spLocks noGrp="1"/>
          </p:cNvSpPr>
          <p:nvPr>
            <p:ph sz="quarter" idx="11"/>
          </p:nvPr>
        </p:nvSpPr>
        <p:spPr>
          <a:xfrm>
            <a:off x="304800" y="678611"/>
            <a:ext cx="8458200" cy="4971691"/>
          </a:xfrm>
        </p:spPr>
        <p:txBody>
          <a:bodyPr/>
          <a:lstStyle/>
          <a:p>
            <a:r>
              <a:rPr lang="en-US" altLang="en-US" dirty="0"/>
              <a:t>Rigid tubular structure made of pilin protein</a:t>
            </a:r>
          </a:p>
          <a:p>
            <a:r>
              <a:rPr lang="en-US" altLang="en-US" dirty="0"/>
              <a:t>Found only in gram-negative cells</a:t>
            </a:r>
          </a:p>
          <a:p>
            <a:r>
              <a:rPr lang="en-US" altLang="en-US" dirty="0"/>
              <a:t>Function to join bacterial cells for partial DNA transfer called conjugation</a:t>
            </a:r>
            <a:endParaRPr lang="en-IN" dirty="0"/>
          </a:p>
        </p:txBody>
      </p:sp>
      <p:pic>
        <p:nvPicPr>
          <p:cNvPr id="4" name="Picture 2" descr="Shown are three bacteria in the process of conjugat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8231" y="2275447"/>
            <a:ext cx="4660491" cy="4191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68850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759" y="224212"/>
            <a:ext cx="8458200" cy="514915"/>
          </a:xfrm>
        </p:spPr>
        <p:txBody>
          <a:bodyPr/>
          <a:lstStyle/>
          <a:p>
            <a:r>
              <a:rPr lang="en-US" altLang="en-US" dirty="0"/>
              <a:t>Bacterial surface coatings</a:t>
            </a:r>
            <a:br>
              <a:rPr lang="en-US" altLang="en-US" dirty="0"/>
            </a:br>
            <a:r>
              <a:rPr lang="en-US" altLang="en-US" dirty="0"/>
              <a:t>Glycocalyx</a:t>
            </a:r>
            <a:r>
              <a:rPr lang="en-US" altLang="en-US" sz="1200" dirty="0"/>
              <a:t> 1</a:t>
            </a:r>
            <a:endParaRPr lang="en-IN" sz="1200" dirty="0"/>
          </a:p>
        </p:txBody>
      </p:sp>
      <p:sp>
        <p:nvSpPr>
          <p:cNvPr id="3" name="Content Placeholder 2"/>
          <p:cNvSpPr>
            <a:spLocks noGrp="1"/>
          </p:cNvSpPr>
          <p:nvPr>
            <p:ph sz="quarter" idx="11"/>
          </p:nvPr>
        </p:nvSpPr>
        <p:spPr>
          <a:xfrm>
            <a:off x="224913" y="739127"/>
            <a:ext cx="8458200" cy="4971691"/>
          </a:xfrm>
        </p:spPr>
        <p:txBody>
          <a:bodyPr/>
          <a:lstStyle/>
          <a:p>
            <a:r>
              <a:rPr lang="en-US" altLang="en-US" dirty="0"/>
              <a:t>Coating of molecules external to the cell wall, made of sugars and/or proteins</a:t>
            </a:r>
          </a:p>
          <a:p>
            <a:r>
              <a:rPr lang="en-US" altLang="en-US" dirty="0"/>
              <a:t>Two types:</a:t>
            </a:r>
          </a:p>
          <a:p>
            <a:pPr lvl="1"/>
            <a:r>
              <a:rPr lang="en-US" altLang="en-US" dirty="0"/>
              <a:t>(a) Slime layer - loosely organized and attached </a:t>
            </a:r>
            <a:r>
              <a:rPr lang="en-US" noProof="0" dirty="0"/>
              <a:t>on the outer surface of the cylindrical cell</a:t>
            </a:r>
            <a:endParaRPr lang="en-US" altLang="en-US" dirty="0"/>
          </a:p>
          <a:p>
            <a:pPr lvl="1"/>
            <a:r>
              <a:rPr lang="en-US" altLang="en-US" dirty="0"/>
              <a:t>(b) Capsule - highly organized, tightly attached </a:t>
            </a:r>
            <a:r>
              <a:rPr lang="en-US" noProof="0" dirty="0"/>
              <a:t>on the outer surface of the cylindrical cell. </a:t>
            </a:r>
            <a:endParaRPr lang="en-US" altLang="en-US" dirty="0"/>
          </a:p>
        </p:txBody>
      </p:sp>
      <p:pic>
        <p:nvPicPr>
          <p:cNvPr id="4" name="Picture 2" descr="This slime layer glycocalyx is a loose structure that can easily be washed off.&#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1722" y="4196730"/>
            <a:ext cx="6227448" cy="24370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29567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31"/>
          <p:cNvSpPr txBox="1">
            <a:spLocks noGrp="1"/>
          </p:cNvSpPr>
          <p:nvPr>
            <p:ph type="title"/>
          </p:nvPr>
        </p:nvSpPr>
        <p:spPr>
          <a:xfrm>
            <a:off x="154057" y="13459"/>
            <a:ext cx="8458200" cy="67861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2400"/>
              <a:buFont typeface="Arial"/>
              <a:buNone/>
            </a:pPr>
            <a:r>
              <a:rPr lang="en-US" noProof="0" dirty="0"/>
              <a:t>Functions of the Glycocalyx</a:t>
            </a:r>
            <a:r>
              <a:rPr lang="en-US" sz="1200" noProof="0" dirty="0"/>
              <a:t> 2</a:t>
            </a:r>
            <a:endParaRPr lang="en-US" noProof="0" dirty="0"/>
          </a:p>
        </p:txBody>
      </p:sp>
      <p:pic>
        <p:nvPicPr>
          <p:cNvPr id="366" name="Google Shape;366;p31" descr="A specimen and a micrograph depict the appearance of encapsulated bacteria."/>
          <p:cNvPicPr preferRelativeResize="0">
            <a:picLocks noGrp="1"/>
          </p:cNvPicPr>
          <p:nvPr>
            <p:ph type="body" idx="1"/>
          </p:nvPr>
        </p:nvPicPr>
        <p:blipFill rotWithShape="1">
          <a:blip r:embed="rId3">
            <a:alphaModFix/>
          </a:blip>
          <a:srcRect r="56457"/>
          <a:stretch/>
        </p:blipFill>
        <p:spPr>
          <a:xfrm>
            <a:off x="2239745" y="616225"/>
            <a:ext cx="4286824" cy="4273931"/>
          </a:xfrm>
          <a:prstGeom prst="rect">
            <a:avLst/>
          </a:prstGeom>
          <a:noFill/>
          <a:ln>
            <a:noFill/>
          </a:ln>
        </p:spPr>
      </p:pic>
      <p:sp>
        <p:nvSpPr>
          <p:cNvPr id="8" name="TextBox 7">
            <a:extLst>
              <a:ext uri="{FF2B5EF4-FFF2-40B4-BE49-F238E27FC236}">
                <a16:creationId xmlns:a16="http://schemas.microsoft.com/office/drawing/2014/main" id="{B1DA2817-D086-CCFE-52A5-35A5C31A17BC}"/>
              </a:ext>
            </a:extLst>
          </p:cNvPr>
          <p:cNvSpPr txBox="1"/>
          <p:nvPr/>
        </p:nvSpPr>
        <p:spPr>
          <a:xfrm>
            <a:off x="154057" y="5031257"/>
            <a:ext cx="8860734" cy="1569660"/>
          </a:xfrm>
          <a:prstGeom prst="rect">
            <a:avLst/>
          </a:prstGeom>
          <a:noFill/>
        </p:spPr>
        <p:txBody>
          <a:bodyPr wrap="square">
            <a:spAutoFit/>
          </a:bodyPr>
          <a:lstStyle/>
          <a:p>
            <a:pPr marL="0" lvl="0" indent="0"/>
            <a:r>
              <a:rPr lang="en-US" sz="2400" noProof="0" dirty="0"/>
              <a:t>Part A depicts the S</a:t>
            </a:r>
            <a:r>
              <a:rPr lang="en-US" sz="2400" i="1" noProof="0" dirty="0"/>
              <a:t>treptococcus mutans</a:t>
            </a:r>
            <a:r>
              <a:rPr lang="en-US" sz="2400" noProof="0" dirty="0"/>
              <a:t>, wherein the colonies without capsules are noted to be having striped patterns on one side, and on the other side, </a:t>
            </a:r>
            <a:r>
              <a:rPr lang="en-US" sz="2400" noProof="0" dirty="0">
                <a:solidFill>
                  <a:schemeClr val="accent1"/>
                </a:solidFill>
              </a:rPr>
              <a:t>the round-shaped pearl-like capsules</a:t>
            </a:r>
            <a:r>
              <a:rPr lang="en-US" sz="2400" noProof="0" dirty="0"/>
              <a:t> in the colonies are noted.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32"/>
          <p:cNvSpPr txBox="1">
            <a:spLocks noGrp="1"/>
          </p:cNvSpPr>
          <p:nvPr>
            <p:ph type="title"/>
          </p:nvPr>
        </p:nvSpPr>
        <p:spPr>
          <a:xfrm>
            <a:off x="80773" y="0"/>
            <a:ext cx="8458200" cy="67861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2400"/>
              <a:buFont typeface="Arial"/>
              <a:buNone/>
            </a:pPr>
            <a:r>
              <a:rPr lang="en-US" noProof="0" dirty="0"/>
              <a:t>Functions of the Glycocalyx</a:t>
            </a:r>
            <a:r>
              <a:rPr lang="en-US" sz="1200" noProof="0" dirty="0"/>
              <a:t> 3</a:t>
            </a:r>
            <a:endParaRPr lang="en-US" noProof="0" dirty="0"/>
          </a:p>
        </p:txBody>
      </p:sp>
      <p:pic>
        <p:nvPicPr>
          <p:cNvPr id="373" name="Google Shape;373;p32" descr="A micrograph shows growth of Streptococcus mutans: colony without a capsule and colonies with a capsule."/>
          <p:cNvPicPr preferRelativeResize="0">
            <a:picLocks noGrp="1"/>
          </p:cNvPicPr>
          <p:nvPr>
            <p:ph type="body" idx="1"/>
          </p:nvPr>
        </p:nvPicPr>
        <p:blipFill rotWithShape="1">
          <a:blip r:embed="rId3">
            <a:alphaModFix/>
          </a:blip>
          <a:srcRect l="45736" t="14049"/>
          <a:stretch/>
        </p:blipFill>
        <p:spPr>
          <a:xfrm>
            <a:off x="1255522" y="597495"/>
            <a:ext cx="6632955" cy="4539446"/>
          </a:xfrm>
          <a:prstGeom prst="rect">
            <a:avLst/>
          </a:prstGeom>
          <a:noFill/>
          <a:ln>
            <a:noFill/>
          </a:ln>
        </p:spPr>
      </p:pic>
      <p:sp>
        <p:nvSpPr>
          <p:cNvPr id="8" name="TextBox 7">
            <a:extLst>
              <a:ext uri="{FF2B5EF4-FFF2-40B4-BE49-F238E27FC236}">
                <a16:creationId xmlns:a16="http://schemas.microsoft.com/office/drawing/2014/main" id="{A543B4E4-525C-2D53-826B-3B716A422AC1}"/>
              </a:ext>
            </a:extLst>
          </p:cNvPr>
          <p:cNvSpPr txBox="1"/>
          <p:nvPr/>
        </p:nvSpPr>
        <p:spPr>
          <a:xfrm>
            <a:off x="259677" y="5155230"/>
            <a:ext cx="8884323" cy="830997"/>
          </a:xfrm>
          <a:prstGeom prst="rect">
            <a:avLst/>
          </a:prstGeom>
          <a:noFill/>
        </p:spPr>
        <p:txBody>
          <a:bodyPr wrap="square">
            <a:spAutoFit/>
          </a:bodyPr>
          <a:lstStyle/>
          <a:p>
            <a:pPr marL="0" lvl="0" indent="0"/>
            <a:r>
              <a:rPr lang="en-US" sz="2400" noProof="0" dirty="0"/>
              <a:t>Part B depicts the micrograph with circular-shaped cell bodies and the elongated capsules labeled at 1,000X magnification.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242" y="98322"/>
            <a:ext cx="8458200" cy="678611"/>
          </a:xfrm>
        </p:spPr>
        <p:txBody>
          <a:bodyPr/>
          <a:lstStyle/>
          <a:p>
            <a:r>
              <a:rPr lang="en-US" altLang="en-US" dirty="0"/>
              <a:t>Functions of the Glycocalyx</a:t>
            </a:r>
            <a:r>
              <a:rPr lang="en-US" altLang="en-US" sz="1200" dirty="0"/>
              <a:t> 1</a:t>
            </a:r>
            <a:endParaRPr lang="en-IN" sz="1200" dirty="0"/>
          </a:p>
        </p:txBody>
      </p:sp>
      <p:sp>
        <p:nvSpPr>
          <p:cNvPr id="3" name="Content Placeholder 2"/>
          <p:cNvSpPr>
            <a:spLocks noGrp="1"/>
          </p:cNvSpPr>
          <p:nvPr>
            <p:ph sz="quarter" idx="11"/>
          </p:nvPr>
        </p:nvSpPr>
        <p:spPr>
          <a:xfrm>
            <a:off x="264242" y="776933"/>
            <a:ext cx="8458200" cy="4971691"/>
          </a:xfrm>
        </p:spPr>
        <p:txBody>
          <a:bodyPr/>
          <a:lstStyle/>
          <a:p>
            <a:r>
              <a:rPr lang="en-US" altLang="en-US" dirty="0"/>
              <a:t>Protect cells from dehydration and nutrient loss</a:t>
            </a:r>
          </a:p>
          <a:p>
            <a:r>
              <a:rPr lang="en-US" altLang="en-US" dirty="0"/>
              <a:t>Inhibit killing by white blood cells by phagocytosis, contributing to pathogenicity </a:t>
            </a:r>
          </a:p>
          <a:p>
            <a:r>
              <a:rPr lang="en-US" altLang="en-US" dirty="0"/>
              <a:t>Attachment - formation of biofilms</a:t>
            </a:r>
          </a:p>
          <a:p>
            <a:r>
              <a:rPr lang="en-US" altLang="en-US" b="1" dirty="0">
                <a:solidFill>
                  <a:srgbClr val="FF0000"/>
                </a:solidFill>
              </a:rPr>
              <a:t>Biofilms</a:t>
            </a:r>
            <a:r>
              <a:rPr lang="en-US" altLang="en-US" dirty="0"/>
              <a:t> - </a:t>
            </a:r>
            <a:r>
              <a:rPr lang="en-US" dirty="0"/>
              <a:t>A complex aggregate of interacting microbial cells that adhere to each other and to surfaces by means of a polysaccharide matrix. </a:t>
            </a:r>
            <a:endParaRPr lang="en-IN" dirty="0"/>
          </a:p>
        </p:txBody>
      </p:sp>
      <p:pic>
        <p:nvPicPr>
          <p:cNvPr id="4" name="Picture 3"/>
          <p:cNvPicPr>
            <a:picLocks noChangeAspect="1"/>
          </p:cNvPicPr>
          <p:nvPr/>
        </p:nvPicPr>
        <p:blipFill>
          <a:blip r:embed="rId2"/>
          <a:stretch>
            <a:fillRect/>
          </a:stretch>
        </p:blipFill>
        <p:spPr>
          <a:xfrm>
            <a:off x="4493342" y="3698476"/>
            <a:ext cx="3685597" cy="2728759"/>
          </a:xfrm>
          <a:prstGeom prst="rect">
            <a:avLst/>
          </a:prstGeom>
        </p:spPr>
      </p:pic>
    </p:spTree>
    <p:extLst>
      <p:ext uri="{BB962C8B-B14F-4D97-AF65-F5344CB8AC3E}">
        <p14:creationId xmlns:p14="http://schemas.microsoft.com/office/powerpoint/2010/main" val="14411203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087" y="0"/>
            <a:ext cx="8458200" cy="678611"/>
          </a:xfrm>
        </p:spPr>
        <p:txBody>
          <a:bodyPr/>
          <a:lstStyle/>
          <a:p>
            <a:r>
              <a:rPr lang="en-US" altLang="en-US" dirty="0"/>
              <a:t>The Cell Envelope</a:t>
            </a:r>
            <a:endParaRPr lang="en-IN" dirty="0"/>
          </a:p>
        </p:txBody>
      </p:sp>
      <p:sp>
        <p:nvSpPr>
          <p:cNvPr id="3" name="Content Placeholder 2"/>
          <p:cNvSpPr>
            <a:spLocks noGrp="1"/>
          </p:cNvSpPr>
          <p:nvPr>
            <p:ph sz="quarter" idx="11"/>
          </p:nvPr>
        </p:nvSpPr>
        <p:spPr>
          <a:xfrm>
            <a:off x="333067" y="678611"/>
            <a:ext cx="8458200" cy="4971691"/>
          </a:xfrm>
        </p:spPr>
        <p:txBody>
          <a:bodyPr/>
          <a:lstStyle/>
          <a:p>
            <a:r>
              <a:rPr lang="en-US" altLang="en-US" dirty="0"/>
              <a:t>External covering outside the cytoplasm</a:t>
            </a:r>
          </a:p>
          <a:p>
            <a:r>
              <a:rPr lang="en-US" altLang="en-US" dirty="0"/>
              <a:t>Composed of two basic layers:</a:t>
            </a:r>
          </a:p>
          <a:p>
            <a:pPr lvl="1"/>
            <a:r>
              <a:rPr lang="en-US" altLang="en-US" dirty="0">
                <a:solidFill>
                  <a:srgbClr val="FF0000"/>
                </a:solidFill>
              </a:rPr>
              <a:t>Cell wall </a:t>
            </a:r>
            <a:r>
              <a:rPr lang="en-US" altLang="en-US" dirty="0"/>
              <a:t>and </a:t>
            </a:r>
            <a:r>
              <a:rPr lang="en-US" altLang="en-US" dirty="0">
                <a:solidFill>
                  <a:srgbClr val="FF0000"/>
                </a:solidFill>
              </a:rPr>
              <a:t>cell membrane</a:t>
            </a:r>
          </a:p>
          <a:p>
            <a:r>
              <a:rPr lang="en-US" altLang="en-US" dirty="0"/>
              <a:t>Maintains cell integrity</a:t>
            </a:r>
          </a:p>
          <a:p>
            <a:r>
              <a:rPr lang="en-US" altLang="en-US" dirty="0"/>
              <a:t>Two different groups of bacteria demonstrated by Gram stain:</a:t>
            </a:r>
          </a:p>
          <a:p>
            <a:pPr lvl="1"/>
            <a:r>
              <a:rPr lang="en-US" altLang="en-US" dirty="0">
                <a:solidFill>
                  <a:srgbClr val="FF0000"/>
                </a:solidFill>
              </a:rPr>
              <a:t>Gram-positive bacteria</a:t>
            </a:r>
            <a:r>
              <a:rPr lang="en-US" altLang="en-US" dirty="0"/>
              <a:t>: thick cell wall composed primarily of peptidoglycan and cell membrane</a:t>
            </a:r>
          </a:p>
          <a:p>
            <a:pPr lvl="1"/>
            <a:r>
              <a:rPr lang="en-US" altLang="en-US" dirty="0">
                <a:solidFill>
                  <a:srgbClr val="FF0000"/>
                </a:solidFill>
              </a:rPr>
              <a:t>Gram-negative bacteria</a:t>
            </a:r>
            <a:r>
              <a:rPr lang="en-US" altLang="en-US" dirty="0"/>
              <a:t>: outer cell membrane, thin peptidoglycan layer, and cell membrane</a:t>
            </a:r>
            <a:endParaRPr lang="en-IN" dirty="0"/>
          </a:p>
        </p:txBody>
      </p:sp>
    </p:spTree>
    <p:extLst>
      <p:ext uri="{BB962C8B-B14F-4D97-AF65-F5344CB8AC3E}">
        <p14:creationId xmlns:p14="http://schemas.microsoft.com/office/powerpoint/2010/main" val="29233680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Structure of Cell Walls</a:t>
            </a:r>
            <a:r>
              <a:rPr lang="en-US" altLang="en-US" sz="1200" dirty="0"/>
              <a:t> 1</a:t>
            </a:r>
            <a:endParaRPr lang="en-IN" sz="1200" dirty="0"/>
          </a:p>
        </p:txBody>
      </p:sp>
      <p:sp>
        <p:nvSpPr>
          <p:cNvPr id="3" name="Content Placeholder 2"/>
          <p:cNvSpPr>
            <a:spLocks noGrp="1"/>
          </p:cNvSpPr>
          <p:nvPr>
            <p:ph sz="quarter" idx="11"/>
          </p:nvPr>
        </p:nvSpPr>
        <p:spPr/>
        <p:txBody>
          <a:bodyPr/>
          <a:lstStyle/>
          <a:p>
            <a:r>
              <a:rPr lang="en-US" altLang="en-US" dirty="0"/>
              <a:t>Determines cell shape, prevents lysis due to changing osmotic pressures</a:t>
            </a:r>
          </a:p>
          <a:p>
            <a:r>
              <a:rPr lang="en-US" altLang="en-US" b="1" dirty="0">
                <a:solidFill>
                  <a:srgbClr val="FF0000"/>
                </a:solidFill>
              </a:rPr>
              <a:t>Peptidoglycan</a:t>
            </a:r>
            <a:r>
              <a:rPr lang="en-US" altLang="en-US" dirty="0"/>
              <a:t> is the primary component:</a:t>
            </a:r>
          </a:p>
          <a:p>
            <a:pPr lvl="1"/>
            <a:r>
              <a:rPr lang="en-US" altLang="en-US" dirty="0"/>
              <a:t>Unique macromolecule composed of a repeating framework of long </a:t>
            </a:r>
            <a:r>
              <a:rPr lang="en-US" altLang="en-US" dirty="0">
                <a:solidFill>
                  <a:srgbClr val="FF0000"/>
                </a:solidFill>
              </a:rPr>
              <a:t>glycan</a:t>
            </a:r>
            <a:r>
              <a:rPr lang="en-US" altLang="en-US" dirty="0"/>
              <a:t> (a polysaccharide) chains cross-linked by short peptide fragments</a:t>
            </a:r>
            <a:endParaRPr lang="en-IN" dirty="0"/>
          </a:p>
        </p:txBody>
      </p:sp>
    </p:spTree>
    <p:extLst>
      <p:ext uri="{BB962C8B-B14F-4D97-AF65-F5344CB8AC3E}">
        <p14:creationId xmlns:p14="http://schemas.microsoft.com/office/powerpoint/2010/main" val="31869234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423" y="0"/>
            <a:ext cx="8458200" cy="678611"/>
          </a:xfrm>
        </p:spPr>
        <p:txBody>
          <a:bodyPr/>
          <a:lstStyle/>
          <a:p>
            <a:r>
              <a:rPr lang="en-US" altLang="en-US" dirty="0"/>
              <a:t>Structure of Cell Walls</a:t>
            </a:r>
            <a:r>
              <a:rPr lang="en-US" altLang="en-US" sz="1200" dirty="0"/>
              <a:t> 2</a:t>
            </a:r>
            <a:endParaRPr lang="en-IN" dirty="0"/>
          </a:p>
        </p:txBody>
      </p:sp>
      <p:sp>
        <p:nvSpPr>
          <p:cNvPr id="3" name="Content Placeholder 2"/>
          <p:cNvSpPr>
            <a:spLocks noGrp="1"/>
          </p:cNvSpPr>
          <p:nvPr>
            <p:ph sz="quarter" idx="11"/>
          </p:nvPr>
        </p:nvSpPr>
        <p:spPr>
          <a:xfrm>
            <a:off x="1" y="570455"/>
            <a:ext cx="4895850" cy="4971691"/>
          </a:xfrm>
        </p:spPr>
        <p:txBody>
          <a:bodyPr/>
          <a:lstStyle/>
          <a:p>
            <a:r>
              <a:rPr lang="en-US" sz="2000" dirty="0"/>
              <a:t>The figure of the “Structure of Cell Walls.”</a:t>
            </a:r>
          </a:p>
          <a:p>
            <a:pPr marL="457200" indent="-457200">
              <a:buFont typeface="+mj-lt"/>
              <a:buAutoNum type="alphaLcParenR"/>
            </a:pPr>
            <a:r>
              <a:rPr lang="en-US" sz="2000" dirty="0"/>
              <a:t>The peptidoglycan of a cell wall is a huge, three-dimensional latticework that is actually one giant molecule to surround and support the cell.</a:t>
            </a:r>
          </a:p>
          <a:p>
            <a:pPr marL="457200" indent="-457200">
              <a:buFont typeface="+mj-lt"/>
              <a:buAutoNum type="alphaLcParenR"/>
            </a:pPr>
            <a:r>
              <a:rPr lang="en-US" sz="2000" dirty="0"/>
              <a:t>This shows the molecular pattern of peptidoglycan. It has alternating </a:t>
            </a:r>
            <a:r>
              <a:rPr lang="en-US" sz="2000" dirty="0" err="1">
                <a:solidFill>
                  <a:srgbClr val="FF0000"/>
                </a:solidFill>
              </a:rPr>
              <a:t>glycans</a:t>
            </a:r>
            <a:r>
              <a:rPr lang="en-US" sz="2000" dirty="0"/>
              <a:t> (</a:t>
            </a:r>
            <a:r>
              <a:rPr lang="en-US" sz="2000" dirty="0">
                <a:solidFill>
                  <a:srgbClr val="FF0000"/>
                </a:solidFill>
              </a:rPr>
              <a:t>NAG</a:t>
            </a:r>
            <a:r>
              <a:rPr lang="en-US" sz="2000" dirty="0"/>
              <a:t> and </a:t>
            </a:r>
            <a:r>
              <a:rPr lang="en-US" sz="2000" dirty="0">
                <a:solidFill>
                  <a:srgbClr val="FF0000"/>
                </a:solidFill>
              </a:rPr>
              <a:t>NAM</a:t>
            </a:r>
            <a:r>
              <a:rPr lang="en-US" sz="2000" dirty="0"/>
              <a:t>) bound together in long strands. The </a:t>
            </a:r>
            <a:r>
              <a:rPr lang="en-US" sz="2000" dirty="0">
                <a:solidFill>
                  <a:srgbClr val="FF0000"/>
                </a:solidFill>
              </a:rPr>
              <a:t>NAG</a:t>
            </a:r>
            <a:r>
              <a:rPr lang="en-US" sz="2000" dirty="0"/>
              <a:t> stands for </a:t>
            </a:r>
            <a:r>
              <a:rPr lang="en-US" sz="2000" dirty="0">
                <a:solidFill>
                  <a:srgbClr val="FF0000"/>
                </a:solidFill>
              </a:rPr>
              <a:t>N-acetyl glucosamine</a:t>
            </a:r>
            <a:r>
              <a:rPr lang="en-US" sz="2000" dirty="0"/>
              <a:t>, and the </a:t>
            </a:r>
            <a:r>
              <a:rPr lang="en-US" sz="2000" dirty="0">
                <a:solidFill>
                  <a:srgbClr val="FF0000"/>
                </a:solidFill>
              </a:rPr>
              <a:t>NAM</a:t>
            </a:r>
            <a:r>
              <a:rPr lang="en-US" sz="2000" dirty="0"/>
              <a:t> stands for </a:t>
            </a:r>
            <a:r>
              <a:rPr lang="en-US" sz="2000" dirty="0">
                <a:solidFill>
                  <a:srgbClr val="FF0000"/>
                </a:solidFill>
              </a:rPr>
              <a:t>N-acetyl </a:t>
            </a:r>
            <a:r>
              <a:rPr lang="en-US" sz="2000" dirty="0" err="1">
                <a:solidFill>
                  <a:srgbClr val="FF0000"/>
                </a:solidFill>
              </a:rPr>
              <a:t>muramic</a:t>
            </a:r>
            <a:r>
              <a:rPr lang="en-US" sz="2000" dirty="0">
                <a:solidFill>
                  <a:srgbClr val="FF0000"/>
                </a:solidFill>
              </a:rPr>
              <a:t> acid</a:t>
            </a:r>
            <a:r>
              <a:rPr lang="en-US" sz="2000" dirty="0"/>
              <a:t>.  </a:t>
            </a:r>
          </a:p>
          <a:p>
            <a:r>
              <a:rPr lang="en-US" sz="2000" dirty="0"/>
              <a:t>	Adjacent </a:t>
            </a:r>
            <a:r>
              <a:rPr lang="en-US" sz="2000" dirty="0" err="1"/>
              <a:t>muramic</a:t>
            </a:r>
            <a:r>
              <a:rPr lang="en-US" sz="2000" dirty="0"/>
              <a:t> acid molecules 	on parallel chains are bound by a 	cross-linkage of peptides (brown 	spheres).</a:t>
            </a:r>
          </a:p>
        </p:txBody>
      </p:sp>
      <p:pic>
        <p:nvPicPr>
          <p:cNvPr id="4" name="Picture 3"/>
          <p:cNvPicPr>
            <a:picLocks noChangeAspect="1"/>
          </p:cNvPicPr>
          <p:nvPr/>
        </p:nvPicPr>
        <p:blipFill>
          <a:blip r:embed="rId2"/>
          <a:stretch>
            <a:fillRect/>
          </a:stretch>
        </p:blipFill>
        <p:spPr>
          <a:xfrm>
            <a:off x="4895850" y="250814"/>
            <a:ext cx="4248150" cy="6210300"/>
          </a:xfrm>
          <a:prstGeom prst="rect">
            <a:avLst/>
          </a:prstGeom>
        </p:spPr>
      </p:pic>
    </p:spTree>
    <p:extLst>
      <p:ext uri="{BB962C8B-B14F-4D97-AF65-F5344CB8AC3E}">
        <p14:creationId xmlns:p14="http://schemas.microsoft.com/office/powerpoint/2010/main" val="8659773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920" y="0"/>
            <a:ext cx="8458200" cy="678611"/>
          </a:xfrm>
        </p:spPr>
        <p:txBody>
          <a:bodyPr/>
          <a:lstStyle/>
          <a:p>
            <a:r>
              <a:rPr lang="en-US" altLang="en-US" dirty="0"/>
              <a:t>Structure of Cell Walls</a:t>
            </a:r>
            <a:r>
              <a:rPr lang="en-US" altLang="en-US" sz="1200" dirty="0"/>
              <a:t> 3</a:t>
            </a:r>
            <a:endParaRPr lang="en-IN" dirty="0"/>
          </a:p>
        </p:txBody>
      </p:sp>
      <p:sp>
        <p:nvSpPr>
          <p:cNvPr id="3" name="Content Placeholder 2"/>
          <p:cNvSpPr>
            <a:spLocks noGrp="1"/>
          </p:cNvSpPr>
          <p:nvPr>
            <p:ph sz="quarter" idx="11"/>
          </p:nvPr>
        </p:nvSpPr>
        <p:spPr>
          <a:xfrm>
            <a:off x="97094" y="678611"/>
            <a:ext cx="4199603" cy="4971691"/>
          </a:xfrm>
        </p:spPr>
        <p:txBody>
          <a:bodyPr/>
          <a:lstStyle/>
          <a:p>
            <a:r>
              <a:rPr lang="en-US" sz="1800" dirty="0"/>
              <a:t>The figure of the “Structure of Cell Walls” continues on this slide.</a:t>
            </a:r>
          </a:p>
          <a:p>
            <a:pPr marL="457200" indent="-457200">
              <a:buFont typeface="+mj-lt"/>
              <a:buAutoNum type="alphaLcParenR" startAt="3"/>
            </a:pPr>
            <a:r>
              <a:rPr lang="en-US" dirty="0"/>
              <a:t>An enlarged view of the links between the NAM molecules. Tetrapeptide chains branching off the </a:t>
            </a:r>
            <a:r>
              <a:rPr lang="en-US" dirty="0" err="1"/>
              <a:t>muramic</a:t>
            </a:r>
            <a:r>
              <a:rPr lang="en-US" dirty="0"/>
              <a:t> acids connect by amino acid interbridges. </a:t>
            </a:r>
          </a:p>
          <a:p>
            <a:r>
              <a:rPr lang="en-US" dirty="0"/>
              <a:t>It is this linkage that provides </a:t>
            </a:r>
            <a:r>
              <a:rPr lang="en-US" dirty="0">
                <a:solidFill>
                  <a:srgbClr val="FF0000"/>
                </a:solidFill>
              </a:rPr>
              <a:t>rigid yet flexible support </a:t>
            </a:r>
            <a:r>
              <a:rPr lang="en-US" dirty="0"/>
              <a:t>to the cell.</a:t>
            </a:r>
            <a:endParaRPr lang="en-IN" dirty="0"/>
          </a:p>
        </p:txBody>
      </p:sp>
      <p:pic>
        <p:nvPicPr>
          <p:cNvPr id="5" name="Picture 4"/>
          <p:cNvPicPr>
            <a:picLocks noChangeAspect="1"/>
          </p:cNvPicPr>
          <p:nvPr/>
        </p:nvPicPr>
        <p:blipFill>
          <a:blip r:embed="rId2"/>
          <a:stretch>
            <a:fillRect/>
          </a:stretch>
        </p:blipFill>
        <p:spPr>
          <a:xfrm>
            <a:off x="4395020" y="1357625"/>
            <a:ext cx="4495641" cy="3613662"/>
          </a:xfrm>
          <a:prstGeom prst="rect">
            <a:avLst/>
          </a:prstGeom>
        </p:spPr>
      </p:pic>
    </p:spTree>
    <p:extLst>
      <p:ext uri="{BB962C8B-B14F-4D97-AF65-F5344CB8AC3E}">
        <p14:creationId xmlns:p14="http://schemas.microsoft.com/office/powerpoint/2010/main" val="42218707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Gram-Positive Cell Wall</a:t>
            </a:r>
            <a:r>
              <a:rPr lang="en-US" altLang="en-US" sz="1200" dirty="0"/>
              <a:t> 1</a:t>
            </a:r>
            <a:endParaRPr lang="en-IN" sz="1200" dirty="0"/>
          </a:p>
        </p:txBody>
      </p:sp>
      <p:sp>
        <p:nvSpPr>
          <p:cNvPr id="3" name="Content Placeholder 2"/>
          <p:cNvSpPr>
            <a:spLocks noGrp="1"/>
          </p:cNvSpPr>
          <p:nvPr>
            <p:ph sz="quarter" idx="11"/>
          </p:nvPr>
        </p:nvSpPr>
        <p:spPr/>
        <p:txBody>
          <a:bodyPr/>
          <a:lstStyle/>
          <a:p>
            <a:pPr marL="0" lvl="1" indent="0">
              <a:buNone/>
            </a:pPr>
            <a:r>
              <a:rPr lang="en-US" altLang="en-US" dirty="0"/>
              <a:t>20 to 80 nm </a:t>
            </a:r>
            <a:r>
              <a:rPr lang="en-US" altLang="en-US" dirty="0">
                <a:solidFill>
                  <a:srgbClr val="FF0000"/>
                </a:solidFill>
              </a:rPr>
              <a:t>thick</a:t>
            </a:r>
            <a:r>
              <a:rPr lang="en-US" altLang="en-US" dirty="0"/>
              <a:t> peptidoglycan</a:t>
            </a:r>
          </a:p>
          <a:p>
            <a:pPr marL="0" lvl="1" indent="0">
              <a:buNone/>
            </a:pPr>
            <a:r>
              <a:rPr lang="en-US" altLang="en-US" dirty="0"/>
              <a:t>Includes </a:t>
            </a:r>
            <a:r>
              <a:rPr lang="en-US" altLang="en-US" b="1" dirty="0"/>
              <a:t>teichoic acid </a:t>
            </a:r>
            <a:r>
              <a:rPr lang="en-US" altLang="en-US" dirty="0"/>
              <a:t>and </a:t>
            </a:r>
            <a:r>
              <a:rPr lang="en-US" altLang="en-US" b="1" dirty="0"/>
              <a:t>lipoteichoic acid</a:t>
            </a:r>
            <a:r>
              <a:rPr lang="en-US" altLang="en-US" dirty="0"/>
              <a:t>: </a:t>
            </a:r>
          </a:p>
          <a:p>
            <a:pPr marL="342900" lvl="1">
              <a:buFont typeface="Wingdings" panose="05000000000000000000" pitchFamily="2" charset="2"/>
              <a:buChar char="§"/>
            </a:pPr>
            <a:r>
              <a:rPr lang="en-US" altLang="en-US" dirty="0"/>
              <a:t>function in cell wall maintenance and enlargement during cell division; </a:t>
            </a:r>
          </a:p>
          <a:p>
            <a:pPr marL="342900" lvl="1">
              <a:buFont typeface="Wingdings" panose="05000000000000000000" pitchFamily="2" charset="2"/>
              <a:buChar char="§"/>
            </a:pPr>
            <a:r>
              <a:rPr lang="en-US" altLang="en-US" dirty="0"/>
              <a:t>move cations across the cell envelope; </a:t>
            </a:r>
          </a:p>
          <a:p>
            <a:pPr marL="342900" lvl="1">
              <a:buFont typeface="Wingdings" panose="05000000000000000000" pitchFamily="2" charset="2"/>
              <a:buChar char="§"/>
            </a:pPr>
            <a:r>
              <a:rPr lang="en-US" altLang="en-US" dirty="0"/>
              <a:t>stimulate a specific immune response</a:t>
            </a:r>
          </a:p>
          <a:p>
            <a:pPr marL="0" lvl="1" indent="0">
              <a:buNone/>
            </a:pPr>
            <a:endParaRPr lang="en-US" altLang="en-US" dirty="0"/>
          </a:p>
          <a:p>
            <a:pPr marL="0" lvl="1" indent="0">
              <a:buNone/>
            </a:pPr>
            <a:r>
              <a:rPr lang="en-US" altLang="en-US" dirty="0"/>
              <a:t>Some cells have a </a:t>
            </a:r>
            <a:r>
              <a:rPr lang="en-US" altLang="en-US" b="1" dirty="0"/>
              <a:t>periplasmic space</a:t>
            </a:r>
            <a:r>
              <a:rPr lang="en-US" altLang="en-US" dirty="0"/>
              <a:t>, between the cell membrane and cell wall</a:t>
            </a:r>
            <a:endParaRPr lang="en-IN" dirty="0"/>
          </a:p>
        </p:txBody>
      </p:sp>
    </p:spTree>
    <p:extLst>
      <p:ext uri="{BB962C8B-B14F-4D97-AF65-F5344CB8AC3E}">
        <p14:creationId xmlns:p14="http://schemas.microsoft.com/office/powerpoint/2010/main" val="36948491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431" y="285925"/>
            <a:ext cx="2380635" cy="678611"/>
          </a:xfrm>
        </p:spPr>
        <p:txBody>
          <a:bodyPr/>
          <a:lstStyle/>
          <a:p>
            <a:r>
              <a:rPr lang="en-US" altLang="en-US" dirty="0"/>
              <a:t>Gram-Positive Cell Wall</a:t>
            </a:r>
            <a:r>
              <a:rPr lang="en-US" altLang="en-US" sz="1200" dirty="0"/>
              <a:t> 2</a:t>
            </a:r>
            <a:endParaRPr lang="en-IN" sz="1200" dirty="0"/>
          </a:p>
        </p:txBody>
      </p:sp>
      <p:pic>
        <p:nvPicPr>
          <p:cNvPr id="6" name="Content Placeholder 5" descr="This is a comparative illustration of the detailed structure of gram-positive and gram-negative envelopes and walls. ">
            <a:extLst>
              <a:ext uri="{FF2B5EF4-FFF2-40B4-BE49-F238E27FC236}">
                <a16:creationId xmlns:a16="http://schemas.microsoft.com/office/drawing/2014/main" id="{7E9A07ED-6B73-4D17-8CE0-EFE7D72CE97F}"/>
              </a:ext>
            </a:extLst>
          </p:cNvPr>
          <p:cNvPicPr>
            <a:picLocks noGrp="1" noChangeAspect="1"/>
          </p:cNvPicPr>
          <p:nvPr>
            <p:ph sz="quarter" idx="14"/>
          </p:nvPr>
        </p:nvPicPr>
        <p:blipFill>
          <a:blip r:embed="rId2"/>
          <a:stretch>
            <a:fillRect/>
          </a:stretch>
        </p:blipFill>
        <p:spPr>
          <a:xfrm>
            <a:off x="2515066" y="0"/>
            <a:ext cx="6482679" cy="6682292"/>
          </a:xfrm>
        </p:spPr>
      </p:pic>
    </p:spTree>
    <p:extLst>
      <p:ext uri="{BB962C8B-B14F-4D97-AF65-F5344CB8AC3E}">
        <p14:creationId xmlns:p14="http://schemas.microsoft.com/office/powerpoint/2010/main" val="18455269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Gram-Negative Cell Wall</a:t>
            </a:r>
            <a:r>
              <a:rPr lang="en-US" altLang="en-US" sz="1200" dirty="0"/>
              <a:t> 1</a:t>
            </a:r>
            <a:endParaRPr lang="en-IN" sz="1200" dirty="0"/>
          </a:p>
        </p:txBody>
      </p:sp>
      <p:sp>
        <p:nvSpPr>
          <p:cNvPr id="3" name="Content Placeholder 2"/>
          <p:cNvSpPr>
            <a:spLocks noGrp="1"/>
          </p:cNvSpPr>
          <p:nvPr>
            <p:ph sz="quarter" idx="11"/>
          </p:nvPr>
        </p:nvSpPr>
        <p:spPr/>
        <p:txBody>
          <a:bodyPr/>
          <a:lstStyle/>
          <a:p>
            <a:pPr marL="0" lvl="1" indent="0">
              <a:buNone/>
            </a:pPr>
            <a:r>
              <a:rPr lang="en-US" altLang="en-US" sz="2600" dirty="0"/>
              <a:t>Inner and outer membranes and </a:t>
            </a:r>
            <a:r>
              <a:rPr lang="en-US" altLang="en-US" sz="2600" b="1" dirty="0"/>
              <a:t>periplasmic space </a:t>
            </a:r>
            <a:r>
              <a:rPr lang="en-US" altLang="en-US" sz="2600" dirty="0"/>
              <a:t>between them contains a </a:t>
            </a:r>
            <a:r>
              <a:rPr lang="en-US" altLang="en-US" sz="2600" dirty="0">
                <a:solidFill>
                  <a:srgbClr val="FF0000"/>
                </a:solidFill>
              </a:rPr>
              <a:t>thin peptidoglycan layer</a:t>
            </a:r>
          </a:p>
          <a:p>
            <a:pPr marL="0" lvl="1" indent="0">
              <a:buNone/>
            </a:pPr>
            <a:r>
              <a:rPr lang="en-US" altLang="en-US" sz="2600" dirty="0"/>
              <a:t>Outer membrane contains </a:t>
            </a:r>
            <a:r>
              <a:rPr lang="en-US" altLang="en-US" sz="2600" b="1" dirty="0"/>
              <a:t>lipopolysaccharides (LPS)</a:t>
            </a:r>
          </a:p>
          <a:p>
            <a:pPr lvl="1"/>
            <a:r>
              <a:rPr lang="en-US" altLang="en-US" dirty="0"/>
              <a:t>Lipid portion (endotoxin) may become toxic when released during infections</a:t>
            </a:r>
          </a:p>
          <a:p>
            <a:pPr lvl="1"/>
            <a:r>
              <a:rPr lang="en-US" altLang="en-US" dirty="0"/>
              <a:t>May function as receptors and blocking immune response</a:t>
            </a:r>
          </a:p>
          <a:p>
            <a:pPr lvl="1"/>
            <a:r>
              <a:rPr lang="en-US" altLang="en-US" dirty="0"/>
              <a:t>Contain </a:t>
            </a:r>
            <a:r>
              <a:rPr lang="en-US" altLang="en-US" b="1" dirty="0" err="1"/>
              <a:t>porin</a:t>
            </a:r>
            <a:r>
              <a:rPr lang="en-US" altLang="en-US" dirty="0"/>
              <a:t> proteins in upper layer – regulate molecules entering and leaving cell</a:t>
            </a:r>
            <a:endParaRPr lang="en-IN" dirty="0"/>
          </a:p>
        </p:txBody>
      </p:sp>
    </p:spTree>
    <p:extLst>
      <p:ext uri="{BB962C8B-B14F-4D97-AF65-F5344CB8AC3E}">
        <p14:creationId xmlns:p14="http://schemas.microsoft.com/office/powerpoint/2010/main" val="9517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42188"/>
            <a:ext cx="3502728" cy="678611"/>
          </a:xfrm>
        </p:spPr>
        <p:txBody>
          <a:bodyPr/>
          <a:lstStyle/>
          <a:p>
            <a:r>
              <a:rPr lang="en-US" altLang="en-US" dirty="0"/>
              <a:t>Gram-Negative Cell Wall</a:t>
            </a:r>
            <a:r>
              <a:rPr lang="en-US" altLang="en-US" sz="1200" dirty="0"/>
              <a:t> 2</a:t>
            </a:r>
            <a:endParaRPr lang="en-IN" dirty="0"/>
          </a:p>
        </p:txBody>
      </p:sp>
      <p:pic>
        <p:nvPicPr>
          <p:cNvPr id="5" name="Content Placeholder 4" descr="This is a comparative illustration of the detailed structure of gram-positive and gram-negative envelopes and walls. ">
            <a:extLst>
              <a:ext uri="{FF2B5EF4-FFF2-40B4-BE49-F238E27FC236}">
                <a16:creationId xmlns:a16="http://schemas.microsoft.com/office/drawing/2014/main" id="{8FA80866-C8F0-422C-96DC-A3D7B9DE1ED0}"/>
              </a:ext>
            </a:extLst>
          </p:cNvPr>
          <p:cNvPicPr>
            <a:picLocks noGrp="1" noChangeAspect="1"/>
          </p:cNvPicPr>
          <p:nvPr>
            <p:ph sz="quarter" idx="14"/>
          </p:nvPr>
        </p:nvPicPr>
        <p:blipFill>
          <a:blip r:embed="rId2"/>
          <a:stretch>
            <a:fillRect/>
          </a:stretch>
        </p:blipFill>
        <p:spPr>
          <a:xfrm>
            <a:off x="3001283" y="103189"/>
            <a:ext cx="6044394" cy="6669676"/>
          </a:xfrm>
        </p:spPr>
      </p:pic>
    </p:spTree>
    <p:extLst>
      <p:ext uri="{BB962C8B-B14F-4D97-AF65-F5344CB8AC3E}">
        <p14:creationId xmlns:p14="http://schemas.microsoft.com/office/powerpoint/2010/main" val="3821052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Structures of Gram-Positive and Gram-Negative Bacterial Cell Walls</a:t>
            </a:r>
            <a:endParaRPr lang="en-IN" dirty="0"/>
          </a:p>
        </p:txBody>
      </p:sp>
      <p:pic>
        <p:nvPicPr>
          <p:cNvPr id="21506" name="Picture 2" descr="This is a comparative illustration of the detailed structure of gram-positive and gram-negative envelopes and walls. &#10;"/>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171844" y="1150559"/>
            <a:ext cx="8800311" cy="4978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83602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TABLE 4.1 Comparison of Gram-Positive and Gram-Negative Cell Walls</a:t>
            </a:r>
            <a:endParaRPr lang="en-IN" dirty="0"/>
          </a:p>
        </p:txBody>
      </p:sp>
      <p:graphicFrame>
        <p:nvGraphicFramePr>
          <p:cNvPr id="10" name="Table 2"/>
          <p:cNvGraphicFramePr>
            <a:graphicFrameLocks noGrp="1"/>
          </p:cNvGraphicFramePr>
          <p:nvPr>
            <p:ph sz="quarter" idx="11"/>
            <p:extLst>
              <p:ext uri="{D42A27DB-BD31-4B8C-83A1-F6EECF244321}">
                <p14:modId xmlns:p14="http://schemas.microsoft.com/office/powerpoint/2010/main" val="1903003047"/>
              </p:ext>
            </p:extLst>
          </p:nvPr>
        </p:nvGraphicFramePr>
        <p:xfrm>
          <a:off x="459012" y="1365250"/>
          <a:ext cx="8305800" cy="3535680"/>
        </p:xfrm>
        <a:graphic>
          <a:graphicData uri="http://schemas.openxmlformats.org/drawingml/2006/table">
            <a:tbl>
              <a:tblPr firstRow="1" bandRow="1">
                <a:tableStyleId>{5C22544A-7EE6-4342-B048-85BDC9FD1C3A}</a:tableStyleId>
              </a:tblPr>
              <a:tblGrid>
                <a:gridCol w="27051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tblGrid>
              <a:tr h="370840">
                <a:tc>
                  <a:txBody>
                    <a:bodyPr/>
                    <a:lstStyle/>
                    <a:p>
                      <a:pPr algn="ctr"/>
                      <a:r>
                        <a:rPr lang="en-US" sz="1600" b="1" dirty="0">
                          <a:solidFill>
                            <a:schemeClr val="tx1"/>
                          </a:solidFill>
                          <a:latin typeface="+mn-lt"/>
                          <a:ea typeface="Verdana" panose="020B0604030504040204" pitchFamily="34" charset="0"/>
                          <a:cs typeface="Verdana" panose="020B0604030504040204" pitchFamily="34" charset="0"/>
                        </a:rPr>
                        <a:t>Characteristic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b="1" dirty="0">
                          <a:solidFill>
                            <a:schemeClr val="tx1"/>
                          </a:solidFill>
                          <a:latin typeface="+mn-lt"/>
                          <a:ea typeface="Verdana" panose="020B0604030504040204" pitchFamily="34" charset="0"/>
                          <a:cs typeface="Verdana" panose="020B0604030504040204" pitchFamily="34" charset="0"/>
                        </a:rPr>
                        <a:t>Gram-Positive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b="1" dirty="0">
                          <a:solidFill>
                            <a:schemeClr val="tx1"/>
                          </a:solidFill>
                          <a:latin typeface="+mn-lt"/>
                          <a:ea typeface="Verdana" panose="020B0604030504040204" pitchFamily="34" charset="0"/>
                          <a:cs typeface="Verdana" panose="020B0604030504040204" pitchFamily="34" charset="0"/>
                        </a:rPr>
                        <a:t>Gram-Negative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r>
                        <a:rPr lang="en-US" sz="1600" dirty="0">
                          <a:latin typeface="+mn-lt"/>
                          <a:ea typeface="Verdana" panose="020B0604030504040204" pitchFamily="34" charset="0"/>
                          <a:cs typeface="Verdana" panose="020B0604030504040204" pitchFamily="34" charset="0"/>
                        </a:rPr>
                        <a:t>Number</a:t>
                      </a:r>
                      <a:r>
                        <a:rPr lang="en-US" sz="1600" baseline="0" dirty="0">
                          <a:latin typeface="+mn-lt"/>
                          <a:ea typeface="Verdana" panose="020B0604030504040204" pitchFamily="34" charset="0"/>
                          <a:cs typeface="Verdana" panose="020B0604030504040204" pitchFamily="34" charset="0"/>
                        </a:rPr>
                        <a:t> of major layers</a:t>
                      </a:r>
                      <a:endParaRPr lang="en-US" sz="1600" dirty="0">
                        <a:latin typeface="+mn-lt"/>
                        <a:ea typeface="Verdana" panose="020B0604030504040204" pitchFamily="34" charset="0"/>
                        <a:cs typeface="Verdan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latin typeface="+mn-lt"/>
                          <a:ea typeface="Verdana" panose="020B0604030504040204" pitchFamily="34" charset="0"/>
                          <a:cs typeface="Verdana" panose="020B0604030504040204" pitchFamily="34" charset="0"/>
                        </a:rPr>
                        <a:t>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latin typeface="+mn-lt"/>
                          <a:ea typeface="Verdana" panose="020B0604030504040204" pitchFamily="34" charset="0"/>
                          <a:cs typeface="Verdana" panose="020B0604030504040204" pitchFamily="34" charset="0"/>
                        </a:rPr>
                        <a:t>Two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r>
                        <a:rPr lang="en-US" sz="1600" dirty="0">
                          <a:latin typeface="+mn-lt"/>
                          <a:ea typeface="Verdana" panose="020B0604030504040204" pitchFamily="34" charset="0"/>
                          <a:cs typeface="Verdana" panose="020B0604030504040204" pitchFamily="34" charset="0"/>
                        </a:rPr>
                        <a:t>Chemical composition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latin typeface="+mn-lt"/>
                          <a:ea typeface="Verdana" panose="020B0604030504040204" pitchFamily="34" charset="0"/>
                          <a:cs typeface="Verdana" panose="020B0604030504040204" pitchFamily="34" charset="0"/>
                        </a:rPr>
                        <a:t>Peptidoglycan</a:t>
                      </a:r>
                    </a:p>
                    <a:p>
                      <a:r>
                        <a:rPr lang="en-US" sz="1600" dirty="0" err="1">
                          <a:latin typeface="+mn-lt"/>
                          <a:ea typeface="Verdana" panose="020B0604030504040204" pitchFamily="34" charset="0"/>
                          <a:cs typeface="Verdana" panose="020B0604030504040204" pitchFamily="34" charset="0"/>
                        </a:rPr>
                        <a:t>Teichoic</a:t>
                      </a:r>
                      <a:r>
                        <a:rPr lang="en-US" sz="1600" dirty="0">
                          <a:latin typeface="+mn-lt"/>
                          <a:ea typeface="Verdana" panose="020B0604030504040204" pitchFamily="34" charset="0"/>
                          <a:cs typeface="Verdana" panose="020B0604030504040204" pitchFamily="34" charset="0"/>
                        </a:rPr>
                        <a:t> acid</a:t>
                      </a:r>
                    </a:p>
                    <a:p>
                      <a:r>
                        <a:rPr lang="en-US" sz="1600" dirty="0">
                          <a:latin typeface="+mn-lt"/>
                          <a:ea typeface="Verdana" panose="020B0604030504040204" pitchFamily="34" charset="0"/>
                          <a:cs typeface="Verdana" panose="020B0604030504040204" pitchFamily="34" charset="0"/>
                        </a:rPr>
                        <a:t>Lipoteichoic acid</a:t>
                      </a:r>
                    </a:p>
                    <a:p>
                      <a:r>
                        <a:rPr lang="en-US" sz="1600" dirty="0" err="1">
                          <a:latin typeface="+mn-lt"/>
                          <a:ea typeface="Verdana" panose="020B0604030504040204" pitchFamily="34" charset="0"/>
                          <a:cs typeface="Verdana" panose="020B0604030504040204" pitchFamily="34" charset="0"/>
                        </a:rPr>
                        <a:t>Mycolic</a:t>
                      </a:r>
                      <a:r>
                        <a:rPr lang="en-US" sz="1600" baseline="0" dirty="0">
                          <a:latin typeface="+mn-lt"/>
                          <a:ea typeface="Verdana" panose="020B0604030504040204" pitchFamily="34" charset="0"/>
                          <a:cs typeface="Verdana" panose="020B0604030504040204" pitchFamily="34" charset="0"/>
                        </a:rPr>
                        <a:t> acids and polysaccharides*</a:t>
                      </a:r>
                      <a:endParaRPr lang="en-US" sz="1600" dirty="0">
                        <a:latin typeface="+mn-lt"/>
                        <a:ea typeface="Verdana" panose="020B0604030504040204" pitchFamily="34" charset="0"/>
                        <a:cs typeface="Verdan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latin typeface="+mn-lt"/>
                          <a:ea typeface="Verdana" panose="020B0604030504040204" pitchFamily="34" charset="0"/>
                          <a:cs typeface="Verdana" panose="020B0604030504040204" pitchFamily="34" charset="0"/>
                        </a:rPr>
                        <a:t>Lipopolysaccharide (LPS)</a:t>
                      </a:r>
                    </a:p>
                    <a:p>
                      <a:r>
                        <a:rPr lang="en-US" sz="1600" dirty="0">
                          <a:latin typeface="+mn-lt"/>
                          <a:ea typeface="Verdana" panose="020B0604030504040204" pitchFamily="34" charset="0"/>
                          <a:cs typeface="Verdana" panose="020B0604030504040204" pitchFamily="34" charset="0"/>
                        </a:rPr>
                        <a:t>Lipoprotein</a:t>
                      </a:r>
                    </a:p>
                    <a:p>
                      <a:r>
                        <a:rPr lang="en-US" sz="1600" dirty="0">
                          <a:latin typeface="+mn-lt"/>
                          <a:ea typeface="Verdana" panose="020B0604030504040204" pitchFamily="34" charset="0"/>
                          <a:cs typeface="Verdana" panose="020B0604030504040204" pitchFamily="34" charset="0"/>
                        </a:rPr>
                        <a:t>Peptidoglycan</a:t>
                      </a:r>
                    </a:p>
                    <a:p>
                      <a:r>
                        <a:rPr lang="en-US" sz="1600" dirty="0" err="1">
                          <a:latin typeface="+mn-lt"/>
                          <a:ea typeface="Verdana" panose="020B0604030504040204" pitchFamily="34" charset="0"/>
                          <a:cs typeface="Verdana" panose="020B0604030504040204" pitchFamily="34" charset="0"/>
                        </a:rPr>
                        <a:t>Porin</a:t>
                      </a:r>
                      <a:r>
                        <a:rPr lang="en-US" sz="1600" dirty="0">
                          <a:latin typeface="+mn-lt"/>
                          <a:ea typeface="Verdana" panose="020B0604030504040204" pitchFamily="34" charset="0"/>
                          <a:cs typeface="Verdana" panose="020B0604030504040204" pitchFamily="34" charset="0"/>
                        </a:rPr>
                        <a:t> proteins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r>
                        <a:rPr lang="en-US" sz="1600" dirty="0">
                          <a:latin typeface="+mn-lt"/>
                          <a:ea typeface="Verdana" panose="020B0604030504040204" pitchFamily="34" charset="0"/>
                          <a:cs typeface="Verdana" panose="020B0604030504040204" pitchFamily="34" charset="0"/>
                        </a:rPr>
                        <a:t>Overall thickness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latin typeface="+mn-lt"/>
                          <a:ea typeface="Verdana" panose="020B0604030504040204" pitchFamily="34" charset="0"/>
                          <a:cs typeface="Verdana" panose="020B0604030504040204" pitchFamily="34" charset="0"/>
                        </a:rPr>
                        <a:t>Thicker (20-80 nm)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latin typeface="+mn-lt"/>
                          <a:ea typeface="Verdana" panose="020B0604030504040204" pitchFamily="34" charset="0"/>
                          <a:cs typeface="Verdana" panose="020B0604030504040204" pitchFamily="34" charset="0"/>
                        </a:rPr>
                        <a:t>Thinner (8-11 nm)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r>
                        <a:rPr lang="en-US" sz="1600" dirty="0">
                          <a:latin typeface="+mn-lt"/>
                          <a:ea typeface="Verdana" panose="020B0604030504040204" pitchFamily="34" charset="0"/>
                          <a:cs typeface="Verdana" panose="020B0604030504040204" pitchFamily="34" charset="0"/>
                        </a:rPr>
                        <a:t>Outer membrane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latin typeface="+mn-lt"/>
                          <a:ea typeface="Verdana" panose="020B0604030504040204" pitchFamily="34" charset="0"/>
                          <a:cs typeface="Verdana" panose="020B0604030504040204" pitchFamily="34" charset="0"/>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latin typeface="+mn-lt"/>
                          <a:ea typeface="Verdana" panose="020B0604030504040204" pitchFamily="34" charset="0"/>
                          <a:cs typeface="Verdana" panose="020B0604030504040204" pitchFamily="34" charset="0"/>
                        </a:rPr>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70840">
                <a:tc>
                  <a:txBody>
                    <a:bodyPr/>
                    <a:lstStyle/>
                    <a:p>
                      <a:r>
                        <a:rPr lang="en-US" sz="1600" dirty="0" err="1">
                          <a:latin typeface="+mn-lt"/>
                          <a:ea typeface="Verdana" panose="020B0604030504040204" pitchFamily="34" charset="0"/>
                          <a:cs typeface="Verdana" panose="020B0604030504040204" pitchFamily="34" charset="0"/>
                        </a:rPr>
                        <a:t>Periplasmic</a:t>
                      </a:r>
                      <a:r>
                        <a:rPr lang="en-US" sz="1600" dirty="0">
                          <a:latin typeface="+mn-lt"/>
                          <a:ea typeface="Verdana" panose="020B0604030504040204" pitchFamily="34" charset="0"/>
                          <a:cs typeface="Verdana" panose="020B0604030504040204" pitchFamily="34" charset="0"/>
                        </a:rPr>
                        <a:t> space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latin typeface="+mn-lt"/>
                          <a:ea typeface="Verdana" panose="020B0604030504040204" pitchFamily="34" charset="0"/>
                          <a:cs typeface="Verdana" panose="020B0604030504040204" pitchFamily="34" charset="0"/>
                        </a:rPr>
                        <a:t>Narrow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latin typeface="+mn-lt"/>
                          <a:ea typeface="Verdana" panose="020B0604030504040204" pitchFamily="34" charset="0"/>
                          <a:cs typeface="Verdana" panose="020B0604030504040204" pitchFamily="34" charset="0"/>
                        </a:rPr>
                        <a:t>Extensive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70840">
                <a:tc>
                  <a:txBody>
                    <a:bodyPr/>
                    <a:lstStyle/>
                    <a:p>
                      <a:r>
                        <a:rPr lang="en-US" sz="1600" dirty="0">
                          <a:latin typeface="+mn-lt"/>
                          <a:ea typeface="Verdana" panose="020B0604030504040204" pitchFamily="34" charset="0"/>
                          <a:cs typeface="Verdana" panose="020B0604030504040204" pitchFamily="34" charset="0"/>
                        </a:rPr>
                        <a:t>Permeability to molecules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latin typeface="+mn-lt"/>
                          <a:ea typeface="Verdana" panose="020B0604030504040204" pitchFamily="34" charset="0"/>
                          <a:cs typeface="Verdana" panose="020B0604030504040204" pitchFamily="34" charset="0"/>
                        </a:rPr>
                        <a:t>More penetrable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latin typeface="+mn-lt"/>
                          <a:ea typeface="Verdana" panose="020B0604030504040204" pitchFamily="34" charset="0"/>
                          <a:cs typeface="Verdana" panose="020B0604030504040204" pitchFamily="34" charset="0"/>
                        </a:rPr>
                        <a:t>Less penetrable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
        <p:nvSpPr>
          <p:cNvPr id="4" name="Content Placeholder 3"/>
          <p:cNvSpPr>
            <a:spLocks noGrp="1"/>
          </p:cNvSpPr>
          <p:nvPr>
            <p:ph sz="quarter" idx="14"/>
          </p:nvPr>
        </p:nvSpPr>
        <p:spPr>
          <a:xfrm>
            <a:off x="357414" y="5029206"/>
            <a:ext cx="8458200" cy="453571"/>
          </a:xfrm>
        </p:spPr>
        <p:txBody>
          <a:bodyPr/>
          <a:lstStyle/>
          <a:p>
            <a:r>
              <a:rPr lang="en-US" dirty="0"/>
              <a:t>*In some cells.</a:t>
            </a:r>
            <a:endParaRPr lang="en-IN" dirty="0"/>
          </a:p>
        </p:txBody>
      </p:sp>
    </p:spTree>
    <p:extLst>
      <p:ext uri="{BB962C8B-B14F-4D97-AF65-F5344CB8AC3E}">
        <p14:creationId xmlns:p14="http://schemas.microsoft.com/office/powerpoint/2010/main" val="7019905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080" y="0"/>
            <a:ext cx="8458200" cy="678611"/>
          </a:xfrm>
        </p:spPr>
        <p:txBody>
          <a:bodyPr/>
          <a:lstStyle/>
          <a:p>
            <a:r>
              <a:rPr lang="en-US" altLang="en-US" dirty="0">
                <a:solidFill>
                  <a:srgbClr val="FF0000"/>
                </a:solidFill>
              </a:rPr>
              <a:t>Cell Membrane </a:t>
            </a:r>
            <a:r>
              <a:rPr lang="en-US" altLang="en-US" dirty="0"/>
              <a:t>Structure</a:t>
            </a:r>
            <a:r>
              <a:rPr lang="en-US" altLang="en-US" sz="1200" dirty="0"/>
              <a:t> 1</a:t>
            </a:r>
            <a:endParaRPr lang="en-IN" sz="1200" dirty="0"/>
          </a:p>
        </p:txBody>
      </p:sp>
      <p:sp>
        <p:nvSpPr>
          <p:cNvPr id="3" name="Content Placeholder 2"/>
          <p:cNvSpPr>
            <a:spLocks noGrp="1"/>
          </p:cNvSpPr>
          <p:nvPr>
            <p:ph sz="quarter" idx="11"/>
          </p:nvPr>
        </p:nvSpPr>
        <p:spPr>
          <a:xfrm>
            <a:off x="106926" y="678611"/>
            <a:ext cx="4425745" cy="1081363"/>
          </a:xfrm>
        </p:spPr>
        <p:txBody>
          <a:bodyPr/>
          <a:lstStyle/>
          <a:p>
            <a:r>
              <a:rPr lang="en-US" altLang="en-US" dirty="0"/>
              <a:t>Phospholipid bilayer with embedded </a:t>
            </a:r>
            <a:r>
              <a:rPr lang="en-US" altLang="en-US" dirty="0">
                <a:solidFill>
                  <a:srgbClr val="FF0000"/>
                </a:solidFill>
              </a:rPr>
              <a:t>proteins–fluid mosaic model</a:t>
            </a:r>
          </a:p>
          <a:p>
            <a:r>
              <a:rPr lang="en-US" altLang="en-US" dirty="0"/>
              <a:t>Functions in:</a:t>
            </a:r>
          </a:p>
          <a:p>
            <a:pPr lvl="1"/>
            <a:r>
              <a:rPr lang="en-US" altLang="en-US" dirty="0"/>
              <a:t>Providing site for energy reactions, nutrient processing, and synthesis</a:t>
            </a:r>
          </a:p>
          <a:p>
            <a:pPr lvl="1"/>
            <a:r>
              <a:rPr lang="en-US" altLang="en-US" dirty="0"/>
              <a:t>Passage of nutrients into the cell and discharge of wastes</a:t>
            </a:r>
          </a:p>
          <a:p>
            <a:pPr lvl="1"/>
            <a:r>
              <a:rPr lang="en-US" altLang="en-US" dirty="0"/>
              <a:t>Cell membrane is selectively permeable</a:t>
            </a:r>
            <a:endParaRPr lang="en-IN" dirty="0"/>
          </a:p>
        </p:txBody>
      </p:sp>
      <p:pic>
        <p:nvPicPr>
          <p:cNvPr id="4" name="Picture 2" descr="Illustrated is the cell membrane structure.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1535" y="1740309"/>
            <a:ext cx="4492465" cy="2959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47666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Inside the Bacterial Cell</a:t>
            </a:r>
            <a:endParaRPr lang="en-IN" dirty="0"/>
          </a:p>
        </p:txBody>
      </p:sp>
      <p:sp>
        <p:nvSpPr>
          <p:cNvPr id="3" name="Content Placeholder 2"/>
          <p:cNvSpPr>
            <a:spLocks noGrp="1"/>
          </p:cNvSpPr>
          <p:nvPr>
            <p:ph sz="quarter" idx="11"/>
          </p:nvPr>
        </p:nvSpPr>
        <p:spPr/>
        <p:txBody>
          <a:bodyPr/>
          <a:lstStyle/>
          <a:p>
            <a:r>
              <a:rPr lang="en-US" altLang="en-US" dirty="0">
                <a:solidFill>
                  <a:srgbClr val="FF0000"/>
                </a:solidFill>
              </a:rPr>
              <a:t>Cell</a:t>
            </a:r>
            <a:r>
              <a:rPr lang="en-US" altLang="en-US" dirty="0"/>
              <a:t> </a:t>
            </a:r>
            <a:r>
              <a:rPr lang="en-US" altLang="en-US" dirty="0">
                <a:solidFill>
                  <a:srgbClr val="FF0000"/>
                </a:solidFill>
              </a:rPr>
              <a:t>cytoplasm</a:t>
            </a:r>
            <a:r>
              <a:rPr lang="en-US" altLang="en-US" dirty="0"/>
              <a:t>:</a:t>
            </a:r>
          </a:p>
          <a:p>
            <a:pPr lvl="1"/>
            <a:r>
              <a:rPr lang="en-US" altLang="en-US" dirty="0"/>
              <a:t>Dense gelatinous solution of sugars, amino acids, and salts</a:t>
            </a:r>
          </a:p>
          <a:p>
            <a:pPr lvl="1"/>
            <a:r>
              <a:rPr lang="en-US" altLang="en-US" dirty="0"/>
              <a:t>70 to 80% water </a:t>
            </a:r>
          </a:p>
          <a:p>
            <a:pPr lvl="2"/>
            <a:r>
              <a:rPr lang="en-US" altLang="en-US" dirty="0"/>
              <a:t>Serves as solvent for materials used in all cell function</a:t>
            </a:r>
            <a:endParaRPr lang="en-IN" dirty="0"/>
          </a:p>
        </p:txBody>
      </p:sp>
    </p:spTree>
    <p:extLst>
      <p:ext uri="{BB962C8B-B14F-4D97-AF65-F5344CB8AC3E}">
        <p14:creationId xmlns:p14="http://schemas.microsoft.com/office/powerpoint/2010/main" val="31489698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594" y="332795"/>
            <a:ext cx="8458200" cy="678611"/>
          </a:xfrm>
        </p:spPr>
        <p:txBody>
          <a:bodyPr/>
          <a:lstStyle/>
          <a:p>
            <a:r>
              <a:rPr lang="en-US" altLang="en-US" dirty="0"/>
              <a:t>Nucleoid</a:t>
            </a:r>
            <a:r>
              <a:rPr lang="en-US" altLang="en-US" sz="1200" dirty="0"/>
              <a:t> 1</a:t>
            </a:r>
            <a:endParaRPr lang="en-IN" sz="1200" dirty="0"/>
          </a:p>
        </p:txBody>
      </p:sp>
      <p:sp>
        <p:nvSpPr>
          <p:cNvPr id="3" name="Content Placeholder 2"/>
          <p:cNvSpPr>
            <a:spLocks noGrp="1"/>
          </p:cNvSpPr>
          <p:nvPr>
            <p:ph sz="quarter" idx="11"/>
          </p:nvPr>
        </p:nvSpPr>
        <p:spPr>
          <a:xfrm>
            <a:off x="0" y="1061884"/>
            <a:ext cx="5615448" cy="4971691"/>
          </a:xfrm>
        </p:spPr>
        <p:txBody>
          <a:bodyPr/>
          <a:lstStyle/>
          <a:p>
            <a:r>
              <a:rPr lang="en-US" altLang="en-US" b="1" dirty="0">
                <a:solidFill>
                  <a:srgbClr val="FF0000"/>
                </a:solidFill>
              </a:rPr>
              <a:t>Chromosome</a:t>
            </a:r>
          </a:p>
          <a:p>
            <a:pPr lvl="1"/>
            <a:r>
              <a:rPr lang="en-US" altLang="en-US" dirty="0"/>
              <a:t>Single, circular, double-stranded DNA molecule that contains all the genetic information required by a cell</a:t>
            </a:r>
          </a:p>
          <a:p>
            <a:r>
              <a:rPr lang="en-US" altLang="en-US" b="1" dirty="0">
                <a:solidFill>
                  <a:srgbClr val="FF0000"/>
                </a:solidFill>
              </a:rPr>
              <a:t>Plasmids</a:t>
            </a:r>
          </a:p>
          <a:p>
            <a:pPr lvl="1"/>
            <a:r>
              <a:rPr lang="en-US" altLang="en-US" dirty="0"/>
              <a:t>Free small circular, double-stranded DNA</a:t>
            </a:r>
          </a:p>
          <a:p>
            <a:pPr lvl="1"/>
            <a:r>
              <a:rPr lang="en-US" altLang="en-US" dirty="0"/>
              <a:t>Not essential to bacterial growth and metabolism</a:t>
            </a:r>
          </a:p>
          <a:p>
            <a:pPr lvl="1"/>
            <a:r>
              <a:rPr lang="en-US" altLang="en-US" dirty="0"/>
              <a:t>Used in genetic engineering - readily manipulated and transferred from cell to cell</a:t>
            </a:r>
            <a:endParaRPr lang="en-IN" dirty="0"/>
          </a:p>
        </p:txBody>
      </p:sp>
      <p:pic>
        <p:nvPicPr>
          <p:cNvPr id="4" name="Picture 2" descr="This is a micrograph of a stained bacterial cell’s chromosomes.  The stain highlights the chromosom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4124" y="200967"/>
            <a:ext cx="2771429" cy="231099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6688664" y="2568178"/>
            <a:ext cx="1082348" cy="369332"/>
          </a:xfrm>
          <a:prstGeom prst="rect">
            <a:avLst/>
          </a:prstGeom>
        </p:spPr>
        <p:txBody>
          <a:bodyPr wrap="none">
            <a:spAutoFit/>
          </a:bodyPr>
          <a:lstStyle/>
          <a:p>
            <a:r>
              <a:rPr lang="en-US" altLang="en-US" dirty="0"/>
              <a:t>Nucleoid</a:t>
            </a:r>
            <a:endParaRPr lang="en-US" dirty="0"/>
          </a:p>
        </p:txBody>
      </p:sp>
      <p:pic>
        <p:nvPicPr>
          <p:cNvPr id="2052" name="Picture 4" descr="Plasmids : essential tools for genetic engineering - e-Zyve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5799" y="3187882"/>
            <a:ext cx="3608201" cy="284569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6883029" y="6016141"/>
            <a:ext cx="1069524" cy="369332"/>
          </a:xfrm>
          <a:prstGeom prst="rect">
            <a:avLst/>
          </a:prstGeom>
        </p:spPr>
        <p:txBody>
          <a:bodyPr wrap="none">
            <a:spAutoFit/>
          </a:bodyPr>
          <a:lstStyle/>
          <a:p>
            <a:r>
              <a:rPr lang="en-US" altLang="en-US" b="1" dirty="0"/>
              <a:t>Plasmid</a:t>
            </a:r>
            <a:endParaRPr lang="en-US" dirty="0"/>
          </a:p>
        </p:txBody>
      </p:sp>
    </p:spTree>
    <p:extLst>
      <p:ext uri="{BB962C8B-B14F-4D97-AF65-F5344CB8AC3E}">
        <p14:creationId xmlns:p14="http://schemas.microsoft.com/office/powerpoint/2010/main" val="21633280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F010B-E3C8-F84F-412A-478F56A0BD98}"/>
              </a:ext>
            </a:extLst>
          </p:cNvPr>
          <p:cNvSpPr>
            <a:spLocks noGrp="1"/>
          </p:cNvSpPr>
          <p:nvPr>
            <p:ph type="title"/>
          </p:nvPr>
        </p:nvSpPr>
        <p:spPr>
          <a:xfrm>
            <a:off x="223631" y="76200"/>
            <a:ext cx="8458200" cy="678611"/>
          </a:xfrm>
        </p:spPr>
        <p:txBody>
          <a:bodyPr/>
          <a:lstStyle/>
          <a:p>
            <a:r>
              <a:rPr lang="en-US" dirty="0"/>
              <a:t>Bacterial chromosome and plasmids</a:t>
            </a:r>
          </a:p>
        </p:txBody>
      </p:sp>
      <p:pic>
        <p:nvPicPr>
          <p:cNvPr id="8" name="Picture 7">
            <a:extLst>
              <a:ext uri="{FF2B5EF4-FFF2-40B4-BE49-F238E27FC236}">
                <a16:creationId xmlns:a16="http://schemas.microsoft.com/office/drawing/2014/main" id="{66FBCD47-E017-0BFA-2DD5-70BA41AAE96A}"/>
              </a:ext>
            </a:extLst>
          </p:cNvPr>
          <p:cNvPicPr>
            <a:picLocks noChangeAspect="1"/>
          </p:cNvPicPr>
          <p:nvPr/>
        </p:nvPicPr>
        <p:blipFill>
          <a:blip r:embed="rId2"/>
          <a:stretch>
            <a:fillRect/>
          </a:stretch>
        </p:blipFill>
        <p:spPr>
          <a:xfrm>
            <a:off x="1238250" y="834324"/>
            <a:ext cx="6667500" cy="5381625"/>
          </a:xfrm>
          <a:prstGeom prst="rect">
            <a:avLst/>
          </a:prstGeom>
        </p:spPr>
      </p:pic>
    </p:spTree>
    <p:extLst>
      <p:ext uri="{BB962C8B-B14F-4D97-AF65-F5344CB8AC3E}">
        <p14:creationId xmlns:p14="http://schemas.microsoft.com/office/powerpoint/2010/main" val="17563756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3846"/>
            <a:ext cx="8458200" cy="678611"/>
          </a:xfrm>
        </p:spPr>
        <p:txBody>
          <a:bodyPr/>
          <a:lstStyle/>
          <a:p>
            <a:r>
              <a:rPr lang="en-US" altLang="en-US" dirty="0"/>
              <a:t>Bacterial Ribosome</a:t>
            </a:r>
            <a:r>
              <a:rPr lang="en-US" altLang="en-US" sz="1200" dirty="0"/>
              <a:t> 1</a:t>
            </a:r>
            <a:endParaRPr lang="en-IN" sz="1200" dirty="0"/>
          </a:p>
        </p:txBody>
      </p:sp>
      <p:sp>
        <p:nvSpPr>
          <p:cNvPr id="3" name="Content Placeholder 2"/>
          <p:cNvSpPr>
            <a:spLocks noGrp="1"/>
          </p:cNvSpPr>
          <p:nvPr>
            <p:ph sz="quarter" idx="11"/>
          </p:nvPr>
        </p:nvSpPr>
        <p:spPr>
          <a:xfrm>
            <a:off x="152798" y="536613"/>
            <a:ext cx="8458200" cy="3052161"/>
          </a:xfrm>
        </p:spPr>
        <p:txBody>
          <a:bodyPr/>
          <a:lstStyle/>
          <a:p>
            <a:r>
              <a:rPr lang="en-US" altLang="en-US" dirty="0">
                <a:solidFill>
                  <a:srgbClr val="FF0000"/>
                </a:solidFill>
              </a:rPr>
              <a:t>Ribosomes</a:t>
            </a:r>
          </a:p>
          <a:p>
            <a:pPr lvl="1"/>
            <a:r>
              <a:rPr lang="en-US" altLang="en-US" dirty="0"/>
              <a:t>Made of 60% ribosomal RNA and 40% protein</a:t>
            </a:r>
          </a:p>
          <a:p>
            <a:pPr lvl="1"/>
            <a:r>
              <a:rPr lang="en-US" altLang="en-US" dirty="0"/>
              <a:t>Consist of two subunits: large and small</a:t>
            </a:r>
          </a:p>
          <a:p>
            <a:pPr lvl="1"/>
            <a:r>
              <a:rPr lang="en-US" altLang="en-US" dirty="0"/>
              <a:t>Prokaryotic differ from eukaryotic ribosomes in size and number of proteins</a:t>
            </a:r>
          </a:p>
          <a:p>
            <a:pPr lvl="1"/>
            <a:r>
              <a:rPr lang="en-US" altLang="en-US" dirty="0"/>
              <a:t>Site of protein synthesis</a:t>
            </a:r>
          </a:p>
          <a:p>
            <a:pPr lvl="1"/>
            <a:r>
              <a:rPr lang="en-US" altLang="en-US" dirty="0"/>
              <a:t>Found in all cells</a:t>
            </a:r>
            <a:endParaRPr lang="en-IN" dirty="0"/>
          </a:p>
        </p:txBody>
      </p:sp>
      <p:pic>
        <p:nvPicPr>
          <p:cNvPr id="4" name="Picture 2" descr="This is a picture of a ribosome, showing its large and small subunits. "/>
          <p:cNvPicPr>
            <a:picLocks noChangeAspect="1" noChangeArrowheads="1"/>
          </p:cNvPicPr>
          <p:nvPr/>
        </p:nvPicPr>
        <p:blipFill rotWithShape="1">
          <a:blip r:embed="rId2">
            <a:extLst>
              <a:ext uri="{28A0092B-C50C-407E-A947-70E740481C1C}">
                <a14:useLocalDpi xmlns:a14="http://schemas.microsoft.com/office/drawing/2010/main" val="0"/>
              </a:ext>
            </a:extLst>
          </a:blip>
          <a:srcRect l="16978" r="17339" b="55311"/>
          <a:stretch/>
        </p:blipFill>
        <p:spPr bwMode="auto">
          <a:xfrm>
            <a:off x="152798" y="4166033"/>
            <a:ext cx="2813169" cy="1878209"/>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4"/>
          <p:cNvSpPr txBox="1">
            <a:spLocks/>
          </p:cNvSpPr>
          <p:nvPr/>
        </p:nvSpPr>
        <p:spPr>
          <a:xfrm>
            <a:off x="-194188" y="6201331"/>
            <a:ext cx="3975100" cy="538744"/>
          </a:xfrm>
          <a:prstGeom prst="rect">
            <a:avLst/>
          </a:prstGeo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640080"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914400" indent="-285750" algn="l" defTabSz="914400" rtl="0" eaLnBrk="1" latinLnBrk="0" hangingPunct="1">
              <a:lnSpc>
                <a:spcPct val="100000"/>
              </a:lnSpc>
              <a:spcBef>
                <a:spcPts val="800"/>
              </a:spcBef>
              <a:spcAft>
                <a:spcPts val="800"/>
              </a:spcAft>
              <a:buFont typeface="Arial" panose="020B0604020202020204" pitchFamily="34" charset="0"/>
              <a:buChar char="•"/>
              <a:defRPr sz="20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Ribosome (70S)</a:t>
            </a:r>
            <a:endParaRPr lang="en-IN" dirty="0"/>
          </a:p>
        </p:txBody>
      </p:sp>
      <p:pic>
        <p:nvPicPr>
          <p:cNvPr id="6" name="Picture 3" descr="This is a picture of a ribosome, showing its large and small subunits. "/>
          <p:cNvPicPr>
            <a:picLocks noChangeAspect="1" noChangeArrowheads="1"/>
          </p:cNvPicPr>
          <p:nvPr/>
        </p:nvPicPr>
        <p:blipFill rotWithShape="1">
          <a:blip r:embed="rId2">
            <a:extLst>
              <a:ext uri="{28A0092B-C50C-407E-A947-70E740481C1C}">
                <a14:useLocalDpi xmlns:a14="http://schemas.microsoft.com/office/drawing/2010/main" val="0"/>
              </a:ext>
            </a:extLst>
          </a:blip>
          <a:srcRect t="50000" r="46479" b="14292"/>
          <a:stretch/>
        </p:blipFill>
        <p:spPr bwMode="auto">
          <a:xfrm>
            <a:off x="3343134" y="4143056"/>
            <a:ext cx="2938691" cy="1923945"/>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5"/>
          <p:cNvSpPr txBox="1">
            <a:spLocks/>
          </p:cNvSpPr>
          <p:nvPr/>
        </p:nvSpPr>
        <p:spPr>
          <a:xfrm>
            <a:off x="3313880" y="6166061"/>
            <a:ext cx="2971800" cy="567654"/>
          </a:xfrm>
          <a:prstGeom prst="rect">
            <a:avLst/>
          </a:prstGeo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640080"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914400" indent="-285750" algn="l" defTabSz="914400" rtl="0" eaLnBrk="1" latinLnBrk="0" hangingPunct="1">
              <a:lnSpc>
                <a:spcPct val="100000"/>
              </a:lnSpc>
              <a:spcBef>
                <a:spcPts val="800"/>
              </a:spcBef>
              <a:spcAft>
                <a:spcPts val="800"/>
              </a:spcAft>
              <a:buFont typeface="Arial" panose="020B0604020202020204" pitchFamily="34" charset="0"/>
              <a:buChar char="•"/>
              <a:defRPr sz="20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Large subunit (50S)</a:t>
            </a:r>
            <a:endParaRPr lang="en-IN" dirty="0"/>
          </a:p>
        </p:txBody>
      </p:sp>
      <p:pic>
        <p:nvPicPr>
          <p:cNvPr id="8" name="Picture 6" descr="This is a picture of a ribosome, showing its large and small subunits. "/>
          <p:cNvPicPr>
            <a:picLocks noChangeAspect="1" noChangeArrowheads="1"/>
          </p:cNvPicPr>
          <p:nvPr/>
        </p:nvPicPr>
        <p:blipFill rotWithShape="1">
          <a:blip r:embed="rId2">
            <a:extLst>
              <a:ext uri="{28A0092B-C50C-407E-A947-70E740481C1C}">
                <a14:useLocalDpi xmlns:a14="http://schemas.microsoft.com/office/drawing/2010/main" val="0"/>
              </a:ext>
            </a:extLst>
          </a:blip>
          <a:srcRect l="50000" t="58367" b="20223"/>
          <a:stretch/>
        </p:blipFill>
        <p:spPr bwMode="auto">
          <a:xfrm>
            <a:off x="6025308" y="4713302"/>
            <a:ext cx="2953427" cy="1240972"/>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7"/>
          <p:cNvSpPr txBox="1">
            <a:spLocks/>
          </p:cNvSpPr>
          <p:nvPr/>
        </p:nvSpPr>
        <p:spPr>
          <a:xfrm>
            <a:off x="5690999" y="6148175"/>
            <a:ext cx="3722551" cy="469900"/>
          </a:xfrm>
          <a:prstGeom prst="rect">
            <a:avLst/>
          </a:prstGeo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640080"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914400" indent="-285750" algn="l" defTabSz="914400" rtl="0" eaLnBrk="1" latinLnBrk="0" hangingPunct="1">
              <a:lnSpc>
                <a:spcPct val="100000"/>
              </a:lnSpc>
              <a:spcBef>
                <a:spcPts val="800"/>
              </a:spcBef>
              <a:spcAft>
                <a:spcPts val="800"/>
              </a:spcAft>
              <a:buFont typeface="Arial" panose="020B0604020202020204" pitchFamily="34" charset="0"/>
              <a:buChar char="•"/>
              <a:defRPr sz="20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Small subunit (30S)</a:t>
            </a:r>
            <a:endParaRPr lang="en-IN" dirty="0"/>
          </a:p>
        </p:txBody>
      </p:sp>
    </p:spTree>
    <p:extLst>
      <p:ext uri="{BB962C8B-B14F-4D97-AF65-F5344CB8AC3E}">
        <p14:creationId xmlns:p14="http://schemas.microsoft.com/office/powerpoint/2010/main" val="37828676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55"/>
          <p:cNvSpPr txBox="1">
            <a:spLocks noGrp="1"/>
          </p:cNvSpPr>
          <p:nvPr>
            <p:ph type="title"/>
          </p:nvPr>
        </p:nvSpPr>
        <p:spPr>
          <a:xfrm>
            <a:off x="342900" y="304800"/>
            <a:ext cx="8458200" cy="67861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2400"/>
              <a:buFont typeface="Arial"/>
              <a:buNone/>
            </a:pPr>
            <a:r>
              <a:rPr lang="en-US" noProof="0" dirty="0"/>
              <a:t>Bacterial Internal Structures</a:t>
            </a:r>
            <a:r>
              <a:rPr lang="en-US" sz="1200" noProof="0" dirty="0"/>
              <a:t> 1</a:t>
            </a:r>
          </a:p>
        </p:txBody>
      </p:sp>
      <p:sp>
        <p:nvSpPr>
          <p:cNvPr id="524" name="Google Shape;524;p55"/>
          <p:cNvSpPr txBox="1">
            <a:spLocks noGrp="1"/>
          </p:cNvSpPr>
          <p:nvPr>
            <p:ph type="body" idx="1"/>
          </p:nvPr>
        </p:nvSpPr>
        <p:spPr>
          <a:xfrm>
            <a:off x="342900" y="1276709"/>
            <a:ext cx="8458200" cy="497169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2"/>
              </a:buClr>
              <a:buSzPts val="2400"/>
              <a:buNone/>
            </a:pPr>
            <a:r>
              <a:rPr lang="en-US" noProof="0" dirty="0"/>
              <a:t>Inclusions and granules</a:t>
            </a:r>
          </a:p>
          <a:p>
            <a:pPr marL="344488" lvl="1" indent="-342900" algn="l" rtl="0">
              <a:lnSpc>
                <a:spcPct val="100000"/>
              </a:lnSpc>
              <a:spcBef>
                <a:spcPts val="1600"/>
              </a:spcBef>
              <a:spcAft>
                <a:spcPts val="0"/>
              </a:spcAft>
              <a:buClr>
                <a:schemeClr val="dk2"/>
              </a:buClr>
              <a:buSzPts val="2400"/>
              <a:buChar char="•"/>
            </a:pPr>
            <a:r>
              <a:rPr lang="en-US" noProof="0" dirty="0"/>
              <a:t>Intracellular storage bodies</a:t>
            </a:r>
          </a:p>
          <a:p>
            <a:pPr marL="344488" lvl="1" indent="-342900" algn="l" rtl="0">
              <a:lnSpc>
                <a:spcPct val="100000"/>
              </a:lnSpc>
              <a:spcBef>
                <a:spcPts val="1600"/>
              </a:spcBef>
              <a:spcAft>
                <a:spcPts val="0"/>
              </a:spcAft>
              <a:buClr>
                <a:schemeClr val="dk2"/>
              </a:buClr>
              <a:buSzPts val="2400"/>
              <a:buChar char="•"/>
            </a:pPr>
            <a:r>
              <a:rPr lang="en-US" noProof="0" dirty="0"/>
              <a:t>Vary in size, number, and content</a:t>
            </a:r>
          </a:p>
          <a:p>
            <a:pPr marL="344488" lvl="1" indent="-342900" algn="l" rtl="0">
              <a:lnSpc>
                <a:spcPct val="100000"/>
              </a:lnSpc>
              <a:spcBef>
                <a:spcPts val="1600"/>
              </a:spcBef>
              <a:spcAft>
                <a:spcPts val="0"/>
              </a:spcAft>
              <a:buClr>
                <a:schemeClr val="dk2"/>
              </a:buClr>
              <a:buSzPts val="2400"/>
              <a:buChar char="•"/>
            </a:pPr>
            <a:r>
              <a:rPr lang="en-US" noProof="0" dirty="0"/>
              <a:t>Bacterial cell can use them when environmental sources are depleted</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56"/>
          <p:cNvSpPr txBox="1">
            <a:spLocks noGrp="1"/>
          </p:cNvSpPr>
          <p:nvPr>
            <p:ph type="title"/>
          </p:nvPr>
        </p:nvSpPr>
        <p:spPr>
          <a:xfrm>
            <a:off x="342900" y="304800"/>
            <a:ext cx="8458200" cy="67861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2400"/>
              <a:buFont typeface="Arial"/>
              <a:buNone/>
            </a:pPr>
            <a:r>
              <a:rPr lang="en-US" noProof="0" dirty="0"/>
              <a:t>Bacterial Internal Structures</a:t>
            </a:r>
            <a:r>
              <a:rPr lang="en-US" sz="1200" noProof="0" dirty="0"/>
              <a:t> 2</a:t>
            </a:r>
            <a:endParaRPr lang="en-US" noProof="0" dirty="0"/>
          </a:p>
        </p:txBody>
      </p:sp>
      <p:pic>
        <p:nvPicPr>
          <p:cNvPr id="530" name="Google Shape;530;p56" descr="A micrograph depicts a rod-shaped bacteria with polyhydroxybutyrate forming large dark-colored particles on the surface."/>
          <p:cNvPicPr preferRelativeResize="0">
            <a:picLocks noGrp="1"/>
          </p:cNvPicPr>
          <p:nvPr>
            <p:ph type="body" idx="1"/>
          </p:nvPr>
        </p:nvPicPr>
        <p:blipFill rotWithShape="1">
          <a:blip r:embed="rId3">
            <a:alphaModFix/>
          </a:blip>
          <a:srcRect/>
          <a:stretch/>
        </p:blipFill>
        <p:spPr>
          <a:xfrm>
            <a:off x="2085643" y="983411"/>
            <a:ext cx="4972714" cy="4557842"/>
          </a:xfrm>
          <a:prstGeom prst="rect">
            <a:avLst/>
          </a:prstGeom>
          <a:noFill/>
          <a:ln>
            <a:noFill/>
          </a:ln>
        </p:spPr>
      </p:pic>
      <p:sp>
        <p:nvSpPr>
          <p:cNvPr id="5" name="TextBox 4">
            <a:extLst>
              <a:ext uri="{FF2B5EF4-FFF2-40B4-BE49-F238E27FC236}">
                <a16:creationId xmlns:a16="http://schemas.microsoft.com/office/drawing/2014/main" id="{202E393B-F779-FAFC-BA8B-F76A3B7736A3}"/>
              </a:ext>
            </a:extLst>
          </p:cNvPr>
          <p:cNvSpPr txBox="1"/>
          <p:nvPr/>
        </p:nvSpPr>
        <p:spPr>
          <a:xfrm>
            <a:off x="183874" y="5435034"/>
            <a:ext cx="8776252" cy="1569660"/>
          </a:xfrm>
          <a:prstGeom prst="rect">
            <a:avLst/>
          </a:prstGeom>
          <a:noFill/>
        </p:spPr>
        <p:txBody>
          <a:bodyPr wrap="square">
            <a:spAutoFit/>
          </a:bodyPr>
          <a:lstStyle/>
          <a:p>
            <a:r>
              <a:rPr lang="en-US" sz="2400" dirty="0"/>
              <a:t>Large, dark particles of </a:t>
            </a:r>
            <a:r>
              <a:rPr lang="en-US" sz="2400" dirty="0" err="1"/>
              <a:t>polyhydroxybutyrate</a:t>
            </a:r>
            <a:r>
              <a:rPr lang="en-US" sz="2400" dirty="0"/>
              <a:t> are deposited in an insoluble, concentrated form that provides long term supply of that nutrient.</a:t>
            </a:r>
          </a:p>
          <a:p>
            <a:endParaRPr lang="en-US" sz="2400" dirty="0"/>
          </a:p>
        </p:txBody>
      </p:sp>
      <p:sp>
        <p:nvSpPr>
          <p:cNvPr id="7" name="TextBox 6">
            <a:extLst>
              <a:ext uri="{FF2B5EF4-FFF2-40B4-BE49-F238E27FC236}">
                <a16:creationId xmlns:a16="http://schemas.microsoft.com/office/drawing/2014/main" id="{FE4C2992-4F3B-0CD2-059A-055981215516}"/>
              </a:ext>
            </a:extLst>
          </p:cNvPr>
          <p:cNvSpPr txBox="1"/>
          <p:nvPr/>
        </p:nvSpPr>
        <p:spPr>
          <a:xfrm>
            <a:off x="4772357" y="1662022"/>
            <a:ext cx="4572000" cy="369332"/>
          </a:xfrm>
          <a:prstGeom prst="rect">
            <a:avLst/>
          </a:prstGeom>
          <a:noFill/>
        </p:spPr>
        <p:txBody>
          <a:bodyPr wrap="square">
            <a:spAutoFit/>
          </a:bodyPr>
          <a:lstStyle/>
          <a:p>
            <a:r>
              <a:rPr lang="en-US" sz="1800" dirty="0"/>
              <a:t>particles of </a:t>
            </a:r>
            <a:r>
              <a:rPr lang="en-US" sz="1800" dirty="0" err="1"/>
              <a:t>polyhydroxybutyrate</a:t>
            </a:r>
            <a:r>
              <a:rPr lang="en-US" sz="1800" dirty="0"/>
              <a:t> </a:t>
            </a:r>
            <a:endParaRPr lang="en-US" dirty="0"/>
          </a:p>
        </p:txBody>
      </p:sp>
      <p:cxnSp>
        <p:nvCxnSpPr>
          <p:cNvPr id="9" name="Straight Arrow Connector 8">
            <a:extLst>
              <a:ext uri="{FF2B5EF4-FFF2-40B4-BE49-F238E27FC236}">
                <a16:creationId xmlns:a16="http://schemas.microsoft.com/office/drawing/2014/main" id="{34988C1C-9E44-552A-0970-A297C1ED83D2}"/>
              </a:ext>
            </a:extLst>
          </p:cNvPr>
          <p:cNvCxnSpPr/>
          <p:nvPr/>
        </p:nvCxnSpPr>
        <p:spPr>
          <a:xfrm>
            <a:off x="3776870" y="1530465"/>
            <a:ext cx="964095" cy="25857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57"/>
          <p:cNvSpPr txBox="1">
            <a:spLocks noGrp="1"/>
          </p:cNvSpPr>
          <p:nvPr>
            <p:ph type="title"/>
          </p:nvPr>
        </p:nvSpPr>
        <p:spPr>
          <a:xfrm>
            <a:off x="0" y="-34506"/>
            <a:ext cx="8458200" cy="67861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2400"/>
              <a:buFont typeface="Arial"/>
              <a:buNone/>
            </a:pPr>
            <a:r>
              <a:rPr lang="en-US" noProof="0" dirty="0"/>
              <a:t>Bacterial Internal Structures</a:t>
            </a:r>
            <a:r>
              <a:rPr lang="en-US" sz="1200" noProof="0" dirty="0"/>
              <a:t> 3</a:t>
            </a:r>
            <a:endParaRPr lang="en-US" noProof="0" dirty="0"/>
          </a:p>
        </p:txBody>
      </p:sp>
      <p:pic>
        <p:nvPicPr>
          <p:cNvPr id="538" name="Google Shape;538;p57" descr="A micrograph of Aquaspirillum, an inverted U-shaped bacteria with a chain of tiny iron magnets labeled MP lined throughout the base."/>
          <p:cNvPicPr preferRelativeResize="0">
            <a:picLocks noGrp="1"/>
          </p:cNvPicPr>
          <p:nvPr>
            <p:ph type="body" idx="1"/>
          </p:nvPr>
        </p:nvPicPr>
        <p:blipFill rotWithShape="1">
          <a:blip r:embed="rId3">
            <a:alphaModFix/>
          </a:blip>
          <a:srcRect/>
          <a:stretch/>
        </p:blipFill>
        <p:spPr>
          <a:xfrm>
            <a:off x="640122" y="732313"/>
            <a:ext cx="7545702" cy="4473019"/>
          </a:xfrm>
          <a:prstGeom prst="rect">
            <a:avLst/>
          </a:prstGeom>
          <a:noFill/>
          <a:ln>
            <a:noFill/>
          </a:ln>
        </p:spPr>
      </p:pic>
      <p:sp>
        <p:nvSpPr>
          <p:cNvPr id="5" name="TextBox 4">
            <a:extLst>
              <a:ext uri="{FF2B5EF4-FFF2-40B4-BE49-F238E27FC236}">
                <a16:creationId xmlns:a16="http://schemas.microsoft.com/office/drawing/2014/main" id="{6FD06372-8313-7A3D-A76A-A5F6921C075E}"/>
              </a:ext>
            </a:extLst>
          </p:cNvPr>
          <p:cNvSpPr txBox="1"/>
          <p:nvPr/>
        </p:nvSpPr>
        <p:spPr>
          <a:xfrm>
            <a:off x="342900" y="5352871"/>
            <a:ext cx="8661952" cy="1200329"/>
          </a:xfrm>
          <a:prstGeom prst="rect">
            <a:avLst/>
          </a:prstGeom>
          <a:noFill/>
        </p:spPr>
        <p:txBody>
          <a:bodyPr wrap="square">
            <a:spAutoFit/>
          </a:bodyPr>
          <a:lstStyle/>
          <a:p>
            <a:r>
              <a:rPr lang="en-US" sz="2400" dirty="0"/>
              <a:t>A section through </a:t>
            </a:r>
            <a:r>
              <a:rPr lang="en-US" sz="2400" i="1" dirty="0" err="1"/>
              <a:t>Aquaspirillum</a:t>
            </a:r>
            <a:r>
              <a:rPr lang="en-US" sz="2400" dirty="0"/>
              <a:t> reveals a chain of tiny iron magnets (magnetosomes = MP).  These unusual bacteria use these inclusion to orient within their habitat.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423" y="0"/>
            <a:ext cx="8458200" cy="678611"/>
          </a:xfrm>
        </p:spPr>
        <p:txBody>
          <a:bodyPr/>
          <a:lstStyle/>
          <a:p>
            <a:r>
              <a:rPr lang="en-US" altLang="en-US" dirty="0"/>
              <a:t>Bacterial Internal Structures</a:t>
            </a:r>
            <a:r>
              <a:rPr lang="en-US" altLang="en-US" sz="1200" dirty="0"/>
              <a:t> 4</a:t>
            </a:r>
            <a:endParaRPr lang="en-IN" dirty="0"/>
          </a:p>
        </p:txBody>
      </p:sp>
      <p:sp>
        <p:nvSpPr>
          <p:cNvPr id="3" name="Content Placeholder 2"/>
          <p:cNvSpPr>
            <a:spLocks noGrp="1"/>
          </p:cNvSpPr>
          <p:nvPr>
            <p:ph sz="quarter" idx="11"/>
          </p:nvPr>
        </p:nvSpPr>
        <p:spPr>
          <a:xfrm>
            <a:off x="342900" y="678611"/>
            <a:ext cx="8458200" cy="4971691"/>
          </a:xfrm>
        </p:spPr>
        <p:txBody>
          <a:bodyPr/>
          <a:lstStyle/>
          <a:p>
            <a:r>
              <a:rPr lang="en-US" altLang="en-US" dirty="0">
                <a:solidFill>
                  <a:srgbClr val="FF0000"/>
                </a:solidFill>
              </a:rPr>
              <a:t>Cytoskeleton</a:t>
            </a:r>
            <a:r>
              <a:rPr lang="en-US" altLang="en-US" dirty="0"/>
              <a:t> </a:t>
            </a:r>
          </a:p>
          <a:p>
            <a:pPr lvl="1"/>
            <a:r>
              <a:rPr lang="en-US" altLang="en-US" dirty="0"/>
              <a:t>Many bacteria possess an internal network of protein polymers that is closely associated with the cell wall</a:t>
            </a:r>
            <a:endParaRPr lang="en-IN" dirty="0"/>
          </a:p>
        </p:txBody>
      </p:sp>
      <p:pic>
        <p:nvPicPr>
          <p:cNvPr id="4" name="Picture 2" descr="This is a fluorescent stain of the bacterial cytoskeleton of Bacillus, showing its actin filaments.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8645" y="2230328"/>
            <a:ext cx="3954431" cy="38470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37536" y="3075490"/>
            <a:ext cx="3701845" cy="1938992"/>
          </a:xfrm>
          <a:prstGeom prst="rect">
            <a:avLst/>
          </a:prstGeom>
        </p:spPr>
        <p:txBody>
          <a:bodyPr wrap="square">
            <a:spAutoFit/>
          </a:bodyPr>
          <a:lstStyle/>
          <a:p>
            <a:pPr marL="342900" indent="-342900">
              <a:buFont typeface="Arial" panose="020B0604020202020204" pitchFamily="34" charset="0"/>
              <a:buChar char="•"/>
            </a:pPr>
            <a:r>
              <a:rPr lang="en-US" sz="2400" dirty="0"/>
              <a:t>Plays crucial roles in defining cell shape, aides in cell division, motility and partitioning of cellular structures.</a:t>
            </a:r>
          </a:p>
        </p:txBody>
      </p:sp>
    </p:spTree>
    <p:extLst>
      <p:ext uri="{BB962C8B-B14F-4D97-AF65-F5344CB8AC3E}">
        <p14:creationId xmlns:p14="http://schemas.microsoft.com/office/powerpoint/2010/main" val="22032557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Bacterial Internal Structures</a:t>
            </a:r>
            <a:r>
              <a:rPr lang="en-US" altLang="en-US" sz="1200" dirty="0"/>
              <a:t> 6</a:t>
            </a:r>
            <a:endParaRPr lang="en-IN" dirty="0"/>
          </a:p>
        </p:txBody>
      </p:sp>
      <p:sp>
        <p:nvSpPr>
          <p:cNvPr id="3" name="Content Placeholder 2"/>
          <p:cNvSpPr>
            <a:spLocks noGrp="1"/>
          </p:cNvSpPr>
          <p:nvPr>
            <p:ph sz="quarter" idx="11"/>
          </p:nvPr>
        </p:nvSpPr>
        <p:spPr>
          <a:xfrm>
            <a:off x="342900" y="943154"/>
            <a:ext cx="4547152" cy="4971691"/>
          </a:xfrm>
        </p:spPr>
        <p:txBody>
          <a:bodyPr/>
          <a:lstStyle/>
          <a:p>
            <a:r>
              <a:rPr lang="en-US" altLang="en-US" dirty="0">
                <a:solidFill>
                  <a:srgbClr val="FF0000"/>
                </a:solidFill>
              </a:rPr>
              <a:t>Endospores</a:t>
            </a:r>
          </a:p>
          <a:p>
            <a:pPr lvl="1"/>
            <a:r>
              <a:rPr lang="en-US" altLang="en-US" dirty="0"/>
              <a:t>Inert, resting, cells produced by some bacteria: Clostridium, Bacillus, and </a:t>
            </a:r>
            <a:r>
              <a:rPr lang="en-US" altLang="en-US" dirty="0" err="1"/>
              <a:t>Sporosarcina</a:t>
            </a:r>
            <a:endParaRPr lang="en-US" altLang="en-US" dirty="0"/>
          </a:p>
          <a:p>
            <a:pPr lvl="2"/>
            <a:r>
              <a:rPr lang="en-US" altLang="en-US" dirty="0"/>
              <a:t>Have a 2-phase life cycle:</a:t>
            </a:r>
          </a:p>
          <a:p>
            <a:pPr lvl="3"/>
            <a:r>
              <a:rPr lang="en-US" altLang="en-US" dirty="0"/>
              <a:t>Vegetative cell – metabolically active and growing</a:t>
            </a:r>
          </a:p>
          <a:p>
            <a:pPr lvl="3"/>
            <a:r>
              <a:rPr lang="en-US" altLang="en-US" dirty="0"/>
              <a:t>Endospore – when exposed to adverse environmental conditions; capable of high resistance and very long-term survival</a:t>
            </a:r>
            <a:endParaRPr lang="en-IN" dirty="0"/>
          </a:p>
        </p:txBody>
      </p:sp>
      <p:pic>
        <p:nvPicPr>
          <p:cNvPr id="5" name="Picture 4">
            <a:extLst>
              <a:ext uri="{FF2B5EF4-FFF2-40B4-BE49-F238E27FC236}">
                <a16:creationId xmlns:a16="http://schemas.microsoft.com/office/drawing/2014/main" id="{0809BA73-DBE4-1576-7FFC-B8F3D96FD7C6}"/>
              </a:ext>
            </a:extLst>
          </p:cNvPr>
          <p:cNvPicPr>
            <a:picLocks noChangeAspect="1"/>
          </p:cNvPicPr>
          <p:nvPr/>
        </p:nvPicPr>
        <p:blipFill>
          <a:blip r:embed="rId2"/>
          <a:stretch>
            <a:fillRect/>
          </a:stretch>
        </p:blipFill>
        <p:spPr>
          <a:xfrm>
            <a:off x="5326960" y="206030"/>
            <a:ext cx="3037232" cy="2220618"/>
          </a:xfrm>
          <a:prstGeom prst="rect">
            <a:avLst/>
          </a:prstGeom>
        </p:spPr>
      </p:pic>
      <p:pic>
        <p:nvPicPr>
          <p:cNvPr id="8" name="Picture 7">
            <a:extLst>
              <a:ext uri="{FF2B5EF4-FFF2-40B4-BE49-F238E27FC236}">
                <a16:creationId xmlns:a16="http://schemas.microsoft.com/office/drawing/2014/main" id="{8CE47199-B2D5-FBDD-318F-E3A85C6A215B}"/>
              </a:ext>
            </a:extLst>
          </p:cNvPr>
          <p:cNvPicPr>
            <a:picLocks noChangeAspect="1"/>
          </p:cNvPicPr>
          <p:nvPr/>
        </p:nvPicPr>
        <p:blipFill>
          <a:blip r:embed="rId3"/>
          <a:stretch>
            <a:fillRect/>
          </a:stretch>
        </p:blipFill>
        <p:spPr>
          <a:xfrm>
            <a:off x="5326960" y="3015904"/>
            <a:ext cx="3648075" cy="1343025"/>
          </a:xfrm>
          <a:prstGeom prst="rect">
            <a:avLst/>
          </a:prstGeom>
        </p:spPr>
      </p:pic>
      <p:cxnSp>
        <p:nvCxnSpPr>
          <p:cNvPr id="10" name="Straight Arrow Connector 9">
            <a:extLst>
              <a:ext uri="{FF2B5EF4-FFF2-40B4-BE49-F238E27FC236}">
                <a16:creationId xmlns:a16="http://schemas.microsoft.com/office/drawing/2014/main" id="{D4CF61B5-6D1D-81FA-B1FC-3BF12B15A708}"/>
              </a:ext>
            </a:extLst>
          </p:cNvPr>
          <p:cNvCxnSpPr>
            <a:cxnSpLocks/>
          </p:cNvCxnSpPr>
          <p:nvPr/>
        </p:nvCxnSpPr>
        <p:spPr>
          <a:xfrm flipH="1" flipV="1">
            <a:off x="6062870" y="3866942"/>
            <a:ext cx="248478" cy="113637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FED716A-92BC-F01E-CDDB-62AD6C92A010}"/>
              </a:ext>
            </a:extLst>
          </p:cNvPr>
          <p:cNvCxnSpPr>
            <a:cxnSpLocks/>
          </p:cNvCxnSpPr>
          <p:nvPr/>
        </p:nvCxnSpPr>
        <p:spPr>
          <a:xfrm flipV="1">
            <a:off x="6394175" y="3866942"/>
            <a:ext cx="1199321" cy="113637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2CBC0A7-1969-56FC-5FEE-0E4D7242DF31}"/>
              </a:ext>
            </a:extLst>
          </p:cNvPr>
          <p:cNvSpPr txBox="1"/>
          <p:nvPr/>
        </p:nvSpPr>
        <p:spPr>
          <a:xfrm>
            <a:off x="5714999" y="5025301"/>
            <a:ext cx="1570383" cy="369332"/>
          </a:xfrm>
          <a:prstGeom prst="rect">
            <a:avLst/>
          </a:prstGeom>
          <a:noFill/>
        </p:spPr>
        <p:txBody>
          <a:bodyPr wrap="square">
            <a:spAutoFit/>
          </a:bodyPr>
          <a:lstStyle/>
          <a:p>
            <a:r>
              <a:rPr lang="en-US" altLang="en-US" dirty="0">
                <a:solidFill>
                  <a:srgbClr val="FF0000"/>
                </a:solidFill>
              </a:rPr>
              <a:t>Endospores</a:t>
            </a:r>
          </a:p>
        </p:txBody>
      </p:sp>
    </p:spTree>
    <p:extLst>
      <p:ext uri="{BB962C8B-B14F-4D97-AF65-F5344CB8AC3E}">
        <p14:creationId xmlns:p14="http://schemas.microsoft.com/office/powerpoint/2010/main" val="34543076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Bacterial Internal Structures</a:t>
            </a:r>
            <a:r>
              <a:rPr lang="en-US" altLang="en-US" sz="1200" dirty="0"/>
              <a:t> 7</a:t>
            </a:r>
            <a:endParaRPr lang="en-IN" dirty="0"/>
          </a:p>
        </p:txBody>
      </p:sp>
      <p:sp>
        <p:nvSpPr>
          <p:cNvPr id="3" name="Content Placeholder 2"/>
          <p:cNvSpPr>
            <a:spLocks noGrp="1"/>
          </p:cNvSpPr>
          <p:nvPr>
            <p:ph sz="quarter" idx="11"/>
          </p:nvPr>
        </p:nvSpPr>
        <p:spPr>
          <a:xfrm>
            <a:off x="342900" y="983411"/>
            <a:ext cx="8458200" cy="4971691"/>
          </a:xfrm>
        </p:spPr>
        <p:txBody>
          <a:bodyPr/>
          <a:lstStyle/>
          <a:p>
            <a:pPr marL="1588" lvl="1" indent="0">
              <a:buNone/>
            </a:pPr>
            <a:r>
              <a:rPr lang="en-US" altLang="en-US" dirty="0">
                <a:solidFill>
                  <a:srgbClr val="FF0000"/>
                </a:solidFill>
              </a:rPr>
              <a:t>Sporulation</a:t>
            </a:r>
            <a:r>
              <a:rPr lang="en-US" altLang="en-US" dirty="0"/>
              <a:t> - formation of endospores </a:t>
            </a:r>
          </a:p>
          <a:p>
            <a:pPr lvl="2"/>
            <a:r>
              <a:rPr lang="en-US" altLang="en-US" dirty="0"/>
              <a:t>Hardiest of all life forms</a:t>
            </a:r>
          </a:p>
          <a:p>
            <a:pPr lvl="2"/>
            <a:r>
              <a:rPr lang="en-US" altLang="en-US" dirty="0"/>
              <a:t>Withstands extremes in heat, drying, freezing, radiation, and chemicals </a:t>
            </a:r>
          </a:p>
          <a:p>
            <a:pPr lvl="2"/>
            <a:r>
              <a:rPr lang="en-US" altLang="en-US" dirty="0"/>
              <a:t>Not a means of reproduction</a:t>
            </a:r>
          </a:p>
          <a:p>
            <a:pPr marL="1588" lvl="1" indent="0">
              <a:buNone/>
            </a:pPr>
            <a:r>
              <a:rPr lang="en-US" altLang="en-US" dirty="0">
                <a:solidFill>
                  <a:srgbClr val="FF0000"/>
                </a:solidFill>
              </a:rPr>
              <a:t>Germination</a:t>
            </a:r>
            <a:r>
              <a:rPr lang="en-US" altLang="en-US" dirty="0"/>
              <a:t> - return to vegetative growth</a:t>
            </a:r>
            <a:endParaRPr lang="en-IN" dirty="0"/>
          </a:p>
        </p:txBody>
      </p:sp>
    </p:spTree>
    <p:extLst>
      <p:ext uri="{BB962C8B-B14F-4D97-AF65-F5344CB8AC3E}">
        <p14:creationId xmlns:p14="http://schemas.microsoft.com/office/powerpoint/2010/main" val="11118328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691" y="16564"/>
            <a:ext cx="8458200" cy="678611"/>
          </a:xfrm>
        </p:spPr>
        <p:txBody>
          <a:bodyPr/>
          <a:lstStyle/>
          <a:p>
            <a:r>
              <a:rPr lang="en-US" altLang="en-US" dirty="0"/>
              <a:t>Endospores</a:t>
            </a:r>
            <a:endParaRPr lang="en-IN" dirty="0"/>
          </a:p>
        </p:txBody>
      </p:sp>
      <p:sp>
        <p:nvSpPr>
          <p:cNvPr id="3" name="Content Placeholder 2"/>
          <p:cNvSpPr>
            <a:spLocks noGrp="1"/>
          </p:cNvSpPr>
          <p:nvPr>
            <p:ph sz="quarter" idx="11"/>
          </p:nvPr>
        </p:nvSpPr>
        <p:spPr>
          <a:xfrm>
            <a:off x="213691" y="605223"/>
            <a:ext cx="8458200" cy="4971691"/>
          </a:xfrm>
        </p:spPr>
        <p:txBody>
          <a:bodyPr/>
          <a:lstStyle/>
          <a:p>
            <a:r>
              <a:rPr lang="en-US" dirty="0"/>
              <a:t>Dehydrated, metabolically inactive</a:t>
            </a:r>
          </a:p>
          <a:p>
            <a:r>
              <a:rPr lang="en-US" dirty="0"/>
              <a:t>Thick coat</a:t>
            </a:r>
          </a:p>
          <a:p>
            <a:r>
              <a:rPr lang="en-US" dirty="0"/>
              <a:t>Longevity verges on immortality, 250 million years</a:t>
            </a:r>
          </a:p>
          <a:p>
            <a:r>
              <a:rPr lang="en-US" dirty="0"/>
              <a:t>Resistant to ordinary cleaning methods and boiling</a:t>
            </a:r>
          </a:p>
          <a:p>
            <a:r>
              <a:rPr lang="en-US" dirty="0"/>
              <a:t>Pressurized steam at 120°C for 20-30 minutes will destroy</a:t>
            </a:r>
            <a:endParaRPr lang="en-IN" dirty="0"/>
          </a:p>
        </p:txBody>
      </p:sp>
      <p:pic>
        <p:nvPicPr>
          <p:cNvPr id="5" name="Picture 4">
            <a:extLst>
              <a:ext uri="{FF2B5EF4-FFF2-40B4-BE49-F238E27FC236}">
                <a16:creationId xmlns:a16="http://schemas.microsoft.com/office/drawing/2014/main" id="{D81A8F68-4DC5-872A-49DC-1A1275027A5E}"/>
              </a:ext>
            </a:extLst>
          </p:cNvPr>
          <p:cNvPicPr>
            <a:picLocks noChangeAspect="1"/>
          </p:cNvPicPr>
          <p:nvPr/>
        </p:nvPicPr>
        <p:blipFill>
          <a:blip r:embed="rId2"/>
          <a:stretch>
            <a:fillRect/>
          </a:stretch>
        </p:blipFill>
        <p:spPr>
          <a:xfrm>
            <a:off x="2006100" y="3429000"/>
            <a:ext cx="4663056" cy="3011557"/>
          </a:xfrm>
          <a:prstGeom prst="rect">
            <a:avLst/>
          </a:prstGeom>
        </p:spPr>
      </p:pic>
    </p:spTree>
    <p:extLst>
      <p:ext uri="{BB962C8B-B14F-4D97-AF65-F5344CB8AC3E}">
        <p14:creationId xmlns:p14="http://schemas.microsoft.com/office/powerpoint/2010/main" val="19142026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66"/>
          <p:cNvSpPr txBox="1">
            <a:spLocks noGrp="1"/>
          </p:cNvSpPr>
          <p:nvPr>
            <p:ph type="title"/>
          </p:nvPr>
        </p:nvSpPr>
        <p:spPr>
          <a:xfrm>
            <a:off x="342900" y="304800"/>
            <a:ext cx="8458200" cy="67861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2400"/>
              <a:buFont typeface="Arial"/>
              <a:buNone/>
            </a:pPr>
            <a:r>
              <a:rPr lang="en-US" noProof="0" dirty="0"/>
              <a:t>Bacterial Shapes, Arrangements, and Sizes</a:t>
            </a:r>
          </a:p>
        </p:txBody>
      </p:sp>
      <p:sp>
        <p:nvSpPr>
          <p:cNvPr id="595" name="Google Shape;595;p66"/>
          <p:cNvSpPr txBox="1">
            <a:spLocks noGrp="1"/>
          </p:cNvSpPr>
          <p:nvPr>
            <p:ph type="body" idx="1"/>
          </p:nvPr>
        </p:nvSpPr>
        <p:spPr>
          <a:xfrm>
            <a:off x="342900" y="1276709"/>
            <a:ext cx="8458200" cy="497169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2"/>
              </a:buClr>
              <a:buSzPts val="2400"/>
              <a:buNone/>
            </a:pPr>
            <a:r>
              <a:rPr lang="en-US" noProof="0" dirty="0"/>
              <a:t>Vary in shape, size, and arrangement but typically described by one of three basic shapes:</a:t>
            </a:r>
          </a:p>
          <a:p>
            <a:pPr marL="344488" lvl="1" indent="-342900" algn="l" rtl="0">
              <a:lnSpc>
                <a:spcPct val="100000"/>
              </a:lnSpc>
              <a:spcBef>
                <a:spcPts val="1600"/>
              </a:spcBef>
              <a:spcAft>
                <a:spcPts val="0"/>
              </a:spcAft>
              <a:buClr>
                <a:schemeClr val="dk2"/>
              </a:buClr>
              <a:buSzPts val="2400"/>
              <a:buChar char="•"/>
            </a:pPr>
            <a:r>
              <a:rPr lang="en-US" noProof="0" dirty="0">
                <a:solidFill>
                  <a:schemeClr val="accent1"/>
                </a:solidFill>
              </a:rPr>
              <a:t>Coccus</a:t>
            </a:r>
            <a:r>
              <a:rPr lang="en-US" noProof="0" dirty="0"/>
              <a:t> – spherical</a:t>
            </a:r>
          </a:p>
          <a:p>
            <a:pPr marL="344488" lvl="1" indent="-342900" algn="l" rtl="0">
              <a:lnSpc>
                <a:spcPct val="100000"/>
              </a:lnSpc>
              <a:spcBef>
                <a:spcPts val="1600"/>
              </a:spcBef>
              <a:spcAft>
                <a:spcPts val="0"/>
              </a:spcAft>
              <a:buClr>
                <a:schemeClr val="dk2"/>
              </a:buClr>
              <a:buSzPts val="2400"/>
              <a:buChar char="•"/>
            </a:pPr>
            <a:r>
              <a:rPr lang="en-US" noProof="0" dirty="0">
                <a:solidFill>
                  <a:schemeClr val="accent1"/>
                </a:solidFill>
              </a:rPr>
              <a:t>Bacillus</a:t>
            </a:r>
            <a:r>
              <a:rPr lang="en-US" noProof="0" dirty="0"/>
              <a:t> – rod</a:t>
            </a:r>
          </a:p>
          <a:p>
            <a:pPr marL="640080" lvl="2" indent="-285750" algn="l" rtl="0">
              <a:lnSpc>
                <a:spcPct val="100000"/>
              </a:lnSpc>
              <a:spcBef>
                <a:spcPts val="1600"/>
              </a:spcBef>
              <a:spcAft>
                <a:spcPts val="0"/>
              </a:spcAft>
              <a:buClr>
                <a:schemeClr val="dk2"/>
              </a:buClr>
              <a:buSzPts val="2000"/>
              <a:buChar char="•"/>
            </a:pPr>
            <a:r>
              <a:rPr lang="en-US" noProof="0" dirty="0"/>
              <a:t>Coccobacillus – very short and plump</a:t>
            </a:r>
          </a:p>
          <a:p>
            <a:pPr marL="640080" lvl="2" indent="-285750" algn="l" rtl="0">
              <a:lnSpc>
                <a:spcPct val="100000"/>
              </a:lnSpc>
              <a:spcBef>
                <a:spcPts val="1600"/>
              </a:spcBef>
              <a:spcAft>
                <a:spcPts val="0"/>
              </a:spcAft>
              <a:buClr>
                <a:schemeClr val="dk2"/>
              </a:buClr>
              <a:buSzPts val="2000"/>
              <a:buChar char="•"/>
            </a:pPr>
            <a:r>
              <a:rPr lang="en-US" noProof="0" dirty="0"/>
              <a:t>Vibrio – gently curved</a:t>
            </a:r>
          </a:p>
          <a:p>
            <a:pPr marL="344488" lvl="1" indent="-342900" algn="l" rtl="0">
              <a:lnSpc>
                <a:spcPct val="100000"/>
              </a:lnSpc>
              <a:spcBef>
                <a:spcPts val="1600"/>
              </a:spcBef>
              <a:spcAft>
                <a:spcPts val="0"/>
              </a:spcAft>
              <a:buClr>
                <a:schemeClr val="dk2"/>
              </a:buClr>
              <a:buSzPts val="2400"/>
              <a:buChar char="•"/>
            </a:pPr>
            <a:r>
              <a:rPr lang="en-US" noProof="0" dirty="0">
                <a:solidFill>
                  <a:schemeClr val="accent1"/>
                </a:solidFill>
              </a:rPr>
              <a:t>Spirillum</a:t>
            </a:r>
            <a:r>
              <a:rPr lang="en-US" noProof="0" dirty="0"/>
              <a:t> – helical, comma, twisted rod, </a:t>
            </a:r>
          </a:p>
          <a:p>
            <a:pPr marL="640080" lvl="2" indent="-285750" algn="l" rtl="0">
              <a:lnSpc>
                <a:spcPct val="100000"/>
              </a:lnSpc>
              <a:spcBef>
                <a:spcPts val="1600"/>
              </a:spcBef>
              <a:spcAft>
                <a:spcPts val="0"/>
              </a:spcAft>
              <a:buClr>
                <a:schemeClr val="dk2"/>
              </a:buClr>
              <a:buSzPts val="2000"/>
              <a:buChar char="•"/>
            </a:pPr>
            <a:r>
              <a:rPr lang="en-US" noProof="0" dirty="0">
                <a:solidFill>
                  <a:schemeClr val="accent1"/>
                </a:solidFill>
              </a:rPr>
              <a:t>Spirochete</a:t>
            </a:r>
            <a:r>
              <a:rPr lang="en-US" noProof="0" dirty="0"/>
              <a:t> – spring-like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67"/>
          <p:cNvSpPr txBox="1">
            <a:spLocks noGrp="1"/>
          </p:cNvSpPr>
          <p:nvPr>
            <p:ph type="title"/>
          </p:nvPr>
        </p:nvSpPr>
        <p:spPr>
          <a:xfrm>
            <a:off x="54665" y="0"/>
            <a:ext cx="8458200" cy="67861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2400"/>
              <a:buFont typeface="Arial"/>
              <a:buNone/>
            </a:pPr>
            <a:r>
              <a:rPr lang="en-US" noProof="0" dirty="0"/>
              <a:t>Common Bacterial Shapes</a:t>
            </a:r>
            <a:r>
              <a:rPr lang="en-US" sz="1200" noProof="0" dirty="0"/>
              <a:t> 1</a:t>
            </a:r>
          </a:p>
        </p:txBody>
      </p:sp>
      <p:sp>
        <p:nvSpPr>
          <p:cNvPr id="601" name="Google Shape;601;p67"/>
          <p:cNvSpPr txBox="1">
            <a:spLocks noGrp="1"/>
          </p:cNvSpPr>
          <p:nvPr>
            <p:ph type="body" idx="1"/>
          </p:nvPr>
        </p:nvSpPr>
        <p:spPr>
          <a:xfrm>
            <a:off x="209335" y="632540"/>
            <a:ext cx="2211614" cy="526691"/>
          </a:xfrm>
          <a:prstGeom prst="rect">
            <a:avLst/>
          </a:prstGeom>
          <a:noFill/>
          <a:ln>
            <a:noFill/>
          </a:ln>
        </p:spPr>
        <p:txBody>
          <a:bodyPr spcFirstLastPara="1" wrap="square" lIns="91425" tIns="45700" rIns="91425" bIns="45700" anchor="t" anchorCtr="0">
            <a:noAutofit/>
          </a:bodyPr>
          <a:lstStyle/>
          <a:p>
            <a:pPr marL="457200" lvl="0" indent="-457200" algn="l" rtl="0">
              <a:lnSpc>
                <a:spcPct val="100000"/>
              </a:lnSpc>
              <a:spcBef>
                <a:spcPts val="0"/>
              </a:spcBef>
              <a:spcAft>
                <a:spcPts val="0"/>
              </a:spcAft>
              <a:buClr>
                <a:schemeClr val="dk2"/>
              </a:buClr>
              <a:buSzPts val="2400"/>
              <a:buFont typeface="Arial"/>
              <a:buAutoNum type="alphaLcParenR"/>
            </a:pPr>
            <a:r>
              <a:rPr lang="en-US" noProof="0" dirty="0"/>
              <a:t>Coccus</a:t>
            </a:r>
          </a:p>
        </p:txBody>
      </p:sp>
      <p:pic>
        <p:nvPicPr>
          <p:cNvPr id="9" name="Google Shape;602;p67" descr="An illustration depicts the common bacterial shapes.">
            <a:extLst>
              <a:ext uri="{FF2B5EF4-FFF2-40B4-BE49-F238E27FC236}">
                <a16:creationId xmlns:a16="http://schemas.microsoft.com/office/drawing/2014/main" id="{F04DBE60-EE41-4B50-8F5D-7190E810A84B}"/>
              </a:ext>
            </a:extLst>
          </p:cNvPr>
          <p:cNvPicPr preferRelativeResize="0">
            <a:picLocks/>
          </p:cNvPicPr>
          <p:nvPr/>
        </p:nvPicPr>
        <p:blipFill rotWithShape="1">
          <a:blip r:embed="rId3">
            <a:alphaModFix/>
          </a:blip>
          <a:srcRect t="-501" r="66975" b="53672"/>
          <a:stretch/>
        </p:blipFill>
        <p:spPr>
          <a:xfrm>
            <a:off x="2420949" y="475440"/>
            <a:ext cx="3725632" cy="4701478"/>
          </a:xfrm>
          <a:prstGeom prst="rect">
            <a:avLst/>
          </a:prstGeom>
          <a:noFill/>
          <a:ln>
            <a:noFill/>
          </a:ln>
        </p:spPr>
      </p:pic>
      <p:sp>
        <p:nvSpPr>
          <p:cNvPr id="8" name="TextBox 7">
            <a:extLst>
              <a:ext uri="{FF2B5EF4-FFF2-40B4-BE49-F238E27FC236}">
                <a16:creationId xmlns:a16="http://schemas.microsoft.com/office/drawing/2014/main" id="{15E945BA-6333-E549-B37B-CDBFDF557356}"/>
              </a:ext>
            </a:extLst>
          </p:cNvPr>
          <p:cNvSpPr txBox="1"/>
          <p:nvPr/>
        </p:nvSpPr>
        <p:spPr>
          <a:xfrm>
            <a:off x="342901" y="5657538"/>
            <a:ext cx="8458199" cy="830997"/>
          </a:xfrm>
          <a:prstGeom prst="rect">
            <a:avLst/>
          </a:prstGeom>
          <a:noFill/>
        </p:spPr>
        <p:txBody>
          <a:bodyPr wrap="square">
            <a:spAutoFit/>
          </a:bodyPr>
          <a:lstStyle/>
          <a:p>
            <a:pPr marL="0" lvl="0" indent="0"/>
            <a:r>
              <a:rPr lang="en-US" sz="2400" noProof="0" dirty="0"/>
              <a:t>Part A depicts the coccus which is tiny circular bead-shaped bacteria.</a:t>
            </a:r>
          </a:p>
        </p:txBody>
      </p:sp>
      <p:sp>
        <p:nvSpPr>
          <p:cNvPr id="11" name="TextBox 10">
            <a:extLst>
              <a:ext uri="{FF2B5EF4-FFF2-40B4-BE49-F238E27FC236}">
                <a16:creationId xmlns:a16="http://schemas.microsoft.com/office/drawing/2014/main" id="{6A7578A9-0AD0-EB26-9D3A-8B660B5CC8E6}"/>
              </a:ext>
            </a:extLst>
          </p:cNvPr>
          <p:cNvSpPr txBox="1"/>
          <p:nvPr/>
        </p:nvSpPr>
        <p:spPr>
          <a:xfrm>
            <a:off x="2420949" y="5163127"/>
            <a:ext cx="4148816" cy="369332"/>
          </a:xfrm>
          <a:prstGeom prst="rect">
            <a:avLst/>
          </a:prstGeom>
          <a:noFill/>
        </p:spPr>
        <p:txBody>
          <a:bodyPr wrap="square">
            <a:spAutoFit/>
          </a:bodyPr>
          <a:lstStyle/>
          <a:p>
            <a:pPr lvl="0" algn="ctr" rtl="0">
              <a:lnSpc>
                <a:spcPct val="100000"/>
              </a:lnSpc>
              <a:spcBef>
                <a:spcPts val="1600"/>
              </a:spcBef>
              <a:spcAft>
                <a:spcPts val="0"/>
              </a:spcAft>
              <a:buClr>
                <a:schemeClr val="dk2"/>
              </a:buClr>
              <a:buSzPts val="2400"/>
            </a:pPr>
            <a:r>
              <a:rPr lang="en-US" i="1" noProof="0" dirty="0"/>
              <a:t>Staphylococcus aureus </a:t>
            </a:r>
            <a:r>
              <a:rPr lang="en-US" noProof="0" dirty="0"/>
              <a:t>(10,000x)</a:t>
            </a:r>
          </a:p>
        </p:txBody>
      </p:sp>
      <p:pic>
        <p:nvPicPr>
          <p:cNvPr id="13" name="Picture 12">
            <a:extLst>
              <a:ext uri="{FF2B5EF4-FFF2-40B4-BE49-F238E27FC236}">
                <a16:creationId xmlns:a16="http://schemas.microsoft.com/office/drawing/2014/main" id="{B540DE39-9883-92BC-35F8-AEBE04433E1B}"/>
              </a:ext>
            </a:extLst>
          </p:cNvPr>
          <p:cNvPicPr>
            <a:picLocks noChangeAspect="1"/>
          </p:cNvPicPr>
          <p:nvPr/>
        </p:nvPicPr>
        <p:blipFill>
          <a:blip r:embed="rId4"/>
          <a:stretch>
            <a:fillRect/>
          </a:stretch>
        </p:blipFill>
        <p:spPr>
          <a:xfrm>
            <a:off x="6724207" y="282444"/>
            <a:ext cx="2000250" cy="5276850"/>
          </a:xfrm>
          <a:prstGeom prst="rect">
            <a:avLst/>
          </a:prstGeom>
        </p:spPr>
      </p:pic>
    </p:spTree>
    <p:extLst>
      <p:ext uri="{BB962C8B-B14F-4D97-AF65-F5344CB8AC3E}">
        <p14:creationId xmlns:p14="http://schemas.microsoft.com/office/powerpoint/2010/main" val="1064521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68"/>
          <p:cNvSpPr txBox="1">
            <a:spLocks noGrp="1"/>
          </p:cNvSpPr>
          <p:nvPr>
            <p:ph type="title"/>
          </p:nvPr>
        </p:nvSpPr>
        <p:spPr>
          <a:xfrm>
            <a:off x="121754" y="0"/>
            <a:ext cx="8458200" cy="67861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2400"/>
              <a:buFont typeface="Arial"/>
              <a:buNone/>
            </a:pPr>
            <a:r>
              <a:rPr lang="en-US" noProof="0" dirty="0"/>
              <a:t>Common Bacterial Shapes</a:t>
            </a:r>
            <a:r>
              <a:rPr lang="en-US" sz="1200" noProof="0" dirty="0"/>
              <a:t> 2</a:t>
            </a:r>
          </a:p>
        </p:txBody>
      </p:sp>
      <p:sp>
        <p:nvSpPr>
          <p:cNvPr id="610" name="Google Shape;610;p68"/>
          <p:cNvSpPr txBox="1">
            <a:spLocks noGrp="1"/>
          </p:cNvSpPr>
          <p:nvPr>
            <p:ph type="body" idx="1"/>
          </p:nvPr>
        </p:nvSpPr>
        <p:spPr>
          <a:xfrm>
            <a:off x="223630" y="627089"/>
            <a:ext cx="8458200" cy="526691"/>
          </a:xfrm>
          <a:prstGeom prst="rect">
            <a:avLst/>
          </a:prstGeom>
          <a:noFill/>
          <a:ln>
            <a:noFill/>
          </a:ln>
        </p:spPr>
        <p:txBody>
          <a:bodyPr spcFirstLastPara="1" wrap="square" lIns="91425" tIns="45700" rIns="91425" bIns="45700" anchor="t" anchorCtr="0">
            <a:noAutofit/>
          </a:bodyPr>
          <a:lstStyle/>
          <a:p>
            <a:pPr marL="457200" lvl="0" indent="-457200" algn="l" rtl="0">
              <a:lnSpc>
                <a:spcPct val="100000"/>
              </a:lnSpc>
              <a:spcBef>
                <a:spcPts val="0"/>
              </a:spcBef>
              <a:spcAft>
                <a:spcPts val="0"/>
              </a:spcAft>
              <a:buClr>
                <a:schemeClr val="dk2"/>
              </a:buClr>
              <a:buSzPts val="2400"/>
              <a:buFont typeface="Arial"/>
              <a:buAutoNum type="alphaLcParenR" startAt="2"/>
            </a:pPr>
            <a:r>
              <a:rPr lang="en-US" noProof="0" dirty="0"/>
              <a:t>Rod/Bacillus</a:t>
            </a:r>
          </a:p>
        </p:txBody>
      </p:sp>
      <p:pic>
        <p:nvPicPr>
          <p:cNvPr id="8" name="Google Shape;611;p68" descr="An illustration depicts the common bacterial shapes.">
            <a:extLst>
              <a:ext uri="{FF2B5EF4-FFF2-40B4-BE49-F238E27FC236}">
                <a16:creationId xmlns:a16="http://schemas.microsoft.com/office/drawing/2014/main" id="{448E8162-2AF0-4E43-830F-54AD8794806F}"/>
              </a:ext>
            </a:extLst>
          </p:cNvPr>
          <p:cNvPicPr preferRelativeResize="0">
            <a:picLocks/>
          </p:cNvPicPr>
          <p:nvPr/>
        </p:nvPicPr>
        <p:blipFill rotWithShape="1">
          <a:blip r:embed="rId3">
            <a:alphaModFix/>
          </a:blip>
          <a:srcRect l="33282" t="-349" r="33359" b="53672"/>
          <a:stretch/>
        </p:blipFill>
        <p:spPr>
          <a:xfrm>
            <a:off x="393929" y="1102258"/>
            <a:ext cx="3288052" cy="3996598"/>
          </a:xfrm>
          <a:prstGeom prst="rect">
            <a:avLst/>
          </a:prstGeom>
          <a:noFill/>
          <a:ln>
            <a:noFill/>
          </a:ln>
        </p:spPr>
      </p:pic>
      <p:sp>
        <p:nvSpPr>
          <p:cNvPr id="10" name="TextBox 9">
            <a:extLst>
              <a:ext uri="{FF2B5EF4-FFF2-40B4-BE49-F238E27FC236}">
                <a16:creationId xmlns:a16="http://schemas.microsoft.com/office/drawing/2014/main" id="{09DC42D3-98B6-E10B-E092-85F26CC69858}"/>
              </a:ext>
            </a:extLst>
          </p:cNvPr>
          <p:cNvSpPr txBox="1"/>
          <p:nvPr/>
        </p:nvSpPr>
        <p:spPr>
          <a:xfrm>
            <a:off x="223630" y="5755742"/>
            <a:ext cx="4273827" cy="646331"/>
          </a:xfrm>
          <a:prstGeom prst="rect">
            <a:avLst/>
          </a:prstGeom>
          <a:noFill/>
        </p:spPr>
        <p:txBody>
          <a:bodyPr wrap="square">
            <a:spAutoFit/>
          </a:bodyPr>
          <a:lstStyle/>
          <a:p>
            <a:pPr marL="0" lvl="0" indent="0"/>
            <a:r>
              <a:rPr lang="en-US" noProof="0" dirty="0"/>
              <a:t>Part B depicts the rod or bacillus resembling a rod-shaped bacterium.</a:t>
            </a:r>
          </a:p>
        </p:txBody>
      </p:sp>
      <p:sp>
        <p:nvSpPr>
          <p:cNvPr id="12" name="TextBox 11">
            <a:extLst>
              <a:ext uri="{FF2B5EF4-FFF2-40B4-BE49-F238E27FC236}">
                <a16:creationId xmlns:a16="http://schemas.microsoft.com/office/drawing/2014/main" id="{4F04F8A6-429D-689A-C5B1-F0BDE535F94B}"/>
              </a:ext>
            </a:extLst>
          </p:cNvPr>
          <p:cNvSpPr txBox="1"/>
          <p:nvPr/>
        </p:nvSpPr>
        <p:spPr>
          <a:xfrm>
            <a:off x="393929" y="5168205"/>
            <a:ext cx="4572000" cy="369332"/>
          </a:xfrm>
          <a:prstGeom prst="rect">
            <a:avLst/>
          </a:prstGeom>
          <a:noFill/>
        </p:spPr>
        <p:txBody>
          <a:bodyPr wrap="square">
            <a:spAutoFit/>
          </a:bodyPr>
          <a:lstStyle/>
          <a:p>
            <a:pPr lvl="0" algn="l" rtl="0">
              <a:lnSpc>
                <a:spcPct val="100000"/>
              </a:lnSpc>
              <a:spcBef>
                <a:spcPts val="1600"/>
              </a:spcBef>
              <a:spcAft>
                <a:spcPts val="0"/>
              </a:spcAft>
              <a:buClr>
                <a:schemeClr val="dk2"/>
              </a:buClr>
              <a:buSzPts val="2400"/>
            </a:pPr>
            <a:r>
              <a:rPr lang="en-US" i="1" noProof="0" dirty="0"/>
              <a:t>Legionella pneumophilia </a:t>
            </a:r>
            <a:r>
              <a:rPr lang="en-US" noProof="0" dirty="0"/>
              <a:t>(6,500x)</a:t>
            </a:r>
          </a:p>
        </p:txBody>
      </p:sp>
      <p:pic>
        <p:nvPicPr>
          <p:cNvPr id="15" name="Google Shape;861;p102" descr="A micrograph depicts the Mycobacterium tuberculosis, which are yellow-colored rod-shaped bacteria bound together in parallel alignment.">
            <a:extLst>
              <a:ext uri="{FF2B5EF4-FFF2-40B4-BE49-F238E27FC236}">
                <a16:creationId xmlns:a16="http://schemas.microsoft.com/office/drawing/2014/main" id="{8C5F09B7-D00F-2F33-BA87-3A8F587106B1}"/>
              </a:ext>
            </a:extLst>
          </p:cNvPr>
          <p:cNvPicPr preferRelativeResize="0">
            <a:picLocks/>
          </p:cNvPicPr>
          <p:nvPr/>
        </p:nvPicPr>
        <p:blipFill rotWithShape="1">
          <a:blip r:embed="rId4">
            <a:alphaModFix/>
          </a:blip>
          <a:srcRect/>
          <a:stretch/>
        </p:blipFill>
        <p:spPr>
          <a:xfrm>
            <a:off x="5462021" y="276697"/>
            <a:ext cx="1725518" cy="1930977"/>
          </a:xfrm>
          <a:prstGeom prst="rect">
            <a:avLst/>
          </a:prstGeom>
          <a:noFill/>
          <a:ln>
            <a:noFill/>
          </a:ln>
        </p:spPr>
      </p:pic>
      <p:sp>
        <p:nvSpPr>
          <p:cNvPr id="16" name="Google Shape;862;p102">
            <a:extLst>
              <a:ext uri="{FF2B5EF4-FFF2-40B4-BE49-F238E27FC236}">
                <a16:creationId xmlns:a16="http://schemas.microsoft.com/office/drawing/2014/main" id="{A4EB17D3-7C5F-479E-956A-DA95A8C0E689}"/>
              </a:ext>
            </a:extLst>
          </p:cNvPr>
          <p:cNvSpPr txBox="1">
            <a:spLocks/>
          </p:cNvSpPr>
          <p:nvPr/>
        </p:nvSpPr>
        <p:spPr>
          <a:xfrm>
            <a:off x="4422678" y="2352549"/>
            <a:ext cx="4259152" cy="382072"/>
          </a:xfrm>
          <a:prstGeom prst="rect">
            <a:avLst/>
          </a:prstGeom>
          <a:noFill/>
          <a:ln>
            <a:noFill/>
          </a:ln>
        </p:spPr>
        <p:txBody>
          <a:bodyPr spcFirstLastPara="1" wrap="square" lIns="91425" tIns="45700" rIns="91425" bIns="45700" anchor="t" anchorCtr="0">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640080"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914400" indent="-285750" algn="l" defTabSz="914400" rtl="0" eaLnBrk="1" latinLnBrk="0" hangingPunct="1">
              <a:lnSpc>
                <a:spcPct val="100000"/>
              </a:lnSpc>
              <a:spcBef>
                <a:spcPts val="800"/>
              </a:spcBef>
              <a:spcAft>
                <a:spcPts val="800"/>
              </a:spcAft>
              <a:buFont typeface="Arial" panose="020B0604020202020204" pitchFamily="34" charset="0"/>
              <a:buChar char="•"/>
              <a:defRPr sz="20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Aft>
                <a:spcPts val="0"/>
              </a:spcAft>
              <a:buClr>
                <a:schemeClr val="dk2"/>
              </a:buClr>
              <a:buSzPts val="2400"/>
            </a:pPr>
            <a:r>
              <a:rPr lang="en-US" sz="1400" i="1" dirty="0"/>
              <a:t>Mycobacterium tuberculosis—the </a:t>
            </a:r>
            <a:r>
              <a:rPr lang="en-US" sz="1400" dirty="0"/>
              <a:t>bacillus that causes tuberculosis.</a:t>
            </a:r>
          </a:p>
        </p:txBody>
      </p:sp>
      <p:pic>
        <p:nvPicPr>
          <p:cNvPr id="17" name="Google Shape;828;p98" descr="A micrograph depicts the Bacillus anthracis, which are thin rod-shaped yellow-colored bacterium surrounding the red blood cell. ">
            <a:extLst>
              <a:ext uri="{FF2B5EF4-FFF2-40B4-BE49-F238E27FC236}">
                <a16:creationId xmlns:a16="http://schemas.microsoft.com/office/drawing/2014/main" id="{D87B5817-76CC-56DF-1224-CAAE8EF0C234}"/>
              </a:ext>
            </a:extLst>
          </p:cNvPr>
          <p:cNvPicPr preferRelativeResize="0">
            <a:picLocks/>
          </p:cNvPicPr>
          <p:nvPr/>
        </p:nvPicPr>
        <p:blipFill rotWithShape="1">
          <a:blip r:embed="rId5">
            <a:alphaModFix/>
          </a:blip>
          <a:srcRect/>
          <a:stretch/>
        </p:blipFill>
        <p:spPr>
          <a:xfrm>
            <a:off x="5749690" y="3046670"/>
            <a:ext cx="1828993" cy="2425099"/>
          </a:xfrm>
          <a:prstGeom prst="rect">
            <a:avLst/>
          </a:prstGeom>
          <a:noFill/>
          <a:ln>
            <a:noFill/>
          </a:ln>
        </p:spPr>
      </p:pic>
      <p:sp>
        <p:nvSpPr>
          <p:cNvPr id="18" name="Google Shape;796;p94">
            <a:extLst>
              <a:ext uri="{FF2B5EF4-FFF2-40B4-BE49-F238E27FC236}">
                <a16:creationId xmlns:a16="http://schemas.microsoft.com/office/drawing/2014/main" id="{B8490C4B-9676-2B87-8EC3-93F4F586F646}"/>
              </a:ext>
            </a:extLst>
          </p:cNvPr>
          <p:cNvSpPr txBox="1">
            <a:spLocks/>
          </p:cNvSpPr>
          <p:nvPr/>
        </p:nvSpPr>
        <p:spPr>
          <a:xfrm>
            <a:off x="4850296" y="5663507"/>
            <a:ext cx="3831534" cy="830799"/>
          </a:xfrm>
          <a:prstGeom prst="rect">
            <a:avLst/>
          </a:prstGeom>
          <a:noFill/>
          <a:ln>
            <a:noFill/>
          </a:ln>
        </p:spPr>
        <p:txBody>
          <a:bodyPr spcFirstLastPara="1" wrap="square" lIns="91425" tIns="45700" rIns="91425" bIns="45700" anchor="t" anchorCtr="0">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640080"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914400" indent="-285750" algn="l" defTabSz="914400" rtl="0" eaLnBrk="1" latinLnBrk="0" hangingPunct="1">
              <a:lnSpc>
                <a:spcPct val="100000"/>
              </a:lnSpc>
              <a:spcBef>
                <a:spcPts val="800"/>
              </a:spcBef>
              <a:spcAft>
                <a:spcPts val="800"/>
              </a:spcAft>
              <a:buFont typeface="Arial" panose="020B0604020202020204" pitchFamily="34" charset="0"/>
              <a:buChar char="•"/>
              <a:defRPr sz="20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i="1" dirty="0"/>
              <a:t>Bacillus anthracis—</a:t>
            </a:r>
            <a:r>
              <a:rPr lang="en-US" sz="1400" dirty="0"/>
              <a:t>SEM</a:t>
            </a:r>
            <a:r>
              <a:rPr lang="en-US" sz="1400" i="1" dirty="0"/>
              <a:t> </a:t>
            </a:r>
            <a:r>
              <a:rPr lang="en-US" sz="1400" dirty="0"/>
              <a:t>micrograph showing the rod-shaped cells next to a red blood cell.</a:t>
            </a:r>
          </a:p>
        </p:txBody>
      </p:sp>
    </p:spTree>
    <p:extLst>
      <p:ext uri="{BB962C8B-B14F-4D97-AF65-F5344CB8AC3E}">
        <p14:creationId xmlns:p14="http://schemas.microsoft.com/office/powerpoint/2010/main" val="20285019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69"/>
          <p:cNvSpPr txBox="1">
            <a:spLocks noGrp="1"/>
          </p:cNvSpPr>
          <p:nvPr>
            <p:ph type="title"/>
          </p:nvPr>
        </p:nvSpPr>
        <p:spPr>
          <a:xfrm>
            <a:off x="172554" y="-39945"/>
            <a:ext cx="8458200" cy="67861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2400"/>
              <a:buFont typeface="Arial"/>
              <a:buNone/>
            </a:pPr>
            <a:r>
              <a:rPr lang="en-US" noProof="0" dirty="0"/>
              <a:t>Common Bacterial Shapes</a:t>
            </a:r>
            <a:r>
              <a:rPr lang="en-US" sz="1200" noProof="0" dirty="0"/>
              <a:t> 3</a:t>
            </a:r>
          </a:p>
        </p:txBody>
      </p:sp>
      <p:sp>
        <p:nvSpPr>
          <p:cNvPr id="618" name="Google Shape;618;p69"/>
          <p:cNvSpPr txBox="1">
            <a:spLocks noGrp="1"/>
          </p:cNvSpPr>
          <p:nvPr>
            <p:ph type="body" idx="1"/>
          </p:nvPr>
        </p:nvSpPr>
        <p:spPr>
          <a:xfrm>
            <a:off x="342900" y="456720"/>
            <a:ext cx="8458200" cy="526691"/>
          </a:xfrm>
          <a:prstGeom prst="rect">
            <a:avLst/>
          </a:prstGeom>
          <a:noFill/>
          <a:ln>
            <a:noFill/>
          </a:ln>
        </p:spPr>
        <p:txBody>
          <a:bodyPr spcFirstLastPara="1" wrap="square" lIns="91425" tIns="45700" rIns="91425" bIns="45700" anchor="t" anchorCtr="0">
            <a:noAutofit/>
          </a:bodyPr>
          <a:lstStyle/>
          <a:p>
            <a:pPr marL="457200" lvl="0" indent="-457200" algn="l" rtl="0">
              <a:lnSpc>
                <a:spcPct val="100000"/>
              </a:lnSpc>
              <a:spcBef>
                <a:spcPts val="0"/>
              </a:spcBef>
              <a:spcAft>
                <a:spcPts val="0"/>
              </a:spcAft>
              <a:buClr>
                <a:schemeClr val="dk2"/>
              </a:buClr>
              <a:buSzPts val="2400"/>
              <a:buFont typeface="Arial"/>
              <a:buAutoNum type="alphaLcParenR" startAt="3"/>
            </a:pPr>
            <a:r>
              <a:rPr lang="en-US" noProof="0" dirty="0"/>
              <a:t>Vibrio</a:t>
            </a:r>
          </a:p>
        </p:txBody>
      </p:sp>
      <p:pic>
        <p:nvPicPr>
          <p:cNvPr id="9" name="Google Shape;619;p69" descr="An illustration depicts the common bacterial shapes.">
            <a:extLst>
              <a:ext uri="{FF2B5EF4-FFF2-40B4-BE49-F238E27FC236}">
                <a16:creationId xmlns:a16="http://schemas.microsoft.com/office/drawing/2014/main" id="{BB6513AD-BAD6-4755-9E88-820456E92CD9}"/>
              </a:ext>
            </a:extLst>
          </p:cNvPr>
          <p:cNvPicPr preferRelativeResize="0">
            <a:picLocks/>
          </p:cNvPicPr>
          <p:nvPr/>
        </p:nvPicPr>
        <p:blipFill rotWithShape="1">
          <a:blip r:embed="rId3">
            <a:alphaModFix/>
          </a:blip>
          <a:srcRect l="67954" t="160" r="287" b="53750"/>
          <a:stretch/>
        </p:blipFill>
        <p:spPr>
          <a:xfrm>
            <a:off x="508276" y="973472"/>
            <a:ext cx="2903608" cy="3462601"/>
          </a:xfrm>
          <a:prstGeom prst="rect">
            <a:avLst/>
          </a:prstGeom>
          <a:noFill/>
          <a:ln>
            <a:noFill/>
          </a:ln>
        </p:spPr>
      </p:pic>
      <p:sp>
        <p:nvSpPr>
          <p:cNvPr id="10" name="TextBox 9">
            <a:extLst>
              <a:ext uri="{FF2B5EF4-FFF2-40B4-BE49-F238E27FC236}">
                <a16:creationId xmlns:a16="http://schemas.microsoft.com/office/drawing/2014/main" id="{404C6C3D-BBEB-8898-7EA5-7D97D9137006}"/>
              </a:ext>
            </a:extLst>
          </p:cNvPr>
          <p:cNvSpPr txBox="1"/>
          <p:nvPr/>
        </p:nvSpPr>
        <p:spPr>
          <a:xfrm>
            <a:off x="342900" y="5284363"/>
            <a:ext cx="8287854" cy="1200329"/>
          </a:xfrm>
          <a:prstGeom prst="rect">
            <a:avLst/>
          </a:prstGeom>
          <a:noFill/>
        </p:spPr>
        <p:txBody>
          <a:bodyPr wrap="square">
            <a:spAutoFit/>
          </a:bodyPr>
          <a:lstStyle/>
          <a:p>
            <a:pPr marL="0" lvl="0" indent="0"/>
            <a:r>
              <a:rPr lang="en-US" sz="2400" noProof="0" dirty="0"/>
              <a:t>Part C depicts the vibrio which are elongated rod-shaped bacteria with a thread-like filament extending out from either side. </a:t>
            </a:r>
          </a:p>
        </p:txBody>
      </p:sp>
      <p:sp>
        <p:nvSpPr>
          <p:cNvPr id="12" name="TextBox 11">
            <a:extLst>
              <a:ext uri="{FF2B5EF4-FFF2-40B4-BE49-F238E27FC236}">
                <a16:creationId xmlns:a16="http://schemas.microsoft.com/office/drawing/2014/main" id="{D4828062-83B8-1A2C-955C-A4CC527D902E}"/>
              </a:ext>
            </a:extLst>
          </p:cNvPr>
          <p:cNvSpPr txBox="1"/>
          <p:nvPr/>
        </p:nvSpPr>
        <p:spPr>
          <a:xfrm>
            <a:off x="508276" y="4485280"/>
            <a:ext cx="3110948" cy="369332"/>
          </a:xfrm>
          <a:prstGeom prst="rect">
            <a:avLst/>
          </a:prstGeom>
          <a:noFill/>
        </p:spPr>
        <p:txBody>
          <a:bodyPr wrap="square">
            <a:spAutoFit/>
          </a:bodyPr>
          <a:lstStyle/>
          <a:p>
            <a:pPr lvl="0" algn="l" rtl="0">
              <a:lnSpc>
                <a:spcPct val="100000"/>
              </a:lnSpc>
              <a:spcBef>
                <a:spcPts val="1600"/>
              </a:spcBef>
              <a:spcAft>
                <a:spcPts val="0"/>
              </a:spcAft>
              <a:buClr>
                <a:schemeClr val="dk2"/>
              </a:buClr>
              <a:buSzPts val="2400"/>
            </a:pPr>
            <a:r>
              <a:rPr lang="en-US" i="1" noProof="0" dirty="0"/>
              <a:t>Vibrio cholerae </a:t>
            </a:r>
            <a:r>
              <a:rPr lang="en-US" noProof="0" dirty="0"/>
              <a:t>(13,000x)</a:t>
            </a:r>
          </a:p>
        </p:txBody>
      </p:sp>
      <p:pic>
        <p:nvPicPr>
          <p:cNvPr id="13" name="Google Shape;813;p96" descr="A micrograph depicts the vibrio-shaped thermophile, which is yellow-colored curved and elongated bacteria.">
            <a:extLst>
              <a:ext uri="{FF2B5EF4-FFF2-40B4-BE49-F238E27FC236}">
                <a16:creationId xmlns:a16="http://schemas.microsoft.com/office/drawing/2014/main" id="{1CDC8189-5BA5-44F3-0055-CD0E153CE68C}"/>
              </a:ext>
            </a:extLst>
          </p:cNvPr>
          <p:cNvPicPr preferRelativeResize="0">
            <a:picLocks noGrp="1"/>
          </p:cNvPicPr>
          <p:nvPr>
            <p:ph type="body" idx="2"/>
          </p:nvPr>
        </p:nvPicPr>
        <p:blipFill rotWithShape="1">
          <a:blip r:embed="rId4">
            <a:alphaModFix/>
          </a:blip>
          <a:srcRect/>
          <a:stretch/>
        </p:blipFill>
        <p:spPr>
          <a:xfrm>
            <a:off x="3809444" y="638666"/>
            <a:ext cx="5162002" cy="2963378"/>
          </a:xfrm>
          <a:prstGeom prst="rect">
            <a:avLst/>
          </a:prstGeom>
          <a:noFill/>
          <a:ln>
            <a:noFill/>
          </a:ln>
        </p:spPr>
      </p:pic>
      <p:sp>
        <p:nvSpPr>
          <p:cNvPr id="14" name="Google Shape;796;p94">
            <a:extLst>
              <a:ext uri="{FF2B5EF4-FFF2-40B4-BE49-F238E27FC236}">
                <a16:creationId xmlns:a16="http://schemas.microsoft.com/office/drawing/2014/main" id="{8BFA9E0D-BB85-0C14-C236-04FF43B47350}"/>
              </a:ext>
            </a:extLst>
          </p:cNvPr>
          <p:cNvSpPr txBox="1">
            <a:spLocks/>
          </p:cNvSpPr>
          <p:nvPr/>
        </p:nvSpPr>
        <p:spPr>
          <a:xfrm>
            <a:off x="3936858" y="3783990"/>
            <a:ext cx="4907174" cy="830799"/>
          </a:xfrm>
          <a:prstGeom prst="rect">
            <a:avLst/>
          </a:prstGeom>
          <a:noFill/>
          <a:ln>
            <a:noFill/>
          </a:ln>
        </p:spPr>
        <p:txBody>
          <a:bodyPr spcFirstLastPara="1" wrap="square" lIns="91425" tIns="45700" rIns="91425" bIns="45700" anchor="t" anchorCtr="0">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640080"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914400" indent="-285750" algn="l" defTabSz="914400" rtl="0" eaLnBrk="1" latinLnBrk="0" hangingPunct="1">
              <a:lnSpc>
                <a:spcPct val="100000"/>
              </a:lnSpc>
              <a:spcBef>
                <a:spcPts val="800"/>
              </a:spcBef>
              <a:spcAft>
                <a:spcPts val="800"/>
              </a:spcAft>
              <a:buFont typeface="Arial" panose="020B0604020202020204" pitchFamily="34" charset="0"/>
              <a:buChar char="•"/>
              <a:defRPr sz="20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 vibrio-shaped thermophile, </a:t>
            </a:r>
            <a:r>
              <a:rPr lang="en-US" i="1" dirty="0" err="1"/>
              <a:t>Desulfovibrio</a:t>
            </a:r>
            <a:r>
              <a:rPr lang="en-US" dirty="0"/>
              <a:t>, living in a pond biofilm.</a:t>
            </a:r>
          </a:p>
        </p:txBody>
      </p:sp>
    </p:spTree>
    <p:extLst>
      <p:ext uri="{BB962C8B-B14F-4D97-AF65-F5344CB8AC3E}">
        <p14:creationId xmlns:p14="http://schemas.microsoft.com/office/powerpoint/2010/main" val="39139910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70"/>
          <p:cNvSpPr txBox="1">
            <a:spLocks noGrp="1"/>
          </p:cNvSpPr>
          <p:nvPr>
            <p:ph type="title"/>
          </p:nvPr>
        </p:nvSpPr>
        <p:spPr>
          <a:xfrm>
            <a:off x="163996" y="0"/>
            <a:ext cx="8458200" cy="67861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2400"/>
              <a:buFont typeface="Arial"/>
              <a:buNone/>
            </a:pPr>
            <a:r>
              <a:rPr lang="en-US" noProof="0" dirty="0"/>
              <a:t>Common Bacterial Shapes</a:t>
            </a:r>
            <a:r>
              <a:rPr lang="en-US" sz="1200" noProof="0" dirty="0"/>
              <a:t> 4</a:t>
            </a:r>
          </a:p>
        </p:txBody>
      </p:sp>
      <p:sp>
        <p:nvSpPr>
          <p:cNvPr id="626" name="Google Shape;626;p70"/>
          <p:cNvSpPr txBox="1">
            <a:spLocks noGrp="1"/>
          </p:cNvSpPr>
          <p:nvPr>
            <p:ph type="body" idx="1"/>
          </p:nvPr>
        </p:nvSpPr>
        <p:spPr>
          <a:xfrm>
            <a:off x="263387" y="678611"/>
            <a:ext cx="8458200" cy="526691"/>
          </a:xfrm>
          <a:prstGeom prst="rect">
            <a:avLst/>
          </a:prstGeom>
          <a:noFill/>
          <a:ln>
            <a:noFill/>
          </a:ln>
        </p:spPr>
        <p:txBody>
          <a:bodyPr spcFirstLastPara="1" wrap="square" lIns="91425" tIns="45700" rIns="91425" bIns="45700" anchor="t" anchorCtr="0">
            <a:noAutofit/>
          </a:bodyPr>
          <a:lstStyle/>
          <a:p>
            <a:pPr marL="457200" lvl="0" indent="-457200" algn="l" rtl="0">
              <a:lnSpc>
                <a:spcPct val="100000"/>
              </a:lnSpc>
              <a:spcBef>
                <a:spcPts val="0"/>
              </a:spcBef>
              <a:spcAft>
                <a:spcPts val="0"/>
              </a:spcAft>
              <a:buClr>
                <a:schemeClr val="dk2"/>
              </a:buClr>
              <a:buSzPts val="2400"/>
              <a:buFont typeface="Arial"/>
              <a:buAutoNum type="alphaLcParenR" startAt="4"/>
            </a:pPr>
            <a:r>
              <a:rPr lang="en-US" noProof="0" dirty="0"/>
              <a:t>Spirillum</a:t>
            </a:r>
          </a:p>
        </p:txBody>
      </p:sp>
      <p:pic>
        <p:nvPicPr>
          <p:cNvPr id="9" name="Google Shape;627;p70" descr="An illustration depicts the common bacterial shapes.">
            <a:extLst>
              <a:ext uri="{FF2B5EF4-FFF2-40B4-BE49-F238E27FC236}">
                <a16:creationId xmlns:a16="http://schemas.microsoft.com/office/drawing/2014/main" id="{2E2BDB69-F19F-4DF5-9B64-54DEA186E0C4}"/>
              </a:ext>
            </a:extLst>
          </p:cNvPr>
          <p:cNvPicPr preferRelativeResize="0">
            <a:picLocks/>
          </p:cNvPicPr>
          <p:nvPr/>
        </p:nvPicPr>
        <p:blipFill rotWithShape="1">
          <a:blip r:embed="rId3">
            <a:alphaModFix/>
          </a:blip>
          <a:srcRect t="46114" r="67504" b="9185"/>
          <a:stretch/>
        </p:blipFill>
        <p:spPr>
          <a:xfrm>
            <a:off x="2633612" y="614079"/>
            <a:ext cx="3518967" cy="4307722"/>
          </a:xfrm>
          <a:prstGeom prst="rect">
            <a:avLst/>
          </a:prstGeom>
          <a:noFill/>
          <a:ln>
            <a:noFill/>
          </a:ln>
        </p:spPr>
      </p:pic>
      <p:sp>
        <p:nvSpPr>
          <p:cNvPr id="10" name="TextBox 9">
            <a:extLst>
              <a:ext uri="{FF2B5EF4-FFF2-40B4-BE49-F238E27FC236}">
                <a16:creationId xmlns:a16="http://schemas.microsoft.com/office/drawing/2014/main" id="{4A194F0F-BD27-FFD0-00EF-9C5ABE2311A1}"/>
              </a:ext>
            </a:extLst>
          </p:cNvPr>
          <p:cNvSpPr txBox="1"/>
          <p:nvPr/>
        </p:nvSpPr>
        <p:spPr>
          <a:xfrm>
            <a:off x="342900" y="5572042"/>
            <a:ext cx="8458199" cy="830997"/>
          </a:xfrm>
          <a:prstGeom prst="rect">
            <a:avLst/>
          </a:prstGeom>
          <a:noFill/>
        </p:spPr>
        <p:txBody>
          <a:bodyPr wrap="square">
            <a:spAutoFit/>
          </a:bodyPr>
          <a:lstStyle/>
          <a:p>
            <a:pPr marL="0" lvl="0" indent="0"/>
            <a:r>
              <a:rPr lang="en-US" sz="2400" noProof="0" dirty="0"/>
              <a:t>Part D depicts the spirillum which has a curved surface with branching flagella on either end.</a:t>
            </a:r>
          </a:p>
        </p:txBody>
      </p:sp>
      <p:sp>
        <p:nvSpPr>
          <p:cNvPr id="12" name="TextBox 11">
            <a:extLst>
              <a:ext uri="{FF2B5EF4-FFF2-40B4-BE49-F238E27FC236}">
                <a16:creationId xmlns:a16="http://schemas.microsoft.com/office/drawing/2014/main" id="{7EFFFBC5-7C71-D32C-C6EF-BA1FFB80BA1E}"/>
              </a:ext>
            </a:extLst>
          </p:cNvPr>
          <p:cNvSpPr txBox="1"/>
          <p:nvPr/>
        </p:nvSpPr>
        <p:spPr>
          <a:xfrm>
            <a:off x="2010318" y="4921801"/>
            <a:ext cx="4572000" cy="369332"/>
          </a:xfrm>
          <a:prstGeom prst="rect">
            <a:avLst/>
          </a:prstGeom>
          <a:noFill/>
        </p:spPr>
        <p:txBody>
          <a:bodyPr wrap="square">
            <a:spAutoFit/>
          </a:bodyPr>
          <a:lstStyle/>
          <a:p>
            <a:pPr lvl="0" algn="ctr" rtl="0">
              <a:lnSpc>
                <a:spcPct val="100000"/>
              </a:lnSpc>
              <a:spcBef>
                <a:spcPts val="1600"/>
              </a:spcBef>
              <a:spcAft>
                <a:spcPts val="0"/>
              </a:spcAft>
              <a:buClr>
                <a:schemeClr val="dk2"/>
              </a:buClr>
              <a:buSzPts val="2400"/>
            </a:pPr>
            <a:r>
              <a:rPr lang="en-US" i="1" noProof="0" dirty="0" err="1"/>
              <a:t>Aquaspirillum</a:t>
            </a:r>
            <a:r>
              <a:rPr lang="en-US" i="1" noProof="0" dirty="0"/>
              <a:t> </a:t>
            </a:r>
            <a:r>
              <a:rPr lang="en-US" noProof="0" dirty="0"/>
              <a:t>(7,500x)</a:t>
            </a:r>
          </a:p>
        </p:txBody>
      </p:sp>
      <p:pic>
        <p:nvPicPr>
          <p:cNvPr id="14" name="Picture 13">
            <a:extLst>
              <a:ext uri="{FF2B5EF4-FFF2-40B4-BE49-F238E27FC236}">
                <a16:creationId xmlns:a16="http://schemas.microsoft.com/office/drawing/2014/main" id="{2D3AE16D-C01E-5947-D0F7-0D86E23D5D9F}"/>
              </a:ext>
            </a:extLst>
          </p:cNvPr>
          <p:cNvPicPr>
            <a:picLocks noChangeAspect="1"/>
          </p:cNvPicPr>
          <p:nvPr/>
        </p:nvPicPr>
        <p:blipFill>
          <a:blip r:embed="rId4"/>
          <a:stretch>
            <a:fillRect/>
          </a:stretch>
        </p:blipFill>
        <p:spPr>
          <a:xfrm>
            <a:off x="6692762" y="339305"/>
            <a:ext cx="2028825" cy="5143500"/>
          </a:xfrm>
          <a:prstGeom prst="rect">
            <a:avLst/>
          </a:prstGeom>
        </p:spPr>
      </p:pic>
    </p:spTree>
    <p:extLst>
      <p:ext uri="{BB962C8B-B14F-4D97-AF65-F5344CB8AC3E}">
        <p14:creationId xmlns:p14="http://schemas.microsoft.com/office/powerpoint/2010/main" val="11706129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71"/>
          <p:cNvSpPr txBox="1">
            <a:spLocks noGrp="1"/>
          </p:cNvSpPr>
          <p:nvPr>
            <p:ph type="title"/>
          </p:nvPr>
        </p:nvSpPr>
        <p:spPr>
          <a:xfrm>
            <a:off x="94422" y="19315"/>
            <a:ext cx="8458200" cy="67861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2400"/>
              <a:buFont typeface="Arial"/>
              <a:buNone/>
            </a:pPr>
            <a:r>
              <a:rPr lang="en-US" noProof="0" dirty="0"/>
              <a:t>Common Bacterial Shapes</a:t>
            </a:r>
            <a:r>
              <a:rPr lang="en-US" sz="1200" noProof="0" dirty="0"/>
              <a:t> 5</a:t>
            </a:r>
          </a:p>
        </p:txBody>
      </p:sp>
      <p:sp>
        <p:nvSpPr>
          <p:cNvPr id="634" name="Google Shape;634;p71"/>
          <p:cNvSpPr txBox="1">
            <a:spLocks noGrp="1"/>
          </p:cNvSpPr>
          <p:nvPr>
            <p:ph type="body" idx="1"/>
          </p:nvPr>
        </p:nvSpPr>
        <p:spPr>
          <a:xfrm>
            <a:off x="228599" y="697926"/>
            <a:ext cx="8458200" cy="526691"/>
          </a:xfrm>
          <a:prstGeom prst="rect">
            <a:avLst/>
          </a:prstGeom>
          <a:noFill/>
          <a:ln>
            <a:noFill/>
          </a:ln>
        </p:spPr>
        <p:txBody>
          <a:bodyPr spcFirstLastPara="1" wrap="square" lIns="91425" tIns="45700" rIns="91425" bIns="45700" anchor="t" anchorCtr="0">
            <a:noAutofit/>
          </a:bodyPr>
          <a:lstStyle/>
          <a:p>
            <a:pPr marL="457200" lvl="0" indent="-457200" algn="l" rtl="0">
              <a:lnSpc>
                <a:spcPct val="100000"/>
              </a:lnSpc>
              <a:spcBef>
                <a:spcPts val="0"/>
              </a:spcBef>
              <a:spcAft>
                <a:spcPts val="0"/>
              </a:spcAft>
              <a:buClr>
                <a:schemeClr val="dk2"/>
              </a:buClr>
              <a:buSzPts val="2400"/>
              <a:buFont typeface="Arial"/>
              <a:buAutoNum type="alphaLcParenR" startAt="5"/>
            </a:pPr>
            <a:r>
              <a:rPr lang="en-US" noProof="0" dirty="0"/>
              <a:t>Spirochete</a:t>
            </a:r>
          </a:p>
        </p:txBody>
      </p:sp>
      <p:pic>
        <p:nvPicPr>
          <p:cNvPr id="9" name="Google Shape;635;p71" descr="An illustration depicts the common bacterial shapes.">
            <a:extLst>
              <a:ext uri="{FF2B5EF4-FFF2-40B4-BE49-F238E27FC236}">
                <a16:creationId xmlns:a16="http://schemas.microsoft.com/office/drawing/2014/main" id="{52017FE7-7734-4944-9978-A8642572A0F9}"/>
              </a:ext>
            </a:extLst>
          </p:cNvPr>
          <p:cNvPicPr preferRelativeResize="0">
            <a:picLocks/>
          </p:cNvPicPr>
          <p:nvPr/>
        </p:nvPicPr>
        <p:blipFill rotWithShape="1">
          <a:blip r:embed="rId3">
            <a:alphaModFix/>
          </a:blip>
          <a:srcRect l="33282" t="46114" r="33359" b="9185"/>
          <a:stretch/>
        </p:blipFill>
        <p:spPr>
          <a:xfrm>
            <a:off x="228599" y="1195972"/>
            <a:ext cx="3541273" cy="4222843"/>
          </a:xfrm>
          <a:prstGeom prst="rect">
            <a:avLst/>
          </a:prstGeom>
          <a:noFill/>
          <a:ln>
            <a:noFill/>
          </a:ln>
        </p:spPr>
      </p:pic>
      <p:sp>
        <p:nvSpPr>
          <p:cNvPr id="10" name="TextBox 9">
            <a:extLst>
              <a:ext uri="{FF2B5EF4-FFF2-40B4-BE49-F238E27FC236}">
                <a16:creationId xmlns:a16="http://schemas.microsoft.com/office/drawing/2014/main" id="{B18945E5-F0ED-ACF0-4270-EE886B2CE059}"/>
              </a:ext>
            </a:extLst>
          </p:cNvPr>
          <p:cNvSpPr txBox="1"/>
          <p:nvPr/>
        </p:nvSpPr>
        <p:spPr>
          <a:xfrm>
            <a:off x="228599" y="5744575"/>
            <a:ext cx="8647043" cy="830997"/>
          </a:xfrm>
          <a:prstGeom prst="rect">
            <a:avLst/>
          </a:prstGeom>
          <a:noFill/>
        </p:spPr>
        <p:txBody>
          <a:bodyPr wrap="square">
            <a:spAutoFit/>
          </a:bodyPr>
          <a:lstStyle/>
          <a:p>
            <a:pPr marL="0" lvl="0" indent="0"/>
            <a:r>
              <a:rPr lang="en-US" sz="2400" noProof="0" dirty="0"/>
              <a:t>Part E depicts the spirochete having a subsequent curved pattern throughout. </a:t>
            </a:r>
          </a:p>
        </p:txBody>
      </p:sp>
      <p:sp>
        <p:nvSpPr>
          <p:cNvPr id="12" name="TextBox 11">
            <a:extLst>
              <a:ext uri="{FF2B5EF4-FFF2-40B4-BE49-F238E27FC236}">
                <a16:creationId xmlns:a16="http://schemas.microsoft.com/office/drawing/2014/main" id="{82FB710B-D7A8-D532-645B-832EB1627FCF}"/>
              </a:ext>
            </a:extLst>
          </p:cNvPr>
          <p:cNvSpPr txBox="1"/>
          <p:nvPr/>
        </p:nvSpPr>
        <p:spPr>
          <a:xfrm>
            <a:off x="-286765" y="5315387"/>
            <a:ext cx="4572000" cy="369332"/>
          </a:xfrm>
          <a:prstGeom prst="rect">
            <a:avLst/>
          </a:prstGeom>
          <a:noFill/>
        </p:spPr>
        <p:txBody>
          <a:bodyPr wrap="square">
            <a:spAutoFit/>
          </a:bodyPr>
          <a:lstStyle/>
          <a:p>
            <a:pPr lvl="0" algn="ctr" rtl="0">
              <a:lnSpc>
                <a:spcPct val="100000"/>
              </a:lnSpc>
              <a:spcBef>
                <a:spcPts val="1600"/>
              </a:spcBef>
              <a:spcAft>
                <a:spcPts val="0"/>
              </a:spcAft>
              <a:buClr>
                <a:schemeClr val="dk2"/>
              </a:buClr>
              <a:buSzPts val="2400"/>
            </a:pPr>
            <a:r>
              <a:rPr lang="en-US" i="1" noProof="0" dirty="0"/>
              <a:t>Borrelia burgdorferi </a:t>
            </a:r>
            <a:r>
              <a:rPr lang="en-US" noProof="0" dirty="0"/>
              <a:t>(10,000x)</a:t>
            </a:r>
          </a:p>
        </p:txBody>
      </p:sp>
      <p:pic>
        <p:nvPicPr>
          <p:cNvPr id="13" name="Google Shape;904;p108" descr="Shown is Treponema pallidum from the phylum Spirochetes in Bergey’s manual.">
            <a:extLst>
              <a:ext uri="{FF2B5EF4-FFF2-40B4-BE49-F238E27FC236}">
                <a16:creationId xmlns:a16="http://schemas.microsoft.com/office/drawing/2014/main" id="{D9EC1A3A-86EA-E497-217F-90E40545778A}"/>
              </a:ext>
            </a:extLst>
          </p:cNvPr>
          <p:cNvPicPr preferRelativeResize="0">
            <a:picLocks/>
          </p:cNvPicPr>
          <p:nvPr/>
        </p:nvPicPr>
        <p:blipFill rotWithShape="1">
          <a:blip r:embed="rId4">
            <a:alphaModFix/>
          </a:blip>
          <a:srcRect/>
          <a:stretch/>
        </p:blipFill>
        <p:spPr>
          <a:xfrm>
            <a:off x="5517310" y="1242582"/>
            <a:ext cx="2011945" cy="3320039"/>
          </a:xfrm>
          <a:prstGeom prst="rect">
            <a:avLst/>
          </a:prstGeom>
          <a:noFill/>
          <a:ln>
            <a:noFill/>
          </a:ln>
        </p:spPr>
      </p:pic>
      <p:sp>
        <p:nvSpPr>
          <p:cNvPr id="14" name="Google Shape;905;p108">
            <a:extLst>
              <a:ext uri="{FF2B5EF4-FFF2-40B4-BE49-F238E27FC236}">
                <a16:creationId xmlns:a16="http://schemas.microsoft.com/office/drawing/2014/main" id="{0AF9A88C-61F4-CFCC-9404-A3DF86B03A6C}"/>
              </a:ext>
            </a:extLst>
          </p:cNvPr>
          <p:cNvSpPr txBox="1">
            <a:spLocks/>
          </p:cNvSpPr>
          <p:nvPr/>
        </p:nvSpPr>
        <p:spPr>
          <a:xfrm>
            <a:off x="4552120" y="4961615"/>
            <a:ext cx="4303644" cy="457200"/>
          </a:xfrm>
          <a:prstGeom prst="rect">
            <a:avLst/>
          </a:prstGeom>
          <a:noFill/>
          <a:ln>
            <a:noFill/>
          </a:ln>
        </p:spPr>
        <p:txBody>
          <a:bodyPr spcFirstLastPara="1" wrap="square" lIns="91425" tIns="45700" rIns="91425" bIns="45700" anchor="t" anchorCtr="0">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640080"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914400" indent="-285750" algn="l" defTabSz="914400" rtl="0" eaLnBrk="1" latinLnBrk="0" hangingPunct="1">
              <a:lnSpc>
                <a:spcPct val="100000"/>
              </a:lnSpc>
              <a:spcBef>
                <a:spcPts val="800"/>
              </a:spcBef>
              <a:spcAft>
                <a:spcPts val="800"/>
              </a:spcAft>
              <a:buFont typeface="Arial" panose="020B0604020202020204" pitchFamily="34" charset="0"/>
              <a:buChar char="•"/>
              <a:defRPr sz="20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Aft>
                <a:spcPts val="0"/>
              </a:spcAft>
              <a:buClr>
                <a:schemeClr val="dk2"/>
              </a:buClr>
              <a:buSzPts val="2400"/>
            </a:pPr>
            <a:r>
              <a:rPr lang="en-US" i="1" dirty="0"/>
              <a:t>Treponema pallidum </a:t>
            </a:r>
            <a:r>
              <a:rPr lang="en-US" dirty="0"/>
              <a:t>– spirochetes that cause syphilis.</a:t>
            </a:r>
            <a:endParaRPr lang="en-US" i="1" dirty="0"/>
          </a:p>
        </p:txBody>
      </p:sp>
    </p:spTree>
    <p:extLst>
      <p:ext uri="{BB962C8B-B14F-4D97-AF65-F5344CB8AC3E}">
        <p14:creationId xmlns:p14="http://schemas.microsoft.com/office/powerpoint/2010/main" val="7716566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72"/>
          <p:cNvSpPr txBox="1">
            <a:spLocks noGrp="1"/>
          </p:cNvSpPr>
          <p:nvPr>
            <p:ph type="title"/>
          </p:nvPr>
        </p:nvSpPr>
        <p:spPr>
          <a:xfrm>
            <a:off x="342900" y="304800"/>
            <a:ext cx="8458200" cy="67861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2400"/>
              <a:buFont typeface="Arial"/>
              <a:buNone/>
            </a:pPr>
            <a:r>
              <a:rPr lang="en-US" noProof="0" dirty="0"/>
              <a:t>Common Bacterial Shapes</a:t>
            </a:r>
            <a:r>
              <a:rPr lang="en-US" sz="1200" noProof="0" dirty="0"/>
              <a:t> 6</a:t>
            </a:r>
          </a:p>
        </p:txBody>
      </p:sp>
      <p:sp>
        <p:nvSpPr>
          <p:cNvPr id="642" name="Google Shape;642;p72"/>
          <p:cNvSpPr txBox="1">
            <a:spLocks noGrp="1"/>
          </p:cNvSpPr>
          <p:nvPr>
            <p:ph type="body" idx="1"/>
          </p:nvPr>
        </p:nvSpPr>
        <p:spPr>
          <a:xfrm>
            <a:off x="342900" y="1276709"/>
            <a:ext cx="8458200" cy="526691"/>
          </a:xfrm>
          <a:prstGeom prst="rect">
            <a:avLst/>
          </a:prstGeom>
          <a:noFill/>
          <a:ln>
            <a:noFill/>
          </a:ln>
        </p:spPr>
        <p:txBody>
          <a:bodyPr spcFirstLastPara="1" wrap="square" lIns="91425" tIns="45700" rIns="91425" bIns="45700" anchor="t" anchorCtr="0">
            <a:noAutofit/>
          </a:bodyPr>
          <a:lstStyle/>
          <a:p>
            <a:pPr marL="457200" lvl="0" indent="-457200" algn="l" rtl="0">
              <a:lnSpc>
                <a:spcPct val="100000"/>
              </a:lnSpc>
              <a:spcBef>
                <a:spcPts val="0"/>
              </a:spcBef>
              <a:spcAft>
                <a:spcPts val="0"/>
              </a:spcAft>
              <a:buClr>
                <a:schemeClr val="dk2"/>
              </a:buClr>
              <a:buSzPts val="2400"/>
              <a:buFont typeface="Arial"/>
              <a:buAutoNum type="alphaLcParenR" startAt="6"/>
            </a:pPr>
            <a:r>
              <a:rPr lang="en-US" noProof="0" dirty="0"/>
              <a:t>Branching filaments</a:t>
            </a:r>
          </a:p>
        </p:txBody>
      </p:sp>
      <p:pic>
        <p:nvPicPr>
          <p:cNvPr id="9" name="Google Shape;643;p72" descr="An illustration depicts the common bacterial shapes.">
            <a:extLst>
              <a:ext uri="{FF2B5EF4-FFF2-40B4-BE49-F238E27FC236}">
                <a16:creationId xmlns:a16="http://schemas.microsoft.com/office/drawing/2014/main" id="{515BFD61-17B6-4201-9AA5-74E8278EA186}"/>
              </a:ext>
            </a:extLst>
          </p:cNvPr>
          <p:cNvPicPr>
            <a:picLocks noChangeAspect="1"/>
          </p:cNvPicPr>
          <p:nvPr/>
        </p:nvPicPr>
        <p:blipFill rotWithShape="1">
          <a:blip r:embed="rId3">
            <a:alphaModFix/>
          </a:blip>
          <a:srcRect l="66971" t="46114" b="9185"/>
          <a:stretch/>
        </p:blipFill>
        <p:spPr>
          <a:xfrm>
            <a:off x="4197373" y="983411"/>
            <a:ext cx="3492454" cy="4206240"/>
          </a:xfrm>
          <a:prstGeom prst="rect">
            <a:avLst/>
          </a:prstGeom>
          <a:noFill/>
          <a:ln>
            <a:noFill/>
          </a:ln>
        </p:spPr>
      </p:pic>
      <p:sp>
        <p:nvSpPr>
          <p:cNvPr id="10" name="TextBox 9">
            <a:extLst>
              <a:ext uri="{FF2B5EF4-FFF2-40B4-BE49-F238E27FC236}">
                <a16:creationId xmlns:a16="http://schemas.microsoft.com/office/drawing/2014/main" id="{540714FF-098F-37D0-DD53-5F3EFED863E4}"/>
              </a:ext>
            </a:extLst>
          </p:cNvPr>
          <p:cNvSpPr txBox="1"/>
          <p:nvPr/>
        </p:nvSpPr>
        <p:spPr>
          <a:xfrm>
            <a:off x="342899" y="5596631"/>
            <a:ext cx="8458199" cy="830997"/>
          </a:xfrm>
          <a:prstGeom prst="rect">
            <a:avLst/>
          </a:prstGeom>
          <a:noFill/>
        </p:spPr>
        <p:txBody>
          <a:bodyPr wrap="square">
            <a:spAutoFit/>
          </a:bodyPr>
          <a:lstStyle/>
          <a:p>
            <a:pPr marL="0" lvl="0" indent="0"/>
            <a:r>
              <a:rPr lang="en-US" sz="2400" noProof="0" dirty="0"/>
              <a:t>Part F depicts the branching filaments with a chain of bead-like elements.</a:t>
            </a:r>
          </a:p>
        </p:txBody>
      </p:sp>
      <p:sp>
        <p:nvSpPr>
          <p:cNvPr id="12" name="TextBox 11">
            <a:extLst>
              <a:ext uri="{FF2B5EF4-FFF2-40B4-BE49-F238E27FC236}">
                <a16:creationId xmlns:a16="http://schemas.microsoft.com/office/drawing/2014/main" id="{77B9930F-0CFA-3A56-17BD-B63A93D6D3C4}"/>
              </a:ext>
            </a:extLst>
          </p:cNvPr>
          <p:cNvSpPr txBox="1"/>
          <p:nvPr/>
        </p:nvSpPr>
        <p:spPr>
          <a:xfrm>
            <a:off x="4353339" y="5189651"/>
            <a:ext cx="3492454" cy="369332"/>
          </a:xfrm>
          <a:prstGeom prst="rect">
            <a:avLst/>
          </a:prstGeom>
          <a:noFill/>
        </p:spPr>
        <p:txBody>
          <a:bodyPr wrap="square">
            <a:spAutoFit/>
          </a:bodyPr>
          <a:lstStyle/>
          <a:p>
            <a:pPr lvl="0" algn="l" rtl="0">
              <a:lnSpc>
                <a:spcPct val="100000"/>
              </a:lnSpc>
              <a:spcBef>
                <a:spcPts val="1600"/>
              </a:spcBef>
              <a:spcAft>
                <a:spcPts val="0"/>
              </a:spcAft>
              <a:buClr>
                <a:schemeClr val="dk2"/>
              </a:buClr>
              <a:buSzPts val="2400"/>
            </a:pPr>
            <a:r>
              <a:rPr lang="en-US" i="1" noProof="0" dirty="0"/>
              <a:t>Streptomyces </a:t>
            </a:r>
            <a:r>
              <a:rPr lang="en-US" noProof="0" dirty="0"/>
              <a:t>species</a:t>
            </a:r>
            <a:r>
              <a:rPr lang="en-US" i="1" noProof="0" dirty="0"/>
              <a:t> </a:t>
            </a:r>
            <a:r>
              <a:rPr lang="en-US" noProof="0" dirty="0"/>
              <a:t>(1,000x)</a:t>
            </a:r>
          </a:p>
        </p:txBody>
      </p:sp>
    </p:spTree>
    <p:extLst>
      <p:ext uri="{BB962C8B-B14F-4D97-AF65-F5344CB8AC3E}">
        <p14:creationId xmlns:p14="http://schemas.microsoft.com/office/powerpoint/2010/main" val="10702627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74"/>
          <p:cNvSpPr txBox="1">
            <a:spLocks noGrp="1"/>
          </p:cNvSpPr>
          <p:nvPr>
            <p:ph type="title"/>
          </p:nvPr>
        </p:nvSpPr>
        <p:spPr>
          <a:xfrm>
            <a:off x="94422" y="0"/>
            <a:ext cx="8458200" cy="67861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2400"/>
              <a:buFont typeface="Arial"/>
              <a:buNone/>
            </a:pPr>
            <a:r>
              <a:rPr lang="en-US" noProof="0" dirty="0"/>
              <a:t>Pleomorphism</a:t>
            </a:r>
            <a:r>
              <a:rPr lang="en-US" sz="1200" noProof="0" dirty="0"/>
              <a:t> 1</a:t>
            </a:r>
          </a:p>
        </p:txBody>
      </p:sp>
      <p:sp>
        <p:nvSpPr>
          <p:cNvPr id="656" name="Google Shape;656;p74"/>
          <p:cNvSpPr txBox="1">
            <a:spLocks noGrp="1"/>
          </p:cNvSpPr>
          <p:nvPr>
            <p:ph type="body" idx="1"/>
          </p:nvPr>
        </p:nvSpPr>
        <p:spPr>
          <a:xfrm>
            <a:off x="169513" y="536150"/>
            <a:ext cx="8458200" cy="497169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2"/>
              </a:buClr>
              <a:buSzPts val="2400"/>
              <a:buNone/>
            </a:pPr>
            <a:r>
              <a:rPr lang="en-US" noProof="0" dirty="0"/>
              <a:t>Variation in cell shape and size within a single species</a:t>
            </a:r>
          </a:p>
        </p:txBody>
      </p:sp>
      <p:pic>
        <p:nvPicPr>
          <p:cNvPr id="2" name="Google Shape;662;p75" descr="A micrograph depicts the Pleomorphism at 800X magnification. ">
            <a:extLst>
              <a:ext uri="{FF2B5EF4-FFF2-40B4-BE49-F238E27FC236}">
                <a16:creationId xmlns:a16="http://schemas.microsoft.com/office/drawing/2014/main" id="{5EFE815B-0EDA-4A77-E523-E869584FD291}"/>
              </a:ext>
            </a:extLst>
          </p:cNvPr>
          <p:cNvPicPr>
            <a:picLocks noChangeAspect="1"/>
          </p:cNvPicPr>
          <p:nvPr/>
        </p:nvPicPr>
        <p:blipFill rotWithShape="1">
          <a:blip r:embed="rId3">
            <a:alphaModFix/>
          </a:blip>
          <a:srcRect/>
          <a:stretch/>
        </p:blipFill>
        <p:spPr>
          <a:xfrm>
            <a:off x="1787895" y="1085021"/>
            <a:ext cx="4903384" cy="4687957"/>
          </a:xfrm>
          <a:prstGeom prst="rect">
            <a:avLst/>
          </a:prstGeom>
          <a:noFill/>
          <a:ln>
            <a:noFill/>
          </a:ln>
        </p:spPr>
      </p:pic>
      <p:sp>
        <p:nvSpPr>
          <p:cNvPr id="4" name="TextBox 3">
            <a:extLst>
              <a:ext uri="{FF2B5EF4-FFF2-40B4-BE49-F238E27FC236}">
                <a16:creationId xmlns:a16="http://schemas.microsoft.com/office/drawing/2014/main" id="{C2197CC6-7799-17E4-ABAB-90AE7EFF592F}"/>
              </a:ext>
            </a:extLst>
          </p:cNvPr>
          <p:cNvSpPr txBox="1"/>
          <p:nvPr/>
        </p:nvSpPr>
        <p:spPr>
          <a:xfrm>
            <a:off x="303143" y="5763889"/>
            <a:ext cx="8537713" cy="830997"/>
          </a:xfrm>
          <a:prstGeom prst="rect">
            <a:avLst/>
          </a:prstGeom>
          <a:noFill/>
        </p:spPr>
        <p:txBody>
          <a:bodyPr wrap="square">
            <a:spAutoFit/>
          </a:bodyPr>
          <a:lstStyle/>
          <a:p>
            <a:r>
              <a:rPr lang="en-US" sz="2400" dirty="0"/>
              <a:t>Pleomorphism of </a:t>
            </a:r>
            <a:r>
              <a:rPr lang="en-US" sz="2400" i="1" dirty="0"/>
              <a:t>Corynebacterium</a:t>
            </a:r>
            <a:r>
              <a:rPr lang="en-US" sz="2400" dirty="0"/>
              <a:t>. Cells are irregular in shape and size (800x).</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p76"/>
          <p:cNvSpPr txBox="1">
            <a:spLocks noGrp="1"/>
          </p:cNvSpPr>
          <p:nvPr>
            <p:ph type="title"/>
          </p:nvPr>
        </p:nvSpPr>
        <p:spPr>
          <a:xfrm>
            <a:off x="342900" y="304800"/>
            <a:ext cx="8458200" cy="67861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2400"/>
              <a:buFont typeface="Arial"/>
              <a:buNone/>
            </a:pPr>
            <a:r>
              <a:rPr lang="en-US" noProof="0" dirty="0"/>
              <a:t>Bacterial Arrangements</a:t>
            </a:r>
            <a:r>
              <a:rPr lang="en-US" sz="1200" noProof="0" dirty="0"/>
              <a:t> 1</a:t>
            </a:r>
          </a:p>
        </p:txBody>
      </p:sp>
      <p:sp>
        <p:nvSpPr>
          <p:cNvPr id="669" name="Google Shape;669;p76"/>
          <p:cNvSpPr txBox="1">
            <a:spLocks noGrp="1"/>
          </p:cNvSpPr>
          <p:nvPr>
            <p:ph type="body" idx="1"/>
          </p:nvPr>
        </p:nvSpPr>
        <p:spPr>
          <a:xfrm>
            <a:off x="342900" y="1276709"/>
            <a:ext cx="8458200" cy="511139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2"/>
              </a:buClr>
              <a:buSzPts val="2400"/>
              <a:buNone/>
            </a:pPr>
            <a:r>
              <a:rPr lang="en-US" noProof="0" dirty="0"/>
              <a:t>Arrangement of cells is dependent on pattern of division and how cells remain attached after division:</a:t>
            </a:r>
          </a:p>
          <a:p>
            <a:pPr marL="344488" lvl="1" indent="-342900" algn="l" rtl="0">
              <a:lnSpc>
                <a:spcPct val="100000"/>
              </a:lnSpc>
              <a:spcBef>
                <a:spcPts val="600"/>
              </a:spcBef>
              <a:spcAft>
                <a:spcPts val="0"/>
              </a:spcAft>
              <a:buClr>
                <a:schemeClr val="dk2"/>
              </a:buClr>
              <a:buSzPts val="2200"/>
              <a:buChar char="•"/>
            </a:pPr>
            <a:r>
              <a:rPr lang="en-US" sz="2200" noProof="0" dirty="0"/>
              <a:t>Cocci:</a:t>
            </a:r>
            <a:endParaRPr lang="en-US" noProof="0" dirty="0"/>
          </a:p>
          <a:p>
            <a:pPr marL="640080" lvl="2" indent="-285750" algn="l" rtl="0">
              <a:lnSpc>
                <a:spcPct val="100000"/>
              </a:lnSpc>
              <a:spcBef>
                <a:spcPts val="600"/>
              </a:spcBef>
              <a:spcAft>
                <a:spcPts val="0"/>
              </a:spcAft>
              <a:buClr>
                <a:schemeClr val="dk2"/>
              </a:buClr>
              <a:buSzPts val="2000"/>
              <a:buChar char="•"/>
            </a:pPr>
            <a:r>
              <a:rPr lang="en-US" noProof="0" dirty="0"/>
              <a:t>Singles</a:t>
            </a:r>
          </a:p>
          <a:p>
            <a:pPr marL="640080" lvl="2" indent="-285750" algn="l" rtl="0">
              <a:lnSpc>
                <a:spcPct val="100000"/>
              </a:lnSpc>
              <a:spcBef>
                <a:spcPts val="600"/>
              </a:spcBef>
              <a:spcAft>
                <a:spcPts val="0"/>
              </a:spcAft>
              <a:buClr>
                <a:schemeClr val="dk2"/>
              </a:buClr>
              <a:buSzPts val="2000"/>
              <a:buChar char="•"/>
            </a:pPr>
            <a:r>
              <a:rPr lang="en-US" noProof="0" dirty="0"/>
              <a:t>Diplococci – in pairs</a:t>
            </a:r>
          </a:p>
          <a:p>
            <a:pPr marL="640080" lvl="2" indent="-285750" algn="l" rtl="0">
              <a:lnSpc>
                <a:spcPct val="100000"/>
              </a:lnSpc>
              <a:spcBef>
                <a:spcPts val="600"/>
              </a:spcBef>
              <a:spcAft>
                <a:spcPts val="0"/>
              </a:spcAft>
              <a:buClr>
                <a:schemeClr val="dk2"/>
              </a:buClr>
              <a:buSzPts val="2000"/>
              <a:buChar char="•"/>
            </a:pPr>
            <a:r>
              <a:rPr lang="en-US" noProof="0" dirty="0"/>
              <a:t>Tetrads – groups of four</a:t>
            </a:r>
          </a:p>
          <a:p>
            <a:pPr marL="640080" lvl="2" indent="-285750" algn="l" rtl="0">
              <a:lnSpc>
                <a:spcPct val="100000"/>
              </a:lnSpc>
              <a:spcBef>
                <a:spcPts val="600"/>
              </a:spcBef>
              <a:spcAft>
                <a:spcPts val="0"/>
              </a:spcAft>
              <a:buClr>
                <a:schemeClr val="dk2"/>
              </a:buClr>
              <a:buSzPts val="2000"/>
              <a:buChar char="•"/>
            </a:pPr>
            <a:r>
              <a:rPr lang="en-US" noProof="0" dirty="0"/>
              <a:t>Irregular clusters – staphylococci and micrococci </a:t>
            </a:r>
          </a:p>
          <a:p>
            <a:pPr marL="640080" lvl="2" indent="-285750" algn="l" rtl="0">
              <a:lnSpc>
                <a:spcPct val="100000"/>
              </a:lnSpc>
              <a:spcBef>
                <a:spcPts val="600"/>
              </a:spcBef>
              <a:spcAft>
                <a:spcPts val="0"/>
              </a:spcAft>
              <a:buClr>
                <a:schemeClr val="dk2"/>
              </a:buClr>
              <a:buSzPts val="2000"/>
              <a:buChar char="•"/>
            </a:pPr>
            <a:r>
              <a:rPr lang="en-US" noProof="0" dirty="0"/>
              <a:t>Chains – streptococci </a:t>
            </a:r>
          </a:p>
          <a:p>
            <a:pPr marL="640080" lvl="2" indent="-285750" algn="l" rtl="0">
              <a:lnSpc>
                <a:spcPct val="100000"/>
              </a:lnSpc>
              <a:spcBef>
                <a:spcPts val="600"/>
              </a:spcBef>
              <a:spcAft>
                <a:spcPts val="0"/>
              </a:spcAft>
              <a:buClr>
                <a:schemeClr val="dk2"/>
              </a:buClr>
              <a:buSzPts val="2000"/>
              <a:buChar char="•"/>
            </a:pPr>
            <a:r>
              <a:rPr lang="en-US" noProof="0" dirty="0"/>
              <a:t>Cubical packets (</a:t>
            </a:r>
            <a:r>
              <a:rPr lang="en-US" noProof="0" dirty="0" err="1"/>
              <a:t>sarcina</a:t>
            </a:r>
            <a:r>
              <a:rPr lang="en-US" noProof="0" dirty="0"/>
              <a:t>)</a:t>
            </a:r>
          </a:p>
          <a:p>
            <a:pPr marL="344488" lvl="1" indent="-342900" algn="l" rtl="0">
              <a:lnSpc>
                <a:spcPct val="100000"/>
              </a:lnSpc>
              <a:spcBef>
                <a:spcPts val="600"/>
              </a:spcBef>
              <a:spcAft>
                <a:spcPts val="0"/>
              </a:spcAft>
              <a:buClr>
                <a:schemeClr val="dk2"/>
              </a:buClr>
              <a:buSzPts val="2200"/>
              <a:buChar char="•"/>
            </a:pPr>
            <a:r>
              <a:rPr lang="en-US" sz="2200" noProof="0" dirty="0"/>
              <a:t>Bacilli:</a:t>
            </a:r>
            <a:endParaRPr lang="en-US" noProof="0" dirty="0"/>
          </a:p>
          <a:p>
            <a:pPr marL="640080" lvl="2" indent="-285750" algn="l" rtl="0">
              <a:lnSpc>
                <a:spcPct val="100000"/>
              </a:lnSpc>
              <a:spcBef>
                <a:spcPts val="600"/>
              </a:spcBef>
              <a:spcAft>
                <a:spcPts val="0"/>
              </a:spcAft>
              <a:buClr>
                <a:schemeClr val="dk2"/>
              </a:buClr>
              <a:buSzPts val="2000"/>
              <a:buChar char="•"/>
            </a:pPr>
            <a:r>
              <a:rPr lang="en-US" noProof="0" dirty="0"/>
              <a:t>Diplobacilli – a pair</a:t>
            </a:r>
          </a:p>
          <a:p>
            <a:pPr marL="640080" lvl="2" indent="-285750" algn="l" rtl="0">
              <a:lnSpc>
                <a:spcPct val="100000"/>
              </a:lnSpc>
              <a:spcBef>
                <a:spcPts val="600"/>
              </a:spcBef>
              <a:spcAft>
                <a:spcPts val="0"/>
              </a:spcAft>
              <a:buClr>
                <a:schemeClr val="dk2"/>
              </a:buClr>
              <a:buSzPts val="2000"/>
              <a:buChar char="•"/>
            </a:pPr>
            <a:r>
              <a:rPr lang="en-US" noProof="0" dirty="0"/>
              <a:t>Chains – streptobacilli </a:t>
            </a:r>
          </a:p>
          <a:p>
            <a:pPr marL="640080" lvl="2" indent="-285750" algn="l" rtl="0">
              <a:lnSpc>
                <a:spcPct val="100000"/>
              </a:lnSpc>
              <a:spcBef>
                <a:spcPts val="600"/>
              </a:spcBef>
              <a:spcAft>
                <a:spcPts val="0"/>
              </a:spcAft>
              <a:buClr>
                <a:schemeClr val="dk2"/>
              </a:buClr>
              <a:buSzPts val="2000"/>
              <a:buChar char="•"/>
            </a:pPr>
            <a:r>
              <a:rPr lang="en-US" noProof="0" dirty="0"/>
              <a:t>Palisades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77"/>
          <p:cNvSpPr txBox="1">
            <a:spLocks noGrp="1"/>
          </p:cNvSpPr>
          <p:nvPr>
            <p:ph type="title"/>
          </p:nvPr>
        </p:nvSpPr>
        <p:spPr>
          <a:xfrm>
            <a:off x="254895" y="905"/>
            <a:ext cx="8458200" cy="67861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2400"/>
              <a:buFont typeface="Arial"/>
              <a:buNone/>
            </a:pPr>
            <a:r>
              <a:rPr lang="en-US" noProof="0" dirty="0"/>
              <a:t>Bacterial Arrangements</a:t>
            </a:r>
            <a:r>
              <a:rPr lang="en-US" sz="1200" noProof="0" dirty="0"/>
              <a:t> 2</a:t>
            </a:r>
            <a:endParaRPr lang="en-US" noProof="0" dirty="0"/>
          </a:p>
        </p:txBody>
      </p:sp>
      <p:pic>
        <p:nvPicPr>
          <p:cNvPr id="676" name="Google Shape;676;p77" descr="A 3-part illustration depicts the arrangement of cocci from different planes of cell division."/>
          <p:cNvPicPr preferRelativeResize="0">
            <a:picLocks noGrp="1"/>
          </p:cNvPicPr>
          <p:nvPr>
            <p:ph type="body" idx="2"/>
          </p:nvPr>
        </p:nvPicPr>
        <p:blipFill rotWithShape="1">
          <a:blip r:embed="rId3">
            <a:alphaModFix/>
          </a:blip>
          <a:srcRect t="977" b="67714"/>
          <a:stretch/>
        </p:blipFill>
        <p:spPr>
          <a:xfrm>
            <a:off x="420966" y="679516"/>
            <a:ext cx="7790757" cy="4139637"/>
          </a:xfrm>
          <a:prstGeom prst="rect">
            <a:avLst/>
          </a:prstGeom>
          <a:noFill/>
          <a:ln>
            <a:noFill/>
          </a:ln>
        </p:spPr>
      </p:pic>
      <p:pic>
        <p:nvPicPr>
          <p:cNvPr id="6" name="Google Shape;837;p99" descr="A micrograph depicts Streptococcus pneumoniae which are blue-colored bacteria with 2 pairs of lobed segments connected with a filament in between.">
            <a:extLst>
              <a:ext uri="{FF2B5EF4-FFF2-40B4-BE49-F238E27FC236}">
                <a16:creationId xmlns:a16="http://schemas.microsoft.com/office/drawing/2014/main" id="{0294EC9D-BCBB-A957-0483-EF7693AE148B}"/>
              </a:ext>
            </a:extLst>
          </p:cNvPr>
          <p:cNvPicPr preferRelativeResize="0">
            <a:picLocks/>
          </p:cNvPicPr>
          <p:nvPr/>
        </p:nvPicPr>
        <p:blipFill rotWithShape="1">
          <a:blip r:embed="rId4">
            <a:alphaModFix/>
          </a:blip>
          <a:srcRect/>
          <a:stretch/>
        </p:blipFill>
        <p:spPr>
          <a:xfrm>
            <a:off x="420966" y="4819153"/>
            <a:ext cx="1847310" cy="1798375"/>
          </a:xfrm>
          <a:prstGeom prst="rect">
            <a:avLst/>
          </a:prstGeom>
          <a:noFill/>
          <a:ln>
            <a:noFill/>
          </a:ln>
        </p:spPr>
      </p:pic>
      <p:sp>
        <p:nvSpPr>
          <p:cNvPr id="7" name="Google Shape;838;p99">
            <a:extLst>
              <a:ext uri="{FF2B5EF4-FFF2-40B4-BE49-F238E27FC236}">
                <a16:creationId xmlns:a16="http://schemas.microsoft.com/office/drawing/2014/main" id="{0DE1EC51-B1E1-B5A9-C89D-AF9563C4659E}"/>
              </a:ext>
            </a:extLst>
          </p:cNvPr>
          <p:cNvSpPr txBox="1">
            <a:spLocks/>
          </p:cNvSpPr>
          <p:nvPr/>
        </p:nvSpPr>
        <p:spPr>
          <a:xfrm>
            <a:off x="2268276" y="5718340"/>
            <a:ext cx="5461552" cy="829381"/>
          </a:xfrm>
          <a:prstGeom prst="rect">
            <a:avLst/>
          </a:prstGeom>
          <a:noFill/>
          <a:ln>
            <a:noFill/>
          </a:ln>
        </p:spPr>
        <p:txBody>
          <a:bodyPr spcFirstLastPara="1" wrap="square" lIns="91425" tIns="45700" rIns="91425" bIns="45700" anchor="t" anchorCtr="0">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640080"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914400" indent="-285750" algn="l" defTabSz="914400" rtl="0" eaLnBrk="1" latinLnBrk="0" hangingPunct="1">
              <a:lnSpc>
                <a:spcPct val="100000"/>
              </a:lnSpc>
              <a:spcBef>
                <a:spcPts val="800"/>
              </a:spcBef>
              <a:spcAft>
                <a:spcPts val="800"/>
              </a:spcAft>
              <a:buFont typeface="Arial" panose="020B0604020202020204" pitchFamily="34" charset="0"/>
              <a:buChar char="•"/>
              <a:defRPr sz="20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0"/>
              </a:spcAft>
              <a:buClr>
                <a:schemeClr val="dk2"/>
              </a:buClr>
              <a:buSzPts val="2400"/>
            </a:pPr>
            <a:r>
              <a:rPr lang="en-US" i="1" dirty="0"/>
              <a:t>Streptococcus pneumoniae </a:t>
            </a:r>
            <a:r>
              <a:rPr lang="en-US" dirty="0"/>
              <a:t>— image displays the diplococcus arrangement of this species.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78"/>
          <p:cNvSpPr txBox="1">
            <a:spLocks noGrp="1"/>
          </p:cNvSpPr>
          <p:nvPr>
            <p:ph type="title"/>
          </p:nvPr>
        </p:nvSpPr>
        <p:spPr>
          <a:xfrm>
            <a:off x="342900" y="304800"/>
            <a:ext cx="8458200" cy="67861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2400"/>
              <a:buFont typeface="Arial"/>
              <a:buNone/>
            </a:pPr>
            <a:r>
              <a:rPr lang="en-US" noProof="0" dirty="0"/>
              <a:t>Bacterial Arrangements</a:t>
            </a:r>
            <a:r>
              <a:rPr lang="en-US" sz="1200" noProof="0" dirty="0"/>
              <a:t> 3</a:t>
            </a:r>
            <a:endParaRPr lang="en-US" noProof="0" dirty="0"/>
          </a:p>
        </p:txBody>
      </p:sp>
      <p:pic>
        <p:nvPicPr>
          <p:cNvPr id="684" name="Google Shape;684;p78" descr="A 3-part illustration depicts the arrangement of cocci from different planes of cell division."/>
          <p:cNvPicPr>
            <a:picLocks noGrp="1" noChangeAspect="1"/>
          </p:cNvPicPr>
          <p:nvPr>
            <p:ph type="body" idx="2"/>
          </p:nvPr>
        </p:nvPicPr>
        <p:blipFill rotWithShape="1">
          <a:blip r:embed="rId3">
            <a:alphaModFix/>
          </a:blip>
          <a:srcRect t="32286" b="34098"/>
          <a:stretch/>
        </p:blipFill>
        <p:spPr>
          <a:xfrm>
            <a:off x="956306" y="1172984"/>
            <a:ext cx="7052484" cy="402336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79"/>
          <p:cNvSpPr txBox="1">
            <a:spLocks noGrp="1"/>
          </p:cNvSpPr>
          <p:nvPr>
            <p:ph type="title"/>
          </p:nvPr>
        </p:nvSpPr>
        <p:spPr>
          <a:xfrm>
            <a:off x="342900" y="304800"/>
            <a:ext cx="8458200" cy="67861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2400"/>
              <a:buFont typeface="Arial"/>
              <a:buNone/>
            </a:pPr>
            <a:r>
              <a:rPr lang="en-US" noProof="0" dirty="0"/>
              <a:t>Bacterial Arrangements</a:t>
            </a:r>
            <a:r>
              <a:rPr lang="en-US" sz="1200" noProof="0" dirty="0"/>
              <a:t> 4</a:t>
            </a:r>
            <a:endParaRPr lang="en-US" noProof="0" dirty="0"/>
          </a:p>
        </p:txBody>
      </p:sp>
      <p:pic>
        <p:nvPicPr>
          <p:cNvPr id="691" name="Google Shape;691;p79" descr="A 3-part illustration depicts the arrangement of cocci from different planes of cell division."/>
          <p:cNvPicPr preferRelativeResize="0">
            <a:picLocks noGrp="1"/>
          </p:cNvPicPr>
          <p:nvPr>
            <p:ph type="body" idx="2"/>
          </p:nvPr>
        </p:nvPicPr>
        <p:blipFill rotWithShape="1">
          <a:blip r:embed="rId3">
            <a:alphaModFix/>
          </a:blip>
          <a:srcRect t="66561" b="848"/>
          <a:stretch/>
        </p:blipFill>
        <p:spPr>
          <a:xfrm>
            <a:off x="772682" y="1114848"/>
            <a:ext cx="7598635" cy="4202766"/>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1"/>
          </p:nvPr>
        </p:nvSpPr>
        <p:spPr>
          <a:xfrm>
            <a:off x="186813" y="2122283"/>
            <a:ext cx="8712609" cy="2838091"/>
          </a:xfrm>
        </p:spPr>
        <p:txBody>
          <a:bodyPr/>
          <a:lstStyle/>
          <a:p>
            <a:pPr algn="ctr"/>
            <a:r>
              <a:rPr lang="en-US" sz="3600" b="1" dirty="0"/>
              <a:t>Any questions, please feel free to ask.</a:t>
            </a:r>
          </a:p>
          <a:p>
            <a:pPr algn="ctr"/>
            <a:endParaRPr lang="en-US" sz="3600" b="1" dirty="0"/>
          </a:p>
          <a:p>
            <a:pPr algn="ctr"/>
            <a:r>
              <a:rPr lang="en-US" sz="3600" b="1" dirty="0"/>
              <a:t> Thank you !</a:t>
            </a:r>
          </a:p>
        </p:txBody>
      </p:sp>
    </p:spTree>
    <p:extLst>
      <p:ext uri="{BB962C8B-B14F-4D97-AF65-F5344CB8AC3E}">
        <p14:creationId xmlns:p14="http://schemas.microsoft.com/office/powerpoint/2010/main" val="2554118076"/>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84F6219E-3D47-41AC-9893-1108D06AA07D}"/>
    </a:ext>
  </a:extLst>
</a:theme>
</file>

<file path=ppt/theme/theme2.xml><?xml version="1.0" encoding="utf-8"?>
<a:theme xmlns:a="http://schemas.openxmlformats.org/drawingml/2006/main" name="MainContentSlideMaster">
  <a:themeElements>
    <a:clrScheme name="Custom 127">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494575"/>
      </a:hlink>
      <a:folHlink>
        <a:srgbClr val="625D9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B385948E-CF34-4CE8-9AC7-28DE40FDC656}"/>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FEE61EC3-6634-45B5-BF77-FBC9B835BC79}"/>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A15A20A0-BEE6-47A5-BC6B-F87134FBF13C}"/>
    </a:ext>
  </a:extLst>
</a:theme>
</file>

<file path=ppt/theme/theme5.xml><?xml version="1.0" encoding="utf-8"?>
<a:theme xmlns:a="http://schemas.openxmlformats.org/drawingml/2006/main" name="ImageDescriptionAppendixSlideMaster">
  <a:themeElements>
    <a:clrScheme name="Custom 12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494575"/>
      </a:hlink>
      <a:folHlink>
        <a:srgbClr val="625D9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22313DF8-AA3F-4A8D-9652-6DDC53D759E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MHHE_Generic Accessible PPT Template_Editorial_v9_2019</Template>
  <TotalTime>3144</TotalTime>
  <Words>2390</Words>
  <Application>Microsoft Office PowerPoint</Application>
  <PresentationFormat>On-screen Show (4:3)</PresentationFormat>
  <Paragraphs>307</Paragraphs>
  <Slides>61</Slides>
  <Notes>19</Notes>
  <HiddenSlides>0</HiddenSlides>
  <MMClips>0</MMClips>
  <ScaleCrop>false</ScaleCrop>
  <HeadingPairs>
    <vt:vector size="6" baseType="variant">
      <vt:variant>
        <vt:lpstr>Fonts Used</vt:lpstr>
      </vt:variant>
      <vt:variant>
        <vt:i4>4</vt:i4>
      </vt:variant>
      <vt:variant>
        <vt:lpstr>Theme</vt:lpstr>
      </vt:variant>
      <vt:variant>
        <vt:i4>5</vt:i4>
      </vt:variant>
      <vt:variant>
        <vt:lpstr>Slide Titles</vt:lpstr>
      </vt:variant>
      <vt:variant>
        <vt:i4>61</vt:i4>
      </vt:variant>
    </vt:vector>
  </HeadingPairs>
  <TitlesOfParts>
    <vt:vector size="70" baseType="lpstr">
      <vt:lpstr>Arial</vt:lpstr>
      <vt:lpstr>Calibri</vt:lpstr>
      <vt:lpstr>Helvetica</vt:lpstr>
      <vt:lpstr>Wingdings</vt:lpstr>
      <vt:lpstr>Title Slides Master</vt:lpstr>
      <vt:lpstr>MainContentSlideMaster</vt:lpstr>
      <vt:lpstr>ClosingMaster</vt:lpstr>
      <vt:lpstr>DividerSlideMaster</vt:lpstr>
      <vt:lpstr>ImageDescriptionAppendixSlideMaster</vt:lpstr>
      <vt:lpstr>PowerPoint Presentation</vt:lpstr>
      <vt:lpstr>PowerPoint Presentation</vt:lpstr>
      <vt:lpstr>Characteristics of Cells and Life</vt:lpstr>
      <vt:lpstr>Characteristics of Cells 1</vt:lpstr>
      <vt:lpstr>Characteristics of Cells</vt:lpstr>
      <vt:lpstr>Characteristics of Cells</vt:lpstr>
      <vt:lpstr>Characteristics of Cells</vt:lpstr>
      <vt:lpstr>Characteristics of Cells</vt:lpstr>
      <vt:lpstr>Structure of a Bacterial Cell</vt:lpstr>
      <vt:lpstr>General Structural Plan of a Prokaryotic Cell</vt:lpstr>
      <vt:lpstr>External Structures</vt:lpstr>
      <vt:lpstr> Flagella </vt:lpstr>
      <vt:lpstr> Flagella </vt:lpstr>
      <vt:lpstr>Flagella </vt:lpstr>
      <vt:lpstr>Flagellar Arrangements 1</vt:lpstr>
      <vt:lpstr>Flagellar Arrangements 2</vt:lpstr>
      <vt:lpstr>Flagellar Arrangements 3</vt:lpstr>
      <vt:lpstr>Flagellar Arrangements 4</vt:lpstr>
      <vt:lpstr>Flagellar Arrangements 5</vt:lpstr>
      <vt:lpstr>Flagellar Responses 1</vt:lpstr>
      <vt:lpstr>Fimbriae 1</vt:lpstr>
      <vt:lpstr>Pili 1</vt:lpstr>
      <vt:lpstr>Bacterial surface coatings Glycocalyx 1</vt:lpstr>
      <vt:lpstr>Functions of the Glycocalyx 2</vt:lpstr>
      <vt:lpstr>Functions of the Glycocalyx 3</vt:lpstr>
      <vt:lpstr>Functions of the Glycocalyx 1</vt:lpstr>
      <vt:lpstr>The Cell Envelope</vt:lpstr>
      <vt:lpstr>Structure of Cell Walls 1</vt:lpstr>
      <vt:lpstr>Structure of Cell Walls 2</vt:lpstr>
      <vt:lpstr>Structure of Cell Walls 3</vt:lpstr>
      <vt:lpstr>Gram-Positive Cell Wall 1</vt:lpstr>
      <vt:lpstr>Gram-Positive Cell Wall 2</vt:lpstr>
      <vt:lpstr>Gram-Negative Cell Wall 1</vt:lpstr>
      <vt:lpstr>Gram-Negative Cell Wall 2</vt:lpstr>
      <vt:lpstr>Structures of Gram-Positive and Gram-Negative Bacterial Cell Walls</vt:lpstr>
      <vt:lpstr>TABLE 4.1 Comparison of Gram-Positive and Gram-Negative Cell Walls</vt:lpstr>
      <vt:lpstr>Cell Membrane Structure 1</vt:lpstr>
      <vt:lpstr>Inside the Bacterial Cell</vt:lpstr>
      <vt:lpstr>Nucleoid 1</vt:lpstr>
      <vt:lpstr>Bacterial chromosome and plasmids</vt:lpstr>
      <vt:lpstr>Bacterial Ribosome 1</vt:lpstr>
      <vt:lpstr>Bacterial Internal Structures 1</vt:lpstr>
      <vt:lpstr>Bacterial Internal Structures 2</vt:lpstr>
      <vt:lpstr>Bacterial Internal Structures 3</vt:lpstr>
      <vt:lpstr>Bacterial Internal Structures 4</vt:lpstr>
      <vt:lpstr>Bacterial Internal Structures 6</vt:lpstr>
      <vt:lpstr>Bacterial Internal Structures 7</vt:lpstr>
      <vt:lpstr>Endospores</vt:lpstr>
      <vt:lpstr>Bacterial Shapes, Arrangements, and Sizes</vt:lpstr>
      <vt:lpstr>Common Bacterial Shapes 1</vt:lpstr>
      <vt:lpstr>Common Bacterial Shapes 2</vt:lpstr>
      <vt:lpstr>Common Bacterial Shapes 3</vt:lpstr>
      <vt:lpstr>Common Bacterial Shapes 4</vt:lpstr>
      <vt:lpstr>Common Bacterial Shapes 5</vt:lpstr>
      <vt:lpstr>Common Bacterial Shapes 6</vt:lpstr>
      <vt:lpstr>Pleomorphism 1</vt:lpstr>
      <vt:lpstr>Bacterial Arrangements 1</vt:lpstr>
      <vt:lpstr>Bacterial Arrangements 2</vt:lpstr>
      <vt:lpstr>Bacterial Arrangements 3</vt:lpstr>
      <vt:lpstr>Bacterial Arrangements 4</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of Four Title Slide Options</dc:title>
  <dc:creator>Nair</dc:creator>
  <cp:keywords>PPT</cp:keywords>
  <cp:lastModifiedBy>pmgnair@outlook.com</cp:lastModifiedBy>
  <cp:revision>745</cp:revision>
  <dcterms:created xsi:type="dcterms:W3CDTF">2019-07-27T05:34:11Z</dcterms:created>
  <dcterms:modified xsi:type="dcterms:W3CDTF">2024-02-04T06:16:12Z</dcterms:modified>
</cp:coreProperties>
</file>